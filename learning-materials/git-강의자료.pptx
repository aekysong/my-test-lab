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2" r:id="rId3"/>
    <p:sldId id="3542" r:id="rId4"/>
    <p:sldId id="3544" r:id="rId5"/>
    <p:sldId id="3543" r:id="rId6"/>
    <p:sldId id="3545" r:id="rId7"/>
    <p:sldId id="3546" r:id="rId8"/>
    <p:sldId id="3549" r:id="rId9"/>
    <p:sldId id="3550" r:id="rId10"/>
    <p:sldId id="3551" r:id="rId11"/>
    <p:sldId id="3552" r:id="rId12"/>
    <p:sldId id="3553" r:id="rId13"/>
    <p:sldId id="3554" r:id="rId14"/>
    <p:sldId id="3555" r:id="rId15"/>
    <p:sldId id="3547" r:id="rId16"/>
    <p:sldId id="3556" r:id="rId17"/>
    <p:sldId id="3557" r:id="rId18"/>
    <p:sldId id="3559" r:id="rId19"/>
    <p:sldId id="3560" r:id="rId20"/>
    <p:sldId id="3561" r:id="rId21"/>
    <p:sldId id="3562" r:id="rId22"/>
    <p:sldId id="3548" r:id="rId23"/>
    <p:sldId id="3563" r:id="rId24"/>
    <p:sldId id="3564" r:id="rId25"/>
    <p:sldId id="3565" r:id="rId26"/>
    <p:sldId id="3566" r:id="rId27"/>
    <p:sldId id="3569" r:id="rId28"/>
    <p:sldId id="3568" r:id="rId29"/>
    <p:sldId id="3570" r:id="rId30"/>
    <p:sldId id="3571" r:id="rId31"/>
    <p:sldId id="3572" r:id="rId32"/>
    <p:sldId id="3573" r:id="rId33"/>
    <p:sldId id="3574" r:id="rId34"/>
    <p:sldId id="3575" r:id="rId35"/>
    <p:sldId id="3576" r:id="rId36"/>
    <p:sldId id="3577" r:id="rId37"/>
    <p:sldId id="3578" r:id="rId38"/>
    <p:sldId id="3580" r:id="rId39"/>
    <p:sldId id="3579" r:id="rId40"/>
    <p:sldId id="3581" r:id="rId41"/>
    <p:sldId id="3582" r:id="rId42"/>
    <p:sldId id="3583" r:id="rId43"/>
    <p:sldId id="3525" r:id="rId44"/>
  </p:sldIdLst>
  <p:sldSz cx="12192000" cy="6858000"/>
  <p:notesSz cx="7073900" cy="10210800"/>
  <p:embeddedFontLst>
    <p:embeddedFont>
      <p:font typeface="NanumGothic" panose="020D0604000000000000" pitchFamily="34" charset="-127"/>
      <p:regular r:id="rId46"/>
      <p:bold r:id="rId47"/>
    </p:embeddedFont>
    <p:embeddedFont>
      <p:font typeface="맑은 고딕" panose="020B0503020000020004" pitchFamily="34" charset="-127"/>
      <p:regular r:id="rId48"/>
      <p:bold r:id="rId49"/>
    </p:embeddedFont>
    <p:embeddedFont>
      <p:font typeface="맑은 고딕" panose="020B0503020000020004" pitchFamily="34" charset="-127"/>
      <p:regular r:id="rId48"/>
      <p:bold r:id="rId49"/>
    </p:embeddedFont>
    <p:embeddedFont>
      <p:font typeface="Century Gothic" panose="020B0502020202020204" pitchFamily="34" charset="0"/>
      <p:regular r:id="rId50"/>
      <p:bold r:id="rId51"/>
      <p:italic r:id="rId52"/>
      <p:boldItalic r:id="rId53"/>
    </p:embeddedFont>
    <p:embeddedFont>
      <p:font typeface="Noto Sans Symbols" panose="020F0502020204030204" pitchFamily="34" charset="0"/>
      <p:regular r:id="rId54"/>
      <p:bold r:id="rId55"/>
      <p:italic r:id="rId56"/>
      <p:boldItalic r:id="rId57"/>
    </p:embeddedFont>
    <p:embeddedFont>
      <p:font typeface="Roboto" panose="02000000000000000000" pitchFamily="2" charset="0"/>
      <p:regular r:id="rId58"/>
      <p:bold r:id="rId59"/>
      <p:italic r:id="rId60"/>
      <p:boldItalic r:id="rId61"/>
    </p:embeddedFont>
    <p:embeddedFont>
      <p:font typeface="Roboto Black" panose="020F0502020204030204" pitchFamily="34" charset="0"/>
      <p:bold r:id="rId62"/>
      <p:italic r:id="rId63"/>
      <p:boldItalic r:id="rId64"/>
    </p:embeddedFont>
    <p:embeddedFont>
      <p:font typeface="Wingdings 2" pitchFamily="2" charset="2"/>
      <p:regular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663">
          <p15:clr>
            <a:srgbClr val="A4A3A4"/>
          </p15:clr>
        </p15:guide>
        <p15:guide id="4" pos="892">
          <p15:clr>
            <a:srgbClr val="A4A3A4"/>
          </p15:clr>
        </p15:guide>
        <p15:guide id="5" orient="horz" pos="2546">
          <p15:clr>
            <a:srgbClr val="A4A3A4"/>
          </p15:clr>
        </p15:guide>
        <p15:guide id="6" orient="horz" pos="709">
          <p15:clr>
            <a:srgbClr val="A4A3A4"/>
          </p15:clr>
        </p15:guide>
        <p15:guide id="7" orient="horz" pos="4110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orient="horz" pos="1933">
          <p15:clr>
            <a:srgbClr val="A4A3A4"/>
          </p15:clr>
        </p15:guide>
        <p15:guide id="10" orient="horz" pos="406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jjAeVWTxD191zmhCd/ijgiI1bf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AD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AA8191-D4B5-4A97-9A95-8DE4904B0483}">
  <a:tblStyle styleId="{8BAA8191-D4B5-4A97-9A95-8DE4904B04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2CE669-8423-496E-B079-D0C0DD4A0D47}" styleName="Table_1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F1"/>
          </a:solidFill>
        </a:fill>
      </a:tcStyle>
    </a:wholeTbl>
    <a:band1H>
      <a:tcTxStyle/>
      <a:tcStyle>
        <a:tcBdr/>
        <a:fill>
          <a:solidFill>
            <a:srgbClr val="CACA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EB034F6-B1A8-49E5-A12D-3DE233A7A7CC}" styleName="Table_2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EEF"/>
          </a:solidFill>
        </a:fill>
      </a:tcStyle>
    </a:wholeTbl>
    <a:band1H>
      <a:tcTxStyle/>
      <a:tcStyle>
        <a:tcBdr/>
        <a:fill>
          <a:solidFill>
            <a:srgbClr val="CADBD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BD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4B5C741-3410-43BD-B8C6-B71FFA990B7F}" styleName="Table_3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5"/>
    <p:restoredTop sz="94719"/>
  </p:normalViewPr>
  <p:slideViewPr>
    <p:cSldViewPr snapToGrid="0">
      <p:cViewPr>
        <p:scale>
          <a:sx n="149" d="100"/>
          <a:sy n="149" d="100"/>
        </p:scale>
        <p:origin x="1376" y="232"/>
      </p:cViewPr>
      <p:guideLst>
        <p:guide orient="horz" pos="2160"/>
        <p:guide orient="horz" pos="391"/>
        <p:guide orient="horz" pos="663"/>
        <p:guide pos="892"/>
        <p:guide orient="horz" pos="2546"/>
        <p:guide orient="horz" pos="709"/>
        <p:guide orient="horz" pos="4110"/>
        <p:guide orient="horz" pos="2840"/>
        <p:guide orient="horz" pos="1933"/>
        <p:guide orient="horz" pos="40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63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6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font" Target="fonts/font5.fntdata"/><Relationship Id="rId5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65357" cy="5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06906" y="0"/>
            <a:ext cx="3065357" cy="5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120" cy="4020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698488"/>
            <a:ext cx="3065357" cy="51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357" cy="51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120" cy="4020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357" cy="51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030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271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8655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5198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103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7470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9153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9670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2624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73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7900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748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2196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711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826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0447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283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009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9624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34851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8742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487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18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21312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61835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1570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5992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2987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3676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33897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7301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53637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58866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6081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359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2896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490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226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6967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00894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30342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14552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1455263f_0_0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200" cy="4020600"/>
          </a:xfrm>
          <a:prstGeom prst="rect">
            <a:avLst/>
          </a:prstGeom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g2481455263f_0_0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400" cy="512400"/>
          </a:xfrm>
          <a:prstGeom prst="rect">
            <a:avLst/>
          </a:prstGeom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01976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4663" y="1276350"/>
            <a:ext cx="6124575" cy="3446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707390" y="4913947"/>
            <a:ext cx="5659120" cy="4020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4006906" y="9698488"/>
            <a:ext cx="3065357" cy="51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750" tIns="49375" rIns="98750" bIns="49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8623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템플릿 4" userDrawn="1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/>
          <p:nvPr/>
        </p:nvSpPr>
        <p:spPr>
          <a:xfrm>
            <a:off x="-204000" y="-7831"/>
            <a:ext cx="12600000" cy="16739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812A8"/>
              </a:gs>
              <a:gs pos="39000">
                <a:srgbClr val="005A9C"/>
              </a:gs>
              <a:gs pos="69000">
                <a:srgbClr val="008F9C"/>
              </a:gs>
              <a:gs pos="100000">
                <a:srgbClr val="00A17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15;p39" descr="클립아트, 벡터그래픽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092" y="6448977"/>
            <a:ext cx="482063" cy="1798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직선 연결선 75">
            <a:extLst>
              <a:ext uri="{FF2B5EF4-FFF2-40B4-BE49-F238E27FC236}">
                <a16:creationId xmlns:a16="http://schemas.microsoft.com/office/drawing/2014/main" id="{0A2385F7-E373-DFC3-ADAC-57E1110B1DCC}"/>
              </a:ext>
            </a:extLst>
          </p:cNvPr>
          <p:cNvCxnSpPr>
            <a:cxnSpLocks/>
          </p:cNvCxnSpPr>
          <p:nvPr userDrawn="1"/>
        </p:nvCxnSpPr>
        <p:spPr>
          <a:xfrm>
            <a:off x="338318" y="767871"/>
            <a:ext cx="1144959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4ADED56E-B945-3519-994C-87BBFFF511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782" y="261815"/>
            <a:ext cx="9344024" cy="503239"/>
          </a:xfrm>
          <a:prstGeom prst="rect">
            <a:avLst/>
          </a:prstGeom>
        </p:spPr>
        <p:txBody>
          <a:bodyPr anchor="ctr"/>
          <a:lstStyle>
            <a:lvl1pPr>
              <a:defRPr sz="2400" baseline="0">
                <a:latin typeface="+mj-ea"/>
                <a:ea typeface="+mj-ea"/>
              </a:defRPr>
            </a:lvl1pPr>
          </a:lstStyle>
          <a:p>
            <a:r>
              <a:rPr lang="en-US" altLang="ko-KR"/>
              <a:t>22pt</a:t>
            </a:r>
            <a:endParaRPr lang="ko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066496D8-8C78-E7BE-8697-65D75727B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11" y="903345"/>
            <a:ext cx="11381901" cy="720725"/>
          </a:xfrm>
          <a:prstGeom prst="rect">
            <a:avLst/>
          </a:prstGeom>
        </p:spPr>
        <p:txBody>
          <a:bodyPr lIns="90000"/>
          <a:lstStyle>
            <a:lvl1pPr latinLnBrk="0">
              <a:lnSpc>
                <a:spcPct val="110000"/>
              </a:lnSpc>
              <a:spcAft>
                <a:spcPts val="0"/>
              </a:spcAft>
              <a:defRPr lang="ko-KR" altLang="en-US" i="0" baseline="0" dirty="0" smtClean="0">
                <a:latin typeface="+mn-ea"/>
                <a:ea typeface="+mn-ea"/>
                <a:cs typeface="맑은 고딕" panose="020B0503020000020004" pitchFamily="50" charset="-127"/>
              </a:defRPr>
            </a:lvl1pPr>
          </a:lstStyle>
          <a:p>
            <a:pPr lvl="0">
              <a:spcAft>
                <a:spcPts val="1200"/>
              </a:spcAft>
            </a:pPr>
            <a:r>
              <a:rPr lang="en-US" altLang="ko-KR"/>
              <a:t>18pt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템플릿 3">
  <p:cSld name="템플릿 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/>
          <p:nvPr/>
        </p:nvSpPr>
        <p:spPr>
          <a:xfrm>
            <a:off x="9448799" y="6356350"/>
            <a:ext cx="24661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900">
              <a:solidFill>
                <a:srgbClr val="8A8A8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" name="Google Shape;47;p46" descr="클립아트, 벡터그래픽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092" y="6448977"/>
            <a:ext cx="482063" cy="17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국책과제 템플릿 7">
  <p:cSld name="국책과제 템플릿 7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/>
        </p:nvSpPr>
        <p:spPr>
          <a:xfrm>
            <a:off x="259199" y="304808"/>
            <a:ext cx="11636709" cy="592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entury Gothic"/>
              <a:buNone/>
            </a:pPr>
            <a:r>
              <a:rPr lang="ko-KR" sz="2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Malgun Gothic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F8F8F"/>
              </a:buClr>
              <a:buSzPts val="2400"/>
              <a:buNone/>
              <a:defRPr sz="2400">
                <a:solidFill>
                  <a:srgbClr val="8F8F8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2000"/>
              <a:buNone/>
              <a:defRPr sz="2000">
                <a:solidFill>
                  <a:srgbClr val="8F8F8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800"/>
              <a:buNone/>
              <a:defRPr sz="1800">
                <a:solidFill>
                  <a:srgbClr val="8F8F8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8F8F"/>
              </a:buClr>
              <a:buSzPts val="1600"/>
              <a:buNone/>
              <a:defRPr sz="1600">
                <a:solidFill>
                  <a:srgbClr val="8F8F8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48"/>
          <p:cNvSpPr/>
          <p:nvPr/>
        </p:nvSpPr>
        <p:spPr>
          <a:xfrm>
            <a:off x="-204000" y="-7831"/>
            <a:ext cx="12600000" cy="16739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812A8"/>
              </a:gs>
              <a:gs pos="39000">
                <a:srgbClr val="005A9C"/>
              </a:gs>
              <a:gs pos="69000">
                <a:srgbClr val="008F9C"/>
              </a:gs>
              <a:gs pos="100000">
                <a:srgbClr val="00A17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>
            <a:spLocks noGrp="1"/>
          </p:cNvSpPr>
          <p:nvPr>
            <p:ph type="title"/>
          </p:nvPr>
        </p:nvSpPr>
        <p:spPr>
          <a:xfrm>
            <a:off x="480767" y="365126"/>
            <a:ext cx="11230466" cy="77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body" idx="1"/>
          </p:nvPr>
        </p:nvSpPr>
        <p:spPr>
          <a:xfrm>
            <a:off x="480767" y="1263192"/>
            <a:ext cx="5539033" cy="491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body" idx="2"/>
          </p:nvPr>
        </p:nvSpPr>
        <p:spPr>
          <a:xfrm>
            <a:off x="6172200" y="1263192"/>
            <a:ext cx="5539033" cy="491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9"/>
          <p:cNvSpPr/>
          <p:nvPr/>
        </p:nvSpPr>
        <p:spPr>
          <a:xfrm>
            <a:off x="-204000" y="-7831"/>
            <a:ext cx="12600000" cy="16739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812A8"/>
              </a:gs>
              <a:gs pos="39000">
                <a:srgbClr val="005A9C"/>
              </a:gs>
              <a:gs pos="69000">
                <a:srgbClr val="008F9C"/>
              </a:gs>
              <a:gs pos="100000">
                <a:srgbClr val="00A17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" name="Google Shape;59;p49" descr="클립아트, 벡터그래픽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092" y="6448977"/>
            <a:ext cx="482063" cy="17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0"/>
          <p:cNvSpPr txBox="1">
            <a:spLocks noGrp="1"/>
          </p:cNvSpPr>
          <p:nvPr>
            <p:ph type="title"/>
          </p:nvPr>
        </p:nvSpPr>
        <p:spPr>
          <a:xfrm>
            <a:off x="490195" y="365125"/>
            <a:ext cx="112116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0"/>
          <p:cNvSpPr txBox="1">
            <a:spLocks noGrp="1"/>
          </p:cNvSpPr>
          <p:nvPr>
            <p:ph type="body" idx="1"/>
          </p:nvPr>
        </p:nvSpPr>
        <p:spPr>
          <a:xfrm>
            <a:off x="490194" y="1781665"/>
            <a:ext cx="5507381" cy="723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50"/>
          <p:cNvSpPr txBox="1">
            <a:spLocks noGrp="1"/>
          </p:cNvSpPr>
          <p:nvPr>
            <p:ph type="body" idx="2"/>
          </p:nvPr>
        </p:nvSpPr>
        <p:spPr>
          <a:xfrm>
            <a:off x="490194" y="2596051"/>
            <a:ext cx="5507381" cy="359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body" idx="3"/>
          </p:nvPr>
        </p:nvSpPr>
        <p:spPr>
          <a:xfrm>
            <a:off x="6194426" y="1781665"/>
            <a:ext cx="5507380" cy="72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body" idx="4"/>
          </p:nvPr>
        </p:nvSpPr>
        <p:spPr>
          <a:xfrm>
            <a:off x="6194427" y="2596051"/>
            <a:ext cx="5507380" cy="359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/>
          <p:nvPr/>
        </p:nvSpPr>
        <p:spPr>
          <a:xfrm>
            <a:off x="-204000" y="-7831"/>
            <a:ext cx="12600000" cy="16739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812A8"/>
              </a:gs>
              <a:gs pos="39000">
                <a:srgbClr val="005A9C"/>
              </a:gs>
              <a:gs pos="69000">
                <a:srgbClr val="008F9C"/>
              </a:gs>
              <a:gs pos="100000">
                <a:srgbClr val="00A17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50" descr="클립아트, 벡터그래픽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092" y="6448977"/>
            <a:ext cx="482063" cy="17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499623" y="457200"/>
            <a:ext cx="450807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>
            <a:off x="5175316" y="895546"/>
            <a:ext cx="6517062" cy="527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body" idx="2"/>
          </p:nvPr>
        </p:nvSpPr>
        <p:spPr>
          <a:xfrm>
            <a:off x="499623" y="2057400"/>
            <a:ext cx="4508074" cy="411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51"/>
          <p:cNvSpPr/>
          <p:nvPr/>
        </p:nvSpPr>
        <p:spPr>
          <a:xfrm>
            <a:off x="-204000" y="-7831"/>
            <a:ext cx="12600000" cy="16739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812A8"/>
              </a:gs>
              <a:gs pos="39000">
                <a:srgbClr val="005A9C"/>
              </a:gs>
              <a:gs pos="69000">
                <a:srgbClr val="008F9C"/>
              </a:gs>
              <a:gs pos="100000">
                <a:srgbClr val="00A17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" name="Google Shape;73;p51" descr="클립아트, 벡터그래픽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092" y="6448977"/>
            <a:ext cx="482063" cy="17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body" idx="1"/>
          </p:nvPr>
        </p:nvSpPr>
        <p:spPr>
          <a:xfrm>
            <a:off x="480767" y="1249378"/>
            <a:ext cx="11123858" cy="49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title"/>
          </p:nvPr>
        </p:nvSpPr>
        <p:spPr>
          <a:xfrm>
            <a:off x="480767" y="365126"/>
            <a:ext cx="11123858" cy="77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8"/>
          <p:cNvSpPr txBox="1"/>
          <p:nvPr/>
        </p:nvSpPr>
        <p:spPr>
          <a:xfrm>
            <a:off x="9448799" y="6356350"/>
            <a:ext cx="24661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 i="0" u="none" strike="noStrike" cap="none">
                <a:solidFill>
                  <a:srgbClr val="8A8A8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900" b="0" i="0" u="none" strike="noStrike" cap="none">
              <a:solidFill>
                <a:srgbClr val="8A8A8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70">
          <p15:clr>
            <a:srgbClr val="F26B43"/>
          </p15:clr>
        </p15:guide>
        <p15:guide id="4" pos="73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/>
          <p:nvPr/>
        </p:nvSpPr>
        <p:spPr>
          <a:xfrm>
            <a:off x="-327170" y="-26230"/>
            <a:ext cx="12710058" cy="6984008"/>
          </a:xfrm>
          <a:prstGeom prst="rect">
            <a:avLst/>
          </a:prstGeom>
          <a:gradFill>
            <a:gsLst>
              <a:gs pos="0">
                <a:srgbClr val="093FB3"/>
              </a:gs>
              <a:gs pos="48000">
                <a:srgbClr val="008F9C"/>
              </a:gs>
              <a:gs pos="100000">
                <a:srgbClr val="00A17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0" name="Google Shape;80;p1"/>
          <p:cNvGrpSpPr/>
          <p:nvPr/>
        </p:nvGrpSpPr>
        <p:grpSpPr>
          <a:xfrm>
            <a:off x="100911" y="394283"/>
            <a:ext cx="15412825" cy="6858000"/>
            <a:chOff x="0" y="-77012"/>
            <a:chExt cx="15412825" cy="16074031"/>
          </a:xfrm>
        </p:grpSpPr>
        <p:grpSp>
          <p:nvGrpSpPr>
            <p:cNvPr id="81" name="Google Shape;81;p1"/>
            <p:cNvGrpSpPr/>
            <p:nvPr/>
          </p:nvGrpSpPr>
          <p:grpSpPr>
            <a:xfrm>
              <a:off x="0" y="5280998"/>
              <a:ext cx="12148525" cy="10716021"/>
              <a:chOff x="3286" y="1675"/>
              <a:chExt cx="1094" cy="965"/>
            </a:xfrm>
          </p:grpSpPr>
          <p:sp>
            <p:nvSpPr>
              <p:cNvPr id="82" name="Google Shape;82;p1"/>
              <p:cNvSpPr/>
              <p:nvPr/>
            </p:nvSpPr>
            <p:spPr>
              <a:xfrm>
                <a:off x="3384" y="1685"/>
                <a:ext cx="910" cy="838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52" extrusionOk="0">
                    <a:moveTo>
                      <a:pt x="233" y="49"/>
                    </a:moveTo>
                    <a:cubicBezTo>
                      <a:pt x="226" y="49"/>
                      <a:pt x="219" y="50"/>
                      <a:pt x="212" y="51"/>
                    </a:cubicBezTo>
                    <a:cubicBezTo>
                      <a:pt x="191" y="53"/>
                      <a:pt x="170" y="60"/>
                      <a:pt x="151" y="70"/>
                    </a:cubicBezTo>
                    <a:cubicBezTo>
                      <a:pt x="163" y="67"/>
                      <a:pt x="175" y="66"/>
                      <a:pt x="187" y="66"/>
                    </a:cubicBezTo>
                    <a:cubicBezTo>
                      <a:pt x="185" y="66"/>
                      <a:pt x="188" y="66"/>
                      <a:pt x="189" y="66"/>
                    </a:cubicBezTo>
                    <a:cubicBezTo>
                      <a:pt x="192" y="66"/>
                      <a:pt x="195" y="67"/>
                      <a:pt x="198" y="67"/>
                    </a:cubicBezTo>
                    <a:cubicBezTo>
                      <a:pt x="207" y="68"/>
                      <a:pt x="216" y="71"/>
                      <a:pt x="225" y="74"/>
                    </a:cubicBezTo>
                    <a:cubicBezTo>
                      <a:pt x="242" y="81"/>
                      <a:pt x="257" y="91"/>
                      <a:pt x="270" y="102"/>
                    </a:cubicBezTo>
                    <a:cubicBezTo>
                      <a:pt x="291" y="119"/>
                      <a:pt x="309" y="139"/>
                      <a:pt x="319" y="164"/>
                    </a:cubicBezTo>
                    <a:cubicBezTo>
                      <a:pt x="325" y="176"/>
                      <a:pt x="327" y="189"/>
                      <a:pt x="328" y="202"/>
                    </a:cubicBezTo>
                    <a:cubicBezTo>
                      <a:pt x="328" y="201"/>
                      <a:pt x="328" y="201"/>
                      <a:pt x="328" y="201"/>
                    </a:cubicBezTo>
                    <a:cubicBezTo>
                      <a:pt x="328" y="229"/>
                      <a:pt x="318" y="255"/>
                      <a:pt x="303" y="278"/>
                    </a:cubicBezTo>
                    <a:cubicBezTo>
                      <a:pt x="287" y="300"/>
                      <a:pt x="268" y="319"/>
                      <a:pt x="245" y="333"/>
                    </a:cubicBezTo>
                    <a:cubicBezTo>
                      <a:pt x="229" y="342"/>
                      <a:pt x="211" y="348"/>
                      <a:pt x="192" y="350"/>
                    </a:cubicBezTo>
                    <a:cubicBezTo>
                      <a:pt x="194" y="351"/>
                      <a:pt x="197" y="351"/>
                      <a:pt x="199" y="351"/>
                    </a:cubicBezTo>
                    <a:cubicBezTo>
                      <a:pt x="199" y="351"/>
                      <a:pt x="199" y="351"/>
                      <a:pt x="199" y="351"/>
                    </a:cubicBezTo>
                    <a:cubicBezTo>
                      <a:pt x="204" y="352"/>
                      <a:pt x="210" y="352"/>
                      <a:pt x="215" y="352"/>
                    </a:cubicBezTo>
                    <a:cubicBezTo>
                      <a:pt x="227" y="352"/>
                      <a:pt x="240" y="351"/>
                      <a:pt x="253" y="347"/>
                    </a:cubicBezTo>
                    <a:cubicBezTo>
                      <a:pt x="272" y="342"/>
                      <a:pt x="290" y="333"/>
                      <a:pt x="306" y="322"/>
                    </a:cubicBezTo>
                    <a:cubicBezTo>
                      <a:pt x="335" y="302"/>
                      <a:pt x="358" y="273"/>
                      <a:pt x="371" y="241"/>
                    </a:cubicBezTo>
                    <a:cubicBezTo>
                      <a:pt x="378" y="223"/>
                      <a:pt x="383" y="202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3" y="143"/>
                      <a:pt x="362" y="106"/>
                      <a:pt x="332" y="82"/>
                    </a:cubicBezTo>
                    <a:cubicBezTo>
                      <a:pt x="304" y="60"/>
                      <a:pt x="268" y="49"/>
                      <a:pt x="233" y="49"/>
                    </a:cubicBezTo>
                    <a:moveTo>
                      <a:pt x="382" y="180"/>
                    </a:moveTo>
                    <a:cubicBezTo>
                      <a:pt x="382" y="180"/>
                      <a:pt x="382" y="181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4"/>
                      <a:pt x="382" y="184"/>
                    </a:cubicBezTo>
                    <a:cubicBezTo>
                      <a:pt x="382" y="184"/>
                      <a:pt x="382" y="183"/>
                      <a:pt x="382" y="182"/>
                    </a:cubicBezTo>
                    <a:cubicBezTo>
                      <a:pt x="382" y="181"/>
                      <a:pt x="382" y="180"/>
                      <a:pt x="382" y="180"/>
                    </a:cubicBezTo>
                    <a:moveTo>
                      <a:pt x="207" y="0"/>
                    </a:moveTo>
                    <a:cubicBezTo>
                      <a:pt x="204" y="0"/>
                      <a:pt x="202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199" y="0"/>
                      <a:pt x="199" y="0"/>
                    </a:cubicBezTo>
                    <a:cubicBezTo>
                      <a:pt x="136" y="6"/>
                      <a:pt x="75" y="36"/>
                      <a:pt x="30" y="80"/>
                    </a:cubicBezTo>
                    <a:cubicBezTo>
                      <a:pt x="19" y="91"/>
                      <a:pt x="9" y="102"/>
                      <a:pt x="0" y="115"/>
                    </a:cubicBezTo>
                    <a:cubicBezTo>
                      <a:pt x="17" y="94"/>
                      <a:pt x="37" y="76"/>
                      <a:pt x="59" y="60"/>
                    </a:cubicBezTo>
                    <a:cubicBezTo>
                      <a:pt x="85" y="41"/>
                      <a:pt x="113" y="24"/>
                      <a:pt x="143" y="14"/>
                    </a:cubicBezTo>
                    <a:cubicBezTo>
                      <a:pt x="164" y="6"/>
                      <a:pt x="185" y="1"/>
                      <a:pt x="207" y="0"/>
                    </a:cubicBez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3286" y="1675"/>
                <a:ext cx="1094" cy="96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5" extrusionOk="0">
                    <a:moveTo>
                      <a:pt x="456" y="144"/>
                    </a:moveTo>
                    <a:cubicBezTo>
                      <a:pt x="447" y="102"/>
                      <a:pt x="423" y="64"/>
                      <a:pt x="389" y="39"/>
                    </a:cubicBezTo>
                    <a:cubicBezTo>
                      <a:pt x="350" y="11"/>
                      <a:pt x="299" y="0"/>
                      <a:pt x="253" y="3"/>
                    </a:cubicBezTo>
                    <a:cubicBezTo>
                      <a:pt x="226" y="5"/>
                      <a:pt x="200" y="11"/>
                      <a:pt x="175" y="21"/>
                    </a:cubicBezTo>
                    <a:cubicBezTo>
                      <a:pt x="151" y="31"/>
                      <a:pt x="129" y="44"/>
                      <a:pt x="107" y="59"/>
                    </a:cubicBezTo>
                    <a:cubicBezTo>
                      <a:pt x="77" y="80"/>
                      <a:pt x="48" y="106"/>
                      <a:pt x="28" y="137"/>
                    </a:cubicBezTo>
                    <a:cubicBezTo>
                      <a:pt x="7" y="171"/>
                      <a:pt x="0" y="210"/>
                      <a:pt x="12" y="248"/>
                    </a:cubicBezTo>
                    <a:cubicBezTo>
                      <a:pt x="23" y="284"/>
                      <a:pt x="48" y="316"/>
                      <a:pt x="76" y="340"/>
                    </a:cubicBezTo>
                    <a:cubicBezTo>
                      <a:pt x="108" y="367"/>
                      <a:pt x="145" y="389"/>
                      <a:pt x="186" y="398"/>
                    </a:cubicBezTo>
                    <a:cubicBezTo>
                      <a:pt x="205" y="403"/>
                      <a:pt x="224" y="405"/>
                      <a:pt x="243" y="404"/>
                    </a:cubicBezTo>
                    <a:cubicBezTo>
                      <a:pt x="264" y="402"/>
                      <a:pt x="286" y="398"/>
                      <a:pt x="306" y="390"/>
                    </a:cubicBezTo>
                    <a:cubicBezTo>
                      <a:pt x="350" y="374"/>
                      <a:pt x="388" y="344"/>
                      <a:pt x="416" y="307"/>
                    </a:cubicBezTo>
                    <a:cubicBezTo>
                      <a:pt x="444" y="270"/>
                      <a:pt x="460" y="225"/>
                      <a:pt x="460" y="179"/>
                    </a:cubicBezTo>
                    <a:cubicBezTo>
                      <a:pt x="460" y="167"/>
                      <a:pt x="459" y="155"/>
                      <a:pt x="456" y="144"/>
                    </a:cubicBezTo>
                    <a:cubicBezTo>
                      <a:pt x="453" y="127"/>
                      <a:pt x="460" y="160"/>
                      <a:pt x="456" y="144"/>
                    </a:cubicBezTo>
                    <a:close/>
                    <a:moveTo>
                      <a:pt x="423" y="195"/>
                    </a:moveTo>
                    <a:cubicBezTo>
                      <a:pt x="422" y="232"/>
                      <a:pt x="404" y="270"/>
                      <a:pt x="380" y="297"/>
                    </a:cubicBezTo>
                    <a:cubicBezTo>
                      <a:pt x="358" y="322"/>
                      <a:pt x="330" y="340"/>
                      <a:pt x="299" y="350"/>
                    </a:cubicBezTo>
                    <a:cubicBezTo>
                      <a:pt x="280" y="356"/>
                      <a:pt x="260" y="357"/>
                      <a:pt x="240" y="355"/>
                    </a:cubicBezTo>
                    <a:cubicBezTo>
                      <a:pt x="240" y="355"/>
                      <a:pt x="240" y="355"/>
                      <a:pt x="240" y="355"/>
                    </a:cubicBezTo>
                    <a:cubicBezTo>
                      <a:pt x="193" y="349"/>
                      <a:pt x="156" y="317"/>
                      <a:pt x="127" y="281"/>
                    </a:cubicBezTo>
                    <a:cubicBezTo>
                      <a:pt x="111" y="262"/>
                      <a:pt x="98" y="238"/>
                      <a:pt x="95" y="212"/>
                    </a:cubicBezTo>
                    <a:cubicBezTo>
                      <a:pt x="94" y="197"/>
                      <a:pt x="97" y="181"/>
                      <a:pt x="103" y="167"/>
                    </a:cubicBezTo>
                    <a:cubicBezTo>
                      <a:pt x="112" y="146"/>
                      <a:pt x="127" y="128"/>
                      <a:pt x="143" y="112"/>
                    </a:cubicBezTo>
                    <a:cubicBezTo>
                      <a:pt x="156" y="99"/>
                      <a:pt x="170" y="87"/>
                      <a:pt x="186" y="78"/>
                    </a:cubicBezTo>
                    <a:cubicBezTo>
                      <a:pt x="232" y="51"/>
                      <a:pt x="289" y="46"/>
                      <a:pt x="339" y="66"/>
                    </a:cubicBezTo>
                    <a:cubicBezTo>
                      <a:pt x="385" y="85"/>
                      <a:pt x="421" y="129"/>
                      <a:pt x="423" y="180"/>
                    </a:cubicBezTo>
                    <a:cubicBezTo>
                      <a:pt x="423" y="185"/>
                      <a:pt x="423" y="190"/>
                      <a:pt x="423" y="195"/>
                    </a:cubicBezTo>
                    <a:cubicBezTo>
                      <a:pt x="423" y="197"/>
                      <a:pt x="423" y="194"/>
                      <a:pt x="423" y="195"/>
                    </a:cubicBez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86" name="Google Shape;86;p1"/>
            <p:cNvSpPr/>
            <p:nvPr/>
          </p:nvSpPr>
          <p:spPr>
            <a:xfrm>
              <a:off x="1646032" y="2688184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3264300" y="-77012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0418" y="1941792"/>
            <a:ext cx="1896329" cy="70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80;p1">
            <a:extLst>
              <a:ext uri="{FF2B5EF4-FFF2-40B4-BE49-F238E27FC236}">
                <a16:creationId xmlns:a16="http://schemas.microsoft.com/office/drawing/2014/main" id="{3D6CDC13-5544-5A03-89D5-D1CFC1B3EF8A}"/>
              </a:ext>
            </a:extLst>
          </p:cNvPr>
          <p:cNvGrpSpPr/>
          <p:nvPr/>
        </p:nvGrpSpPr>
        <p:grpSpPr>
          <a:xfrm>
            <a:off x="164474" y="520291"/>
            <a:ext cx="15501662" cy="6933805"/>
            <a:chOff x="-88837" y="-77012"/>
            <a:chExt cx="15501662" cy="16251706"/>
          </a:xfrm>
        </p:grpSpPr>
        <p:sp>
          <p:nvSpPr>
            <p:cNvPr id="7" name="Google Shape;86;p1">
              <a:extLst>
                <a:ext uri="{FF2B5EF4-FFF2-40B4-BE49-F238E27FC236}">
                  <a16:creationId xmlns:a16="http://schemas.microsoft.com/office/drawing/2014/main" id="{3929B354-1602-2AD9-E99A-5DAB51F6BCFC}"/>
                </a:ext>
              </a:extLst>
            </p:cNvPr>
            <p:cNvSpPr/>
            <p:nvPr/>
          </p:nvSpPr>
          <p:spPr>
            <a:xfrm>
              <a:off x="1646032" y="2688183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87;p1">
              <a:extLst>
                <a:ext uri="{FF2B5EF4-FFF2-40B4-BE49-F238E27FC236}">
                  <a16:creationId xmlns:a16="http://schemas.microsoft.com/office/drawing/2014/main" id="{12F728F3-9EEF-8C81-2128-2D9DB0F54CB8}"/>
                </a:ext>
              </a:extLst>
            </p:cNvPr>
            <p:cNvSpPr/>
            <p:nvPr/>
          </p:nvSpPr>
          <p:spPr>
            <a:xfrm>
              <a:off x="3264300" y="-77012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" name="Google Shape;81;p1">
              <a:extLst>
                <a:ext uri="{FF2B5EF4-FFF2-40B4-BE49-F238E27FC236}">
                  <a16:creationId xmlns:a16="http://schemas.microsoft.com/office/drawing/2014/main" id="{C0330CA3-EE70-CB3D-71ED-B68522CA70F8}"/>
                </a:ext>
              </a:extLst>
            </p:cNvPr>
            <p:cNvGrpSpPr/>
            <p:nvPr/>
          </p:nvGrpSpPr>
          <p:grpSpPr>
            <a:xfrm>
              <a:off x="-88837" y="5392045"/>
              <a:ext cx="12148525" cy="10782649"/>
              <a:chOff x="3278" y="1685"/>
              <a:chExt cx="1094" cy="971"/>
            </a:xfrm>
          </p:grpSpPr>
          <p:sp>
            <p:nvSpPr>
              <p:cNvPr id="12" name="Google Shape;85;p1">
                <a:extLst>
                  <a:ext uri="{FF2B5EF4-FFF2-40B4-BE49-F238E27FC236}">
                    <a16:creationId xmlns:a16="http://schemas.microsoft.com/office/drawing/2014/main" id="{F3A39491-7220-1CDA-336F-41D9CE0DB96E}"/>
                  </a:ext>
                </a:extLst>
              </p:cNvPr>
              <p:cNvSpPr/>
              <p:nvPr/>
            </p:nvSpPr>
            <p:spPr>
              <a:xfrm>
                <a:off x="3278" y="1691"/>
                <a:ext cx="1094" cy="96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5" extrusionOk="0">
                    <a:moveTo>
                      <a:pt x="456" y="144"/>
                    </a:moveTo>
                    <a:cubicBezTo>
                      <a:pt x="447" y="102"/>
                      <a:pt x="423" y="64"/>
                      <a:pt x="389" y="39"/>
                    </a:cubicBezTo>
                    <a:cubicBezTo>
                      <a:pt x="350" y="11"/>
                      <a:pt x="299" y="0"/>
                      <a:pt x="253" y="3"/>
                    </a:cubicBezTo>
                    <a:cubicBezTo>
                      <a:pt x="226" y="5"/>
                      <a:pt x="200" y="11"/>
                      <a:pt x="175" y="21"/>
                    </a:cubicBezTo>
                    <a:cubicBezTo>
                      <a:pt x="151" y="31"/>
                      <a:pt x="129" y="44"/>
                      <a:pt x="107" y="59"/>
                    </a:cubicBezTo>
                    <a:cubicBezTo>
                      <a:pt x="77" y="80"/>
                      <a:pt x="48" y="106"/>
                      <a:pt x="28" y="137"/>
                    </a:cubicBezTo>
                    <a:cubicBezTo>
                      <a:pt x="7" y="171"/>
                      <a:pt x="0" y="210"/>
                      <a:pt x="12" y="248"/>
                    </a:cubicBezTo>
                    <a:cubicBezTo>
                      <a:pt x="23" y="284"/>
                      <a:pt x="48" y="316"/>
                      <a:pt x="76" y="340"/>
                    </a:cubicBezTo>
                    <a:cubicBezTo>
                      <a:pt x="108" y="367"/>
                      <a:pt x="145" y="389"/>
                      <a:pt x="186" y="398"/>
                    </a:cubicBezTo>
                    <a:cubicBezTo>
                      <a:pt x="205" y="403"/>
                      <a:pt x="224" y="405"/>
                      <a:pt x="243" y="404"/>
                    </a:cubicBezTo>
                    <a:cubicBezTo>
                      <a:pt x="264" y="402"/>
                      <a:pt x="286" y="398"/>
                      <a:pt x="306" y="390"/>
                    </a:cubicBezTo>
                    <a:cubicBezTo>
                      <a:pt x="350" y="374"/>
                      <a:pt x="388" y="344"/>
                      <a:pt x="416" y="307"/>
                    </a:cubicBezTo>
                    <a:cubicBezTo>
                      <a:pt x="444" y="270"/>
                      <a:pt x="460" y="225"/>
                      <a:pt x="460" y="179"/>
                    </a:cubicBezTo>
                    <a:cubicBezTo>
                      <a:pt x="460" y="167"/>
                      <a:pt x="459" y="155"/>
                      <a:pt x="456" y="144"/>
                    </a:cubicBezTo>
                    <a:cubicBezTo>
                      <a:pt x="453" y="127"/>
                      <a:pt x="460" y="160"/>
                      <a:pt x="456" y="144"/>
                    </a:cubicBezTo>
                    <a:close/>
                    <a:moveTo>
                      <a:pt x="423" y="195"/>
                    </a:moveTo>
                    <a:cubicBezTo>
                      <a:pt x="422" y="232"/>
                      <a:pt x="404" y="270"/>
                      <a:pt x="380" y="297"/>
                    </a:cubicBezTo>
                    <a:cubicBezTo>
                      <a:pt x="358" y="322"/>
                      <a:pt x="330" y="340"/>
                      <a:pt x="299" y="350"/>
                    </a:cubicBezTo>
                    <a:cubicBezTo>
                      <a:pt x="280" y="356"/>
                      <a:pt x="260" y="357"/>
                      <a:pt x="240" y="355"/>
                    </a:cubicBezTo>
                    <a:cubicBezTo>
                      <a:pt x="240" y="355"/>
                      <a:pt x="240" y="355"/>
                      <a:pt x="240" y="355"/>
                    </a:cubicBezTo>
                    <a:cubicBezTo>
                      <a:pt x="193" y="349"/>
                      <a:pt x="156" y="317"/>
                      <a:pt x="127" y="281"/>
                    </a:cubicBezTo>
                    <a:cubicBezTo>
                      <a:pt x="111" y="262"/>
                      <a:pt x="98" y="238"/>
                      <a:pt x="95" y="212"/>
                    </a:cubicBezTo>
                    <a:cubicBezTo>
                      <a:pt x="94" y="197"/>
                      <a:pt x="97" y="181"/>
                      <a:pt x="103" y="167"/>
                    </a:cubicBezTo>
                    <a:cubicBezTo>
                      <a:pt x="112" y="146"/>
                      <a:pt x="127" y="128"/>
                      <a:pt x="143" y="112"/>
                    </a:cubicBezTo>
                    <a:cubicBezTo>
                      <a:pt x="156" y="99"/>
                      <a:pt x="170" y="87"/>
                      <a:pt x="186" y="78"/>
                    </a:cubicBezTo>
                    <a:cubicBezTo>
                      <a:pt x="232" y="51"/>
                      <a:pt x="289" y="46"/>
                      <a:pt x="339" y="66"/>
                    </a:cubicBezTo>
                    <a:cubicBezTo>
                      <a:pt x="385" y="85"/>
                      <a:pt x="421" y="129"/>
                      <a:pt x="423" y="180"/>
                    </a:cubicBezTo>
                    <a:cubicBezTo>
                      <a:pt x="423" y="185"/>
                      <a:pt x="423" y="190"/>
                      <a:pt x="423" y="195"/>
                    </a:cubicBezTo>
                    <a:cubicBezTo>
                      <a:pt x="423" y="197"/>
                      <a:pt x="423" y="194"/>
                      <a:pt x="423" y="195"/>
                    </a:cubicBez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" name="Google Shape;82;p1">
                <a:extLst>
                  <a:ext uri="{FF2B5EF4-FFF2-40B4-BE49-F238E27FC236}">
                    <a16:creationId xmlns:a16="http://schemas.microsoft.com/office/drawing/2014/main" id="{C0976B9B-DE82-09D3-55B2-05088A99EA48}"/>
                  </a:ext>
                </a:extLst>
              </p:cNvPr>
              <p:cNvSpPr/>
              <p:nvPr/>
            </p:nvSpPr>
            <p:spPr>
              <a:xfrm>
                <a:off x="3384" y="1685"/>
                <a:ext cx="910" cy="838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52" extrusionOk="0">
                    <a:moveTo>
                      <a:pt x="233" y="49"/>
                    </a:moveTo>
                    <a:cubicBezTo>
                      <a:pt x="226" y="49"/>
                      <a:pt x="219" y="50"/>
                      <a:pt x="212" y="51"/>
                    </a:cubicBezTo>
                    <a:cubicBezTo>
                      <a:pt x="191" y="53"/>
                      <a:pt x="170" y="60"/>
                      <a:pt x="151" y="70"/>
                    </a:cubicBezTo>
                    <a:cubicBezTo>
                      <a:pt x="163" y="67"/>
                      <a:pt x="175" y="66"/>
                      <a:pt x="187" y="66"/>
                    </a:cubicBezTo>
                    <a:cubicBezTo>
                      <a:pt x="185" y="66"/>
                      <a:pt x="188" y="66"/>
                      <a:pt x="189" y="66"/>
                    </a:cubicBezTo>
                    <a:cubicBezTo>
                      <a:pt x="192" y="66"/>
                      <a:pt x="195" y="67"/>
                      <a:pt x="198" y="67"/>
                    </a:cubicBezTo>
                    <a:cubicBezTo>
                      <a:pt x="207" y="68"/>
                      <a:pt x="216" y="71"/>
                      <a:pt x="225" y="74"/>
                    </a:cubicBezTo>
                    <a:cubicBezTo>
                      <a:pt x="242" y="81"/>
                      <a:pt x="257" y="91"/>
                      <a:pt x="270" y="102"/>
                    </a:cubicBezTo>
                    <a:cubicBezTo>
                      <a:pt x="291" y="119"/>
                      <a:pt x="309" y="139"/>
                      <a:pt x="319" y="164"/>
                    </a:cubicBezTo>
                    <a:cubicBezTo>
                      <a:pt x="325" y="176"/>
                      <a:pt x="327" y="189"/>
                      <a:pt x="328" y="202"/>
                    </a:cubicBezTo>
                    <a:cubicBezTo>
                      <a:pt x="328" y="201"/>
                      <a:pt x="328" y="201"/>
                      <a:pt x="328" y="201"/>
                    </a:cubicBezTo>
                    <a:cubicBezTo>
                      <a:pt x="328" y="229"/>
                      <a:pt x="318" y="255"/>
                      <a:pt x="303" y="278"/>
                    </a:cubicBezTo>
                    <a:cubicBezTo>
                      <a:pt x="287" y="300"/>
                      <a:pt x="268" y="319"/>
                      <a:pt x="245" y="333"/>
                    </a:cubicBezTo>
                    <a:cubicBezTo>
                      <a:pt x="229" y="342"/>
                      <a:pt x="211" y="348"/>
                      <a:pt x="192" y="350"/>
                    </a:cubicBezTo>
                    <a:cubicBezTo>
                      <a:pt x="194" y="351"/>
                      <a:pt x="197" y="351"/>
                      <a:pt x="199" y="351"/>
                    </a:cubicBezTo>
                    <a:cubicBezTo>
                      <a:pt x="199" y="351"/>
                      <a:pt x="199" y="351"/>
                      <a:pt x="199" y="351"/>
                    </a:cubicBezTo>
                    <a:cubicBezTo>
                      <a:pt x="204" y="352"/>
                      <a:pt x="210" y="352"/>
                      <a:pt x="215" y="352"/>
                    </a:cubicBezTo>
                    <a:cubicBezTo>
                      <a:pt x="227" y="352"/>
                      <a:pt x="240" y="351"/>
                      <a:pt x="253" y="347"/>
                    </a:cubicBezTo>
                    <a:cubicBezTo>
                      <a:pt x="272" y="342"/>
                      <a:pt x="290" y="333"/>
                      <a:pt x="306" y="322"/>
                    </a:cubicBezTo>
                    <a:cubicBezTo>
                      <a:pt x="335" y="302"/>
                      <a:pt x="358" y="273"/>
                      <a:pt x="371" y="241"/>
                    </a:cubicBezTo>
                    <a:cubicBezTo>
                      <a:pt x="378" y="223"/>
                      <a:pt x="383" y="202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3" y="143"/>
                      <a:pt x="362" y="106"/>
                      <a:pt x="332" y="82"/>
                    </a:cubicBezTo>
                    <a:cubicBezTo>
                      <a:pt x="304" y="60"/>
                      <a:pt x="268" y="49"/>
                      <a:pt x="233" y="49"/>
                    </a:cubicBezTo>
                    <a:moveTo>
                      <a:pt x="382" y="180"/>
                    </a:moveTo>
                    <a:cubicBezTo>
                      <a:pt x="382" y="180"/>
                      <a:pt x="382" y="181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4"/>
                      <a:pt x="382" y="184"/>
                    </a:cubicBezTo>
                    <a:cubicBezTo>
                      <a:pt x="382" y="184"/>
                      <a:pt x="382" y="183"/>
                      <a:pt x="382" y="182"/>
                    </a:cubicBezTo>
                    <a:cubicBezTo>
                      <a:pt x="382" y="181"/>
                      <a:pt x="382" y="180"/>
                      <a:pt x="382" y="180"/>
                    </a:cubicBezTo>
                    <a:moveTo>
                      <a:pt x="207" y="0"/>
                    </a:moveTo>
                    <a:cubicBezTo>
                      <a:pt x="204" y="0"/>
                      <a:pt x="202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199" y="0"/>
                      <a:pt x="199" y="0"/>
                    </a:cubicBezTo>
                    <a:cubicBezTo>
                      <a:pt x="136" y="6"/>
                      <a:pt x="75" y="36"/>
                      <a:pt x="30" y="80"/>
                    </a:cubicBezTo>
                    <a:cubicBezTo>
                      <a:pt x="19" y="91"/>
                      <a:pt x="9" y="102"/>
                      <a:pt x="0" y="115"/>
                    </a:cubicBezTo>
                    <a:cubicBezTo>
                      <a:pt x="17" y="94"/>
                      <a:pt x="37" y="76"/>
                      <a:pt x="59" y="60"/>
                    </a:cubicBezTo>
                    <a:cubicBezTo>
                      <a:pt x="85" y="41"/>
                      <a:pt x="113" y="24"/>
                      <a:pt x="143" y="14"/>
                    </a:cubicBezTo>
                    <a:cubicBezTo>
                      <a:pt x="164" y="6"/>
                      <a:pt x="185" y="1"/>
                      <a:pt x="207" y="0"/>
                    </a:cubicBez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" name="Google Shape;83;p1">
                <a:extLst>
                  <a:ext uri="{FF2B5EF4-FFF2-40B4-BE49-F238E27FC236}">
                    <a16:creationId xmlns:a16="http://schemas.microsoft.com/office/drawing/2014/main" id="{7932E1BD-50A9-8DF2-54A2-FD9D2CAE5B55}"/>
                  </a:ext>
                </a:extLst>
              </p:cNvPr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" name="Google Shape;84;p1">
                <a:extLst>
                  <a:ext uri="{FF2B5EF4-FFF2-40B4-BE49-F238E27FC236}">
                    <a16:creationId xmlns:a16="http://schemas.microsoft.com/office/drawing/2014/main" id="{21447CEA-CBE4-42B9-85C0-C9C9BD50770E}"/>
                  </a:ext>
                </a:extLst>
              </p:cNvPr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4" name="제목 4">
            <a:extLst>
              <a:ext uri="{FF2B5EF4-FFF2-40B4-BE49-F238E27FC236}">
                <a16:creationId xmlns:a16="http://schemas.microsoft.com/office/drawing/2014/main" id="{374C003B-325D-7CB6-5D60-902446CA1D24}"/>
              </a:ext>
            </a:extLst>
          </p:cNvPr>
          <p:cNvSpPr txBox="1">
            <a:spLocks/>
          </p:cNvSpPr>
          <p:nvPr/>
        </p:nvSpPr>
        <p:spPr>
          <a:xfrm>
            <a:off x="745166" y="3323282"/>
            <a:ext cx="10515600" cy="13255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4400">
                <a:solidFill>
                  <a:schemeClr val="bg1"/>
                </a:solidFill>
                <a:latin typeface="NotoSansK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/>
              <a:t>처음 시작하는 </a:t>
            </a:r>
            <a:r>
              <a:rPr lang="en" altLang="ko-KR" dirty="0"/>
              <a:t>Git</a:t>
            </a:r>
            <a:r>
              <a:rPr lang="ko-KR" altLang="en-US" dirty="0"/>
              <a:t> 이해와</a:t>
            </a:r>
            <a:r>
              <a:rPr lang="en" altLang="ko-KR" dirty="0"/>
              <a:t> </a:t>
            </a:r>
            <a:r>
              <a:rPr lang="ko-KR" altLang="en-US" dirty="0"/>
              <a:t>실습 </a:t>
            </a:r>
          </a:p>
        </p:txBody>
      </p:sp>
    </p:spTree>
    <p:extLst>
      <p:ext uri="{BB962C8B-B14F-4D97-AF65-F5344CB8AC3E}">
        <p14:creationId xmlns:p14="http://schemas.microsoft.com/office/powerpoint/2010/main" val="75413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6086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ko-KR" sz="2400" b="1" spc="-150" dirty="0">
                <a:latin typeface="NanumGothic" panose="020D0604000000000000" pitchFamily="34" charset="-127"/>
                <a:ea typeface="NanumGothic" panose="020D0604000000000000" pitchFamily="34" charset="-127"/>
              </a:rPr>
              <a:t>GIT </a:t>
            </a:r>
            <a:r>
              <a:rPr lang="ko-KR" altLang="en-US" sz="2400" b="1" spc="-15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이란 무엇인가</a:t>
            </a:r>
            <a:r>
              <a:rPr lang="en-US" altLang="ko-KR" sz="2400" b="1" spc="-150" dirty="0"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24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코드의 모든 변경 이력을 기록하고 관리하는 분산 버전 관리 시스템</a:t>
            </a:r>
            <a:r>
              <a:rPr lang="en-US" altLang="ko-KR" sz="2000" dirty="0"/>
              <a:t>(</a:t>
            </a:r>
            <a:r>
              <a:rPr lang="en" altLang="ko-KR" sz="2000" dirty="0"/>
              <a:t>VCS)</a:t>
            </a:r>
            <a:r>
              <a:rPr lang="ko-KR" altLang="en-US" sz="2000" dirty="0"/>
              <a:t> 입니다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F68A5AE-5826-D0D1-CE5F-AF682EB67FD4}"/>
              </a:ext>
            </a:extLst>
          </p:cNvPr>
          <p:cNvSpPr/>
          <p:nvPr/>
        </p:nvSpPr>
        <p:spPr>
          <a:xfrm>
            <a:off x="355065" y="1551963"/>
            <a:ext cx="11481801" cy="4689445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6195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−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670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92040B0A-BF2A-635E-346B-95992FBF4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51" b="7413"/>
          <a:stretch/>
        </p:blipFill>
        <p:spPr>
          <a:xfrm>
            <a:off x="2073147" y="2381022"/>
            <a:ext cx="2277911" cy="104797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E4B5B7C-F15D-013A-985D-DB8985249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928" y="4294574"/>
            <a:ext cx="3310098" cy="1355453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A4402ED8-DAFC-FB17-D01C-43BEA8B6C8C3}"/>
              </a:ext>
            </a:extLst>
          </p:cNvPr>
          <p:cNvGrpSpPr/>
          <p:nvPr/>
        </p:nvGrpSpPr>
        <p:grpSpPr>
          <a:xfrm>
            <a:off x="6857176" y="2018210"/>
            <a:ext cx="3154208" cy="3836124"/>
            <a:chOff x="6857176" y="2018210"/>
            <a:chExt cx="3154208" cy="3836124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3F516A92-3D3E-9D5C-E14B-C6E2D90EE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7176" y="2018210"/>
              <a:ext cx="3065418" cy="3836124"/>
            </a:xfrm>
            <a:prstGeom prst="rect">
              <a:avLst/>
            </a:prstGeom>
          </p:spPr>
        </p:pic>
        <p:cxnSp>
          <p:nvCxnSpPr>
            <p:cNvPr id="67" name="직선 연결선[R] 66">
              <a:extLst>
                <a:ext uri="{FF2B5EF4-FFF2-40B4-BE49-F238E27FC236}">
                  <a16:creationId xmlns:a16="http://schemas.microsoft.com/office/drawing/2014/main" id="{FAD6026C-8048-8BAF-F572-AD413515524D}"/>
                </a:ext>
              </a:extLst>
            </p:cNvPr>
            <p:cNvCxnSpPr/>
            <p:nvPr/>
          </p:nvCxnSpPr>
          <p:spPr>
            <a:xfrm>
              <a:off x="7015635" y="3936272"/>
              <a:ext cx="2995749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872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 vs 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기본 개념 및 아키텍처 차이점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(1/4)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중앙 서버에만 의존하는 </a:t>
            </a:r>
            <a:r>
              <a:rPr lang="en" altLang="ko-KR" sz="2000" dirty="0"/>
              <a:t>SVN</a:t>
            </a:r>
            <a:r>
              <a:rPr lang="ko-KR" altLang="en-US" sz="2000" dirty="0"/>
              <a:t>과 달리</a:t>
            </a:r>
            <a:r>
              <a:rPr lang="en-US" altLang="ko-KR" sz="2000" dirty="0"/>
              <a:t>, GIT</a:t>
            </a:r>
            <a:r>
              <a:rPr lang="ko-KR" altLang="en-US" sz="2000" dirty="0"/>
              <a:t>은 모든 작업자가 전체 이력을 공유하며 독립적으로 작업하는 분산 관리 시스템 입니다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4D016F-39E8-7828-6E54-706C231C158E}"/>
              </a:ext>
            </a:extLst>
          </p:cNvPr>
          <p:cNvSpPr txBox="1"/>
          <p:nvPr/>
        </p:nvSpPr>
        <p:spPr>
          <a:xfrm>
            <a:off x="2456652" y="2120096"/>
            <a:ext cx="1327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저장소 구조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E606511-F696-0A13-0FF5-7F72A0AE2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22904"/>
              </p:ext>
            </p:extLst>
          </p:nvPr>
        </p:nvGraphicFramePr>
        <p:xfrm>
          <a:off x="490835" y="2548074"/>
          <a:ext cx="5546290" cy="1584961"/>
        </p:xfrm>
        <a:graphic>
          <a:graphicData uri="http://schemas.openxmlformats.org/drawingml/2006/table">
            <a:tbl>
              <a:tblPr/>
              <a:tblGrid>
                <a:gridCol w="1339155">
                  <a:extLst>
                    <a:ext uri="{9D8B030D-6E8A-4147-A177-3AD203B41FA5}">
                      <a16:colId xmlns:a16="http://schemas.microsoft.com/office/drawing/2014/main" val="1453957739"/>
                    </a:ext>
                  </a:extLst>
                </a:gridCol>
                <a:gridCol w="1933719">
                  <a:extLst>
                    <a:ext uri="{9D8B030D-6E8A-4147-A177-3AD203B41FA5}">
                      <a16:colId xmlns:a16="http://schemas.microsoft.com/office/drawing/2014/main" val="2093397079"/>
                    </a:ext>
                  </a:extLst>
                </a:gridCol>
                <a:gridCol w="2273416">
                  <a:extLst>
                    <a:ext uri="{9D8B030D-6E8A-4147-A177-3AD203B41FA5}">
                      <a16:colId xmlns:a16="http://schemas.microsoft.com/office/drawing/2014/main" val="1873503646"/>
                    </a:ext>
                  </a:extLst>
                </a:gridCol>
              </a:tblGrid>
              <a:tr h="370398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739426"/>
                  </a:ext>
                </a:extLst>
              </a:tr>
              <a:tr h="335943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저장소 구조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중앙 집중형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" sz="1200" dirty="0">
                          <a:effectLst/>
                        </a:rPr>
                        <a:t>Centralized)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분산형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" sz="1200" dirty="0">
                          <a:effectLst/>
                        </a:rPr>
                        <a:t>Distributed)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410068"/>
                  </a:ext>
                </a:extLst>
              </a:tr>
              <a:tr h="542677"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로컬 저장소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작업 디렉터리만 존재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전체 히스토리를 포함한 로컬 저장소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83612"/>
                  </a:ext>
                </a:extLst>
              </a:tr>
              <a:tr h="335943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서버 의존성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매우 높음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낮음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1435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F72C6A-5CCA-268E-F722-C3B0EFDA9700}"/>
              </a:ext>
            </a:extLst>
          </p:cNvPr>
          <p:cNvSpPr txBox="1"/>
          <p:nvPr/>
        </p:nvSpPr>
        <p:spPr>
          <a:xfrm>
            <a:off x="490835" y="4470070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중앙 서버가 단일 진실의 원천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Single Source of Truth)</a:t>
            </a:r>
          </a:p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개발자가 동일한 히스토리를 가진 저장소를 보유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43FA81-563E-CC7D-22DA-227AB322B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10032"/>
              </p:ext>
            </p:extLst>
          </p:nvPr>
        </p:nvGraphicFramePr>
        <p:xfrm>
          <a:off x="6501379" y="2548074"/>
          <a:ext cx="5008316" cy="1584960"/>
        </p:xfrm>
        <a:graphic>
          <a:graphicData uri="http://schemas.openxmlformats.org/drawingml/2006/table">
            <a:tbl>
              <a:tblPr/>
              <a:tblGrid>
                <a:gridCol w="1179314">
                  <a:extLst>
                    <a:ext uri="{9D8B030D-6E8A-4147-A177-3AD203B41FA5}">
                      <a16:colId xmlns:a16="http://schemas.microsoft.com/office/drawing/2014/main" val="4115689629"/>
                    </a:ext>
                  </a:extLst>
                </a:gridCol>
                <a:gridCol w="1529813">
                  <a:extLst>
                    <a:ext uri="{9D8B030D-6E8A-4147-A177-3AD203B41FA5}">
                      <a16:colId xmlns:a16="http://schemas.microsoft.com/office/drawing/2014/main" val="3531413336"/>
                    </a:ext>
                  </a:extLst>
                </a:gridCol>
                <a:gridCol w="2299189">
                  <a:extLst>
                    <a:ext uri="{9D8B030D-6E8A-4147-A177-3AD203B41FA5}">
                      <a16:colId xmlns:a16="http://schemas.microsoft.com/office/drawing/2014/main" val="113896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670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effectLst/>
                        </a:rPr>
                        <a:t>커밋</a:t>
                      </a:r>
                      <a:r>
                        <a:rPr lang="ko-KR" altLang="en-US" sz="1200" dirty="0">
                          <a:effectLst/>
                        </a:rPr>
                        <a:t> 단위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파일 단위 변경 중심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스냅샷 기반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371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히스토리 구조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선형 구조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</a:rPr>
                        <a:t>DAG(Directed Acyclic Graph)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30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변경 추적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</a:rPr>
                        <a:t>diff </a:t>
                      </a:r>
                      <a:r>
                        <a:rPr lang="ko-KR" altLang="en-US" sz="1200">
                          <a:effectLst/>
                        </a:rPr>
                        <a:t>중심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</a:rPr>
                        <a:t>content-addressed (SHA </a:t>
                      </a:r>
                      <a:r>
                        <a:rPr lang="ko-KR" altLang="en-US" sz="1200" dirty="0">
                          <a:effectLst/>
                        </a:rPr>
                        <a:t>기반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35432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4B97E24-DCA3-F9DE-BF99-0AA6D8E91A6E}"/>
              </a:ext>
            </a:extLst>
          </p:cNvPr>
          <p:cNvSpPr txBox="1"/>
          <p:nvPr/>
        </p:nvSpPr>
        <p:spPr>
          <a:xfrm>
            <a:off x="7928315" y="2113066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및 버전 관리 방식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68B7E-4A88-8911-64B0-5D936C14AE9E}"/>
              </a:ext>
            </a:extLst>
          </p:cNvPr>
          <p:cNvSpPr txBox="1"/>
          <p:nvPr/>
        </p:nvSpPr>
        <p:spPr>
          <a:xfrm>
            <a:off x="6502419" y="4443981"/>
            <a:ext cx="485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커밋마다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전체 상태의 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스냅샷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저장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       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해시 기반 구조로 무결성 및 변경 이력 추적이 용이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615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 vs 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기본 개념 및 아키텍처 차이점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(2/4)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중앙 서버에만 의존하는 </a:t>
            </a:r>
            <a:r>
              <a:rPr lang="en" altLang="ko-KR" sz="2000" dirty="0"/>
              <a:t>SVN</a:t>
            </a:r>
            <a:r>
              <a:rPr lang="ko-KR" altLang="en-US" sz="2000" dirty="0"/>
              <a:t>과 달리</a:t>
            </a:r>
            <a:r>
              <a:rPr lang="en-US" altLang="ko-KR" sz="2000" dirty="0"/>
              <a:t>, GIT</a:t>
            </a:r>
            <a:r>
              <a:rPr lang="ko-KR" altLang="en-US" sz="2000" dirty="0"/>
              <a:t>은 모든 작업자가 전체 이력을 공유하며 독립적으로 작업하는 분산 관리 시스템 입니다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4D016F-39E8-7828-6E54-706C231C158E}"/>
              </a:ext>
            </a:extLst>
          </p:cNvPr>
          <p:cNvSpPr txBox="1"/>
          <p:nvPr/>
        </p:nvSpPr>
        <p:spPr>
          <a:xfrm>
            <a:off x="2662733" y="2046287"/>
            <a:ext cx="1327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비용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43169-19F7-7A1F-0890-1DD9D8DF9898}"/>
              </a:ext>
            </a:extLst>
          </p:cNvPr>
          <p:cNvSpPr txBox="1"/>
          <p:nvPr/>
        </p:nvSpPr>
        <p:spPr>
          <a:xfrm>
            <a:off x="8185494" y="2046287"/>
            <a:ext cx="1628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병합 품질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11B8-0606-6C67-7DDE-CAEC9F86E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153333"/>
              </p:ext>
            </p:extLst>
          </p:nvPr>
        </p:nvGraphicFramePr>
        <p:xfrm>
          <a:off x="740661" y="2595595"/>
          <a:ext cx="5355339" cy="1196340"/>
        </p:xfrm>
        <a:graphic>
          <a:graphicData uri="http://schemas.openxmlformats.org/drawingml/2006/table">
            <a:tbl>
              <a:tblPr/>
              <a:tblGrid>
                <a:gridCol w="1276146">
                  <a:extLst>
                    <a:ext uri="{9D8B030D-6E8A-4147-A177-3AD203B41FA5}">
                      <a16:colId xmlns:a16="http://schemas.microsoft.com/office/drawing/2014/main" val="2183240125"/>
                    </a:ext>
                  </a:extLst>
                </a:gridCol>
                <a:gridCol w="1760434">
                  <a:extLst>
                    <a:ext uri="{9D8B030D-6E8A-4147-A177-3AD203B41FA5}">
                      <a16:colId xmlns:a16="http://schemas.microsoft.com/office/drawing/2014/main" val="385992311"/>
                    </a:ext>
                  </a:extLst>
                </a:gridCol>
                <a:gridCol w="2318759">
                  <a:extLst>
                    <a:ext uri="{9D8B030D-6E8A-4147-A177-3AD203B41FA5}">
                      <a16:colId xmlns:a16="http://schemas.microsoft.com/office/drawing/2014/main" val="1779122561"/>
                    </a:ext>
                  </a:extLst>
                </a:gridCol>
              </a:tblGrid>
              <a:tr h="425146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400192"/>
                  </a:ext>
                </a:extLst>
              </a:tr>
              <a:tr h="385597"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effectLst/>
                        </a:rPr>
                        <a:t>브랜치</a:t>
                      </a:r>
                      <a:r>
                        <a:rPr lang="ko-KR" altLang="en-US" sz="1200" dirty="0">
                          <a:effectLst/>
                        </a:rPr>
                        <a:t> 생성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디렉터리 복사 개념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매우 가벼움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포인터 이동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136964"/>
                  </a:ext>
                </a:extLst>
              </a:tr>
              <a:tr h="385597"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effectLst/>
                        </a:rPr>
                        <a:t>브랜치</a:t>
                      </a:r>
                      <a:r>
                        <a:rPr lang="ko-KR" altLang="en-US" sz="1200" dirty="0">
                          <a:effectLst/>
                        </a:rPr>
                        <a:t> 활용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제한적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일상적 사용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1476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805D92-9840-552C-242E-2E7881629526}"/>
              </a:ext>
            </a:extLst>
          </p:cNvPr>
          <p:cNvSpPr txBox="1"/>
          <p:nvPr/>
        </p:nvSpPr>
        <p:spPr>
          <a:xfrm>
            <a:off x="740661" y="4253865"/>
            <a:ext cx="38106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</a:t>
            </a:r>
            <a:r>
              <a:rPr lang="en-US" altLang="ko-KR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trunk, /branches, /tags 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디렉터리 관례에 의존</a:t>
            </a:r>
          </a:p>
          <a:p>
            <a:pPr algn="l"/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브랜치는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생성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·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삭제 비용이 거의 없음</a:t>
            </a:r>
          </a:p>
          <a:p>
            <a:endParaRPr kumimoji="1"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9BDEBF8-54AD-36DF-3267-FF14AE4F4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815236"/>
              </p:ext>
            </p:extLst>
          </p:nvPr>
        </p:nvGraphicFramePr>
        <p:xfrm>
          <a:off x="6312167" y="2603784"/>
          <a:ext cx="5355339" cy="1188150"/>
        </p:xfrm>
        <a:graphic>
          <a:graphicData uri="http://schemas.openxmlformats.org/drawingml/2006/table">
            <a:tbl>
              <a:tblPr/>
              <a:tblGrid>
                <a:gridCol w="1785113">
                  <a:extLst>
                    <a:ext uri="{9D8B030D-6E8A-4147-A177-3AD203B41FA5}">
                      <a16:colId xmlns:a16="http://schemas.microsoft.com/office/drawing/2014/main" val="3421670168"/>
                    </a:ext>
                  </a:extLst>
                </a:gridCol>
                <a:gridCol w="1785113">
                  <a:extLst>
                    <a:ext uri="{9D8B030D-6E8A-4147-A177-3AD203B41FA5}">
                      <a16:colId xmlns:a16="http://schemas.microsoft.com/office/drawing/2014/main" val="2513891330"/>
                    </a:ext>
                  </a:extLst>
                </a:gridCol>
                <a:gridCol w="1785113">
                  <a:extLst>
                    <a:ext uri="{9D8B030D-6E8A-4147-A177-3AD203B41FA5}">
                      <a16:colId xmlns:a16="http://schemas.microsoft.com/office/drawing/2014/main" val="1378412208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285858"/>
                  </a:ext>
                </a:extLst>
              </a:tr>
              <a:tr h="396050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병합 추적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제한적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히스토리 기반 병합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260182"/>
                  </a:ext>
                </a:extLst>
              </a:tr>
              <a:tr h="39605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</a:rPr>
                        <a:t>rebase </a:t>
                      </a:r>
                      <a:r>
                        <a:rPr lang="ko-KR" altLang="en-US" sz="1200">
                          <a:effectLst/>
                        </a:rPr>
                        <a:t>지원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제한적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강력한 </a:t>
                      </a:r>
                      <a:r>
                        <a:rPr lang="en" sz="1200" dirty="0">
                          <a:effectLst/>
                        </a:rPr>
                        <a:t>rebase </a:t>
                      </a:r>
                      <a:r>
                        <a:rPr lang="ko-KR" altLang="en-US" sz="1200" dirty="0">
                          <a:effectLst/>
                        </a:rPr>
                        <a:t>지원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1548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D3E2534-8EE2-F3E7-6D55-1F7136C6F9BE}"/>
              </a:ext>
            </a:extLst>
          </p:cNvPr>
          <p:cNvSpPr txBox="1"/>
          <p:nvPr/>
        </p:nvSpPr>
        <p:spPr>
          <a:xfrm>
            <a:off x="6312167" y="4253865"/>
            <a:ext cx="53553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en-US" altLang="ko-KR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3-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way merge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및 공통 조상 추적이 정확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      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대규모 협업에서 충돌 관리가 수월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3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 vs 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기본 개념 및 아키텍처 차이점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(3/4)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중앙 서버에만 의존하는 </a:t>
            </a:r>
            <a:r>
              <a:rPr lang="en" altLang="ko-KR" sz="2000" dirty="0"/>
              <a:t>SVN</a:t>
            </a:r>
            <a:r>
              <a:rPr lang="ko-KR" altLang="en-US" sz="2000" dirty="0"/>
              <a:t>과 달리</a:t>
            </a:r>
            <a:r>
              <a:rPr lang="en-US" altLang="ko-KR" sz="2000" dirty="0"/>
              <a:t>, GIT</a:t>
            </a:r>
            <a:r>
              <a:rPr lang="ko-KR" altLang="en-US" sz="2000" dirty="0"/>
              <a:t>은 모든 작업자가 전체 이력을 공유하며 독립적으로 작업하는 분산 관리 시스템 입니다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43169-19F7-7A1F-0890-1DD9D8DF9898}"/>
              </a:ext>
            </a:extLst>
          </p:cNvPr>
          <p:cNvSpPr txBox="1"/>
          <p:nvPr/>
        </p:nvSpPr>
        <p:spPr>
          <a:xfrm>
            <a:off x="1791111" y="1916344"/>
            <a:ext cx="1628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성능 및 확장성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8F2A498-22A4-D29B-B87E-B44786BA9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67993"/>
              </p:ext>
            </p:extLst>
          </p:nvPr>
        </p:nvGraphicFramePr>
        <p:xfrm>
          <a:off x="603163" y="2438459"/>
          <a:ext cx="4317162" cy="1219200"/>
        </p:xfrm>
        <a:graphic>
          <a:graphicData uri="http://schemas.openxmlformats.org/drawingml/2006/table">
            <a:tbl>
              <a:tblPr/>
              <a:tblGrid>
                <a:gridCol w="1439054">
                  <a:extLst>
                    <a:ext uri="{9D8B030D-6E8A-4147-A177-3AD203B41FA5}">
                      <a16:colId xmlns:a16="http://schemas.microsoft.com/office/drawing/2014/main" val="2020780985"/>
                    </a:ext>
                  </a:extLst>
                </a:gridCol>
                <a:gridCol w="1439054">
                  <a:extLst>
                    <a:ext uri="{9D8B030D-6E8A-4147-A177-3AD203B41FA5}">
                      <a16:colId xmlns:a16="http://schemas.microsoft.com/office/drawing/2014/main" val="3410393632"/>
                    </a:ext>
                  </a:extLst>
                </a:gridCol>
                <a:gridCol w="1439054">
                  <a:extLst>
                    <a:ext uri="{9D8B030D-6E8A-4147-A177-3AD203B41FA5}">
                      <a16:colId xmlns:a16="http://schemas.microsoft.com/office/drawing/2014/main" val="1966248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작업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706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</a:rPr>
                        <a:t>diff / log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서버 요청 필요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로컬 즉시 수행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2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</a:rPr>
                        <a:t>checkout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느림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빠름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470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대용량 저장소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성능 저하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비교적 안정적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44174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2D0E3-501A-7E66-6F66-B1044A331039}"/>
              </a:ext>
            </a:extLst>
          </p:cNvPr>
          <p:cNvSpPr txBox="1"/>
          <p:nvPr/>
        </p:nvSpPr>
        <p:spPr>
          <a:xfrm>
            <a:off x="1671955" y="4320644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협업 모델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7201539-85DA-64AA-68C7-294527381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837351"/>
              </p:ext>
            </p:extLst>
          </p:nvPr>
        </p:nvGraphicFramePr>
        <p:xfrm>
          <a:off x="603163" y="4707867"/>
          <a:ext cx="4317162" cy="1196340"/>
        </p:xfrm>
        <a:graphic>
          <a:graphicData uri="http://schemas.openxmlformats.org/drawingml/2006/table">
            <a:tbl>
              <a:tblPr/>
              <a:tblGrid>
                <a:gridCol w="1439054">
                  <a:extLst>
                    <a:ext uri="{9D8B030D-6E8A-4147-A177-3AD203B41FA5}">
                      <a16:colId xmlns:a16="http://schemas.microsoft.com/office/drawing/2014/main" val="2021233974"/>
                    </a:ext>
                  </a:extLst>
                </a:gridCol>
                <a:gridCol w="1439054">
                  <a:extLst>
                    <a:ext uri="{9D8B030D-6E8A-4147-A177-3AD203B41FA5}">
                      <a16:colId xmlns:a16="http://schemas.microsoft.com/office/drawing/2014/main" val="58488772"/>
                    </a:ext>
                  </a:extLst>
                </a:gridCol>
                <a:gridCol w="1439054">
                  <a:extLst>
                    <a:ext uri="{9D8B030D-6E8A-4147-A177-3AD203B41FA5}">
                      <a16:colId xmlns:a16="http://schemas.microsoft.com/office/drawing/2014/main" val="211597718"/>
                    </a:ext>
                  </a:extLst>
                </a:gridCol>
              </a:tblGrid>
              <a:tr h="207267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6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effectLst/>
                        </a:rPr>
                        <a:t>협업 방식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effectLst/>
                        </a:rPr>
                        <a:t>중앙 서버 직접 </a:t>
                      </a:r>
                      <a:r>
                        <a:rPr lang="ko-KR" altLang="en-US" dirty="0" err="1">
                          <a:effectLst/>
                        </a:rPr>
                        <a:t>커밋</a:t>
                      </a:r>
                      <a:endParaRPr lang="ko-KR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PR/MR </a:t>
                      </a:r>
                      <a:r>
                        <a:rPr lang="ko-KR" altLang="en-US" dirty="0">
                          <a:effectLst/>
                        </a:rPr>
                        <a:t>기반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2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effectLst/>
                        </a:rPr>
                        <a:t>코드 리뷰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effectLst/>
                        </a:rPr>
                        <a:t>외부 도구 의존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effectLst/>
                        </a:rPr>
                        <a:t>플랫폼 내장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8539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60287C3-B98A-CBC3-590F-9FE059C3396C}"/>
              </a:ext>
            </a:extLst>
          </p:cNvPr>
          <p:cNvSpPr txBox="1"/>
          <p:nvPr/>
        </p:nvSpPr>
        <p:spPr>
          <a:xfrm>
            <a:off x="7393127" y="1916343"/>
            <a:ext cx="2836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무결성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안정성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복구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DCF857-B089-20F3-5DBE-BA00BBB6E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18851"/>
              </p:ext>
            </p:extLst>
          </p:nvPr>
        </p:nvGraphicFramePr>
        <p:xfrm>
          <a:off x="5922237" y="2438573"/>
          <a:ext cx="5563311" cy="1310523"/>
        </p:xfrm>
        <a:graphic>
          <a:graphicData uri="http://schemas.openxmlformats.org/drawingml/2006/table">
            <a:tbl>
              <a:tblPr/>
              <a:tblGrid>
                <a:gridCol w="1854437">
                  <a:extLst>
                    <a:ext uri="{9D8B030D-6E8A-4147-A177-3AD203B41FA5}">
                      <a16:colId xmlns:a16="http://schemas.microsoft.com/office/drawing/2014/main" val="3621255172"/>
                    </a:ext>
                  </a:extLst>
                </a:gridCol>
                <a:gridCol w="1034040">
                  <a:extLst>
                    <a:ext uri="{9D8B030D-6E8A-4147-A177-3AD203B41FA5}">
                      <a16:colId xmlns:a16="http://schemas.microsoft.com/office/drawing/2014/main" val="4113597184"/>
                    </a:ext>
                  </a:extLst>
                </a:gridCol>
                <a:gridCol w="2674834">
                  <a:extLst>
                    <a:ext uri="{9D8B030D-6E8A-4147-A177-3AD203B41FA5}">
                      <a16:colId xmlns:a16="http://schemas.microsoft.com/office/drawing/2014/main" val="2817466996"/>
                    </a:ext>
                  </a:extLst>
                </a:gridCol>
              </a:tblGrid>
              <a:tr h="358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SVN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Git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454161"/>
                  </a:ext>
                </a:extLst>
              </a:tr>
              <a:tr h="358933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무결성 검증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제한적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해시 기반 무결성 보장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2552"/>
                  </a:ext>
                </a:extLst>
              </a:tr>
              <a:tr h="592657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서버 장애 시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>
                          <a:effectLst/>
                        </a:rPr>
                        <a:t>작업 중단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다른 로컬 저장소로 복구 가능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4533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AA4CC80-327B-D0EA-8FDE-1179116B75DE}"/>
              </a:ext>
            </a:extLst>
          </p:cNvPr>
          <p:cNvSpPr txBox="1"/>
          <p:nvPr/>
        </p:nvSpPr>
        <p:spPr>
          <a:xfrm>
            <a:off x="7271677" y="4474533"/>
            <a:ext cx="116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CI/CD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연계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26034-DE0A-7C57-3113-44DFBAC312C7}"/>
              </a:ext>
            </a:extLst>
          </p:cNvPr>
          <p:cNvSpPr txBox="1"/>
          <p:nvPr/>
        </p:nvSpPr>
        <p:spPr>
          <a:xfrm>
            <a:off x="5922237" y="4816178"/>
            <a:ext cx="43685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은 다음 도구들과 사실상 표준으로 연계됨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GitHub Actions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GitLab CI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Jenkins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ArgoCD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/ Flux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은 최신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DevOps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파이프라인과의 통합이 제한적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8CAB7F-8710-5164-B1C8-3BFE424312F0}"/>
              </a:ext>
            </a:extLst>
          </p:cNvPr>
          <p:cNvSpPr txBox="1"/>
          <p:nvPr/>
        </p:nvSpPr>
        <p:spPr>
          <a:xfrm>
            <a:off x="5922237" y="3809666"/>
            <a:ext cx="2444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en-US" altLang="ko-KR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클론은 백업 역할 수행</a:t>
            </a:r>
          </a:p>
        </p:txBody>
      </p:sp>
    </p:spTree>
    <p:extLst>
      <p:ext uri="{BB962C8B-B14F-4D97-AF65-F5344CB8AC3E}">
        <p14:creationId xmlns:p14="http://schemas.microsoft.com/office/powerpoint/2010/main" val="369770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SVN vs 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기본 개념 및 아키텍처 차이점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(4/4)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중앙 서버에만 의존하는 </a:t>
            </a:r>
            <a:r>
              <a:rPr lang="en" altLang="ko-KR" sz="2000" dirty="0"/>
              <a:t>SVN</a:t>
            </a:r>
            <a:r>
              <a:rPr lang="ko-KR" altLang="en-US" sz="2000" dirty="0"/>
              <a:t>과 달리</a:t>
            </a:r>
            <a:r>
              <a:rPr lang="en-US" altLang="ko-KR" sz="2000" dirty="0"/>
              <a:t>, GIT</a:t>
            </a:r>
            <a:r>
              <a:rPr lang="ko-KR" altLang="en-US" sz="2000" dirty="0"/>
              <a:t>은 모든 작업자가 전체 이력을 공유하며 독립적으로 작업하는 분산 관리 시스템 입니다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1">
            <a:extLst>
              <a:ext uri="{FF2B5EF4-FFF2-40B4-BE49-F238E27FC236}">
                <a16:creationId xmlns:a16="http://schemas.microsoft.com/office/drawing/2014/main" id="{7B70A6A7-31B0-B324-3B53-A7F1E543C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3134861"/>
            <a:ext cx="3484127" cy="35365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 err="1">
                <a:latin typeface="+mn-ea"/>
              </a:rPr>
              <a:t>브랜치</a:t>
            </a:r>
            <a:r>
              <a:rPr lang="ko-KR" altLang="en-US" sz="1200" dirty="0">
                <a:latin typeface="+mn-ea"/>
              </a:rPr>
              <a:t> 및 병합 기능이 강력</a:t>
            </a:r>
          </a:p>
        </p:txBody>
      </p:sp>
      <p:sp>
        <p:nvSpPr>
          <p:cNvPr id="8" name="Rectangle 141">
            <a:extLst>
              <a:ext uri="{FF2B5EF4-FFF2-40B4-BE49-F238E27FC236}">
                <a16:creationId xmlns:a16="http://schemas.microsoft.com/office/drawing/2014/main" id="{985B3BF5-EC46-7C98-ED60-60010FE2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2603611"/>
            <a:ext cx="3484127" cy="3453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>
                <a:latin typeface="+mn-ea"/>
              </a:rPr>
              <a:t>분산형 구조로 인한 안정성과 유연성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79DE3F-0D1A-7934-2D03-D37C9AAC3E79}"/>
              </a:ext>
            </a:extLst>
          </p:cNvPr>
          <p:cNvSpPr/>
          <p:nvPr/>
        </p:nvSpPr>
        <p:spPr bwMode="gray">
          <a:xfrm>
            <a:off x="3742797" y="1938894"/>
            <a:ext cx="3461309" cy="478806"/>
          </a:xfrm>
          <a:prstGeom prst="rect">
            <a:avLst/>
          </a:prstGeom>
          <a:solidFill>
            <a:srgbClr val="0070C0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 2" pitchFamily="18" charset="2"/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</a:rPr>
              <a:t>SVN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대비 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Git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이 더 좋은 이유 요약</a:t>
            </a:r>
          </a:p>
        </p:txBody>
      </p:sp>
      <p:sp>
        <p:nvSpPr>
          <p:cNvPr id="11" name="Rectangle 141">
            <a:extLst>
              <a:ext uri="{FF2B5EF4-FFF2-40B4-BE49-F238E27FC236}">
                <a16:creationId xmlns:a16="http://schemas.microsoft.com/office/drawing/2014/main" id="{E64E049C-4FFE-6D49-C1D9-5E991E455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4205677"/>
            <a:ext cx="3484127" cy="35365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>
                <a:latin typeface="+mn-ea"/>
              </a:rPr>
              <a:t>성능 우수</a:t>
            </a:r>
          </a:p>
        </p:txBody>
      </p:sp>
      <p:sp>
        <p:nvSpPr>
          <p:cNvPr id="12" name="Rectangle 141">
            <a:extLst>
              <a:ext uri="{FF2B5EF4-FFF2-40B4-BE49-F238E27FC236}">
                <a16:creationId xmlns:a16="http://schemas.microsoft.com/office/drawing/2014/main" id="{69293594-894E-64D4-A45B-D2376480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3674427"/>
            <a:ext cx="3484127" cy="3453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>
                <a:latin typeface="+mn-ea"/>
              </a:rPr>
              <a:t>오프라인 작업 가능</a:t>
            </a:r>
          </a:p>
        </p:txBody>
      </p:sp>
      <p:sp>
        <p:nvSpPr>
          <p:cNvPr id="13" name="Rectangle 141">
            <a:extLst>
              <a:ext uri="{FF2B5EF4-FFF2-40B4-BE49-F238E27FC236}">
                <a16:creationId xmlns:a16="http://schemas.microsoft.com/office/drawing/2014/main" id="{1079A28D-0CBF-7FC1-5BFB-62D1877DF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5276493"/>
            <a:ext cx="3484127" cy="35365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en" altLang="ko-KR" sz="1200" dirty="0">
                <a:latin typeface="+mn-ea"/>
              </a:rPr>
              <a:t>CI/CD </a:t>
            </a:r>
            <a:r>
              <a:rPr lang="ko-KR" altLang="en-US" sz="1200" dirty="0">
                <a:latin typeface="+mn-ea"/>
              </a:rPr>
              <a:t>및 클라우드 네이티브 환경과의 높은 궁합</a:t>
            </a:r>
          </a:p>
        </p:txBody>
      </p:sp>
      <p:sp>
        <p:nvSpPr>
          <p:cNvPr id="14" name="Rectangle 141">
            <a:extLst>
              <a:ext uri="{FF2B5EF4-FFF2-40B4-BE49-F238E27FC236}">
                <a16:creationId xmlns:a16="http://schemas.microsoft.com/office/drawing/2014/main" id="{CC194A9A-D07C-9311-8960-D3D2A8F15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797" y="4745243"/>
            <a:ext cx="3484127" cy="34533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>
                <a:latin typeface="+mn-ea"/>
              </a:rPr>
              <a:t>현대적인 협업 방식</a:t>
            </a:r>
            <a:r>
              <a:rPr lang="en-US" altLang="ko-KR" sz="1200" dirty="0">
                <a:latin typeface="+mn-ea"/>
              </a:rPr>
              <a:t>(</a:t>
            </a:r>
            <a:r>
              <a:rPr lang="en" altLang="ko-KR" sz="1200" dirty="0">
                <a:latin typeface="+mn-ea"/>
              </a:rPr>
              <a:t>PR, </a:t>
            </a:r>
            <a:r>
              <a:rPr lang="ko-KR" altLang="en-US" sz="1200" dirty="0">
                <a:latin typeface="+mn-ea"/>
              </a:rPr>
              <a:t>코드 리뷰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sp>
        <p:nvSpPr>
          <p:cNvPr id="15" name="Rectangle 141">
            <a:extLst>
              <a:ext uri="{FF2B5EF4-FFF2-40B4-BE49-F238E27FC236}">
                <a16:creationId xmlns:a16="http://schemas.microsoft.com/office/drawing/2014/main" id="{2EAE9FB3-0B25-63D3-2681-4C2A3BCC0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387" y="5816058"/>
            <a:ext cx="3484127" cy="35365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36000" tIns="36000" rIns="36000" bIns="36000" anchor="ctr"/>
          <a:lstStyle/>
          <a:p>
            <a:pPr algn="ctr">
              <a:spcBef>
                <a:spcPct val="30000"/>
              </a:spcBef>
              <a:buClr>
                <a:srgbClr val="FFFFFF"/>
              </a:buClr>
            </a:pPr>
            <a:r>
              <a:rPr lang="ko-KR" altLang="en-US" sz="1200" dirty="0">
                <a:latin typeface="+mn-ea"/>
              </a:rPr>
              <a:t>사실상 업계 표준</a:t>
            </a:r>
          </a:p>
        </p:txBody>
      </p:sp>
    </p:spTree>
    <p:extLst>
      <p:ext uri="{BB962C8B-B14F-4D97-AF65-F5344CB8AC3E}">
        <p14:creationId xmlns:p14="http://schemas.microsoft.com/office/powerpoint/2010/main" val="15276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/>
            </a:lvl1pPr>
          </a:lstStyle>
          <a:p>
            <a:r>
              <a:rPr lang="en" altLang="ko-KR" dirty="0"/>
              <a:t>Git Repository(</a:t>
            </a:r>
            <a:r>
              <a:rPr lang="ko-KR" altLang="en-US" dirty="0"/>
              <a:t>깃 저장소</a:t>
            </a:r>
            <a:r>
              <a:rPr lang="en-US" altLang="ko-KR" dirty="0"/>
              <a:t>)</a:t>
            </a:r>
            <a:r>
              <a:rPr lang="ko-KR" altLang="en-US" dirty="0"/>
              <a:t>는 프로젝트의 소스 코드와 모든 변경 이력을 시간순으로 기록하고 관리하는 디지털 저장 공간입니다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그림 10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C6B86A29-AE4D-2E45-54C0-232AD3F05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84" y="1912690"/>
            <a:ext cx="6439732" cy="370528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3DA202-4105-D635-36ED-FBA517A7B67B}"/>
              </a:ext>
            </a:extLst>
          </p:cNvPr>
          <p:cNvSpPr/>
          <p:nvPr/>
        </p:nvSpPr>
        <p:spPr bwMode="gray">
          <a:xfrm>
            <a:off x="7339580" y="1912690"/>
            <a:ext cx="4504889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로컬 저장소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D9D58-D6FB-34EE-26F8-E96008757A5D}"/>
              </a:ext>
            </a:extLst>
          </p:cNvPr>
          <p:cNvSpPr/>
          <p:nvPr/>
        </p:nvSpPr>
        <p:spPr>
          <a:xfrm>
            <a:off x="7339581" y="2415481"/>
            <a:ext cx="4504890" cy="101351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사용자의 컴퓨터에 저장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인터넷 연결 없이도 변경 사항을 적용하고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확정하고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프로젝트 기록을 검토할 수 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.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프로젝트 폴더 안에 로컬 저장소가 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  <a:endParaRPr lang="en-US" altLang="ko-KR" sz="1200" b="1" kern="0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DFBA19-F6C8-7611-9982-9720C4824F5A}"/>
              </a:ext>
            </a:extLst>
          </p:cNvPr>
          <p:cNvSpPr/>
          <p:nvPr/>
        </p:nvSpPr>
        <p:spPr>
          <a:xfrm>
            <a:off x="491996" y="1912690"/>
            <a:ext cx="6472508" cy="3624985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6195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−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670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D1ED33-893D-8B71-684F-66B86E048863}"/>
              </a:ext>
            </a:extLst>
          </p:cNvPr>
          <p:cNvSpPr/>
          <p:nvPr/>
        </p:nvSpPr>
        <p:spPr bwMode="gray">
          <a:xfrm>
            <a:off x="7339580" y="3584718"/>
            <a:ext cx="4504889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원격 저장소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E751FA-5EB3-9A02-5EEC-467DD04F1820}"/>
              </a:ext>
            </a:extLst>
          </p:cNvPr>
          <p:cNvSpPr/>
          <p:nvPr/>
        </p:nvSpPr>
        <p:spPr>
          <a:xfrm>
            <a:off x="7339582" y="4086839"/>
            <a:ext cx="4504888" cy="1450836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GitHub, GitLab </a:t>
            </a:r>
            <a:r>
              <a:rPr lang="ko-KR" altLang="en-US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Bitbucket</a:t>
            </a:r>
            <a:r>
              <a:rPr lang="ko-KR" altLang="en-US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같은 서버에서 호스팅 된다</a:t>
            </a:r>
            <a:r>
              <a:rPr lang="en-US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52425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개발자가 동일한 프로젝트에서 협업할 수 있도록 한다</a:t>
            </a:r>
            <a:r>
              <a:rPr lang="en-US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52425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저장소와 변경 사항을 동기화하기 위한 </a:t>
            </a:r>
            <a:r>
              <a:rPr lang="en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push, </a:t>
            </a:r>
            <a:r>
              <a:rPr lang="en" altLang="ko-KR" sz="120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pull,fetch</a:t>
            </a:r>
            <a:r>
              <a:rPr lang="en" altLang="ko-KR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등의 작업을 지원한다</a:t>
            </a:r>
          </a:p>
        </p:txBody>
      </p:sp>
    </p:spTree>
    <p:extLst>
      <p:ext uri="{BB962C8B-B14F-4D97-AF65-F5344CB8AC3E}">
        <p14:creationId xmlns:p14="http://schemas.microsoft.com/office/powerpoint/2010/main" val="179240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영역</a:t>
            </a:r>
            <a:endParaRPr lang="en" altLang="ko-KR" sz="24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Git </a:t>
            </a:r>
            <a:r>
              <a:rPr lang="ko-KR" altLang="en-US" sz="2000" dirty="0"/>
              <a:t>영역은 파일이 수정되고 저장소에 기록되기까지의 단계를 관리하는 세 가지 작업 공간</a:t>
            </a:r>
            <a:r>
              <a:rPr lang="en-US" altLang="ko-KR" sz="2000" dirty="0"/>
              <a:t>(</a:t>
            </a:r>
            <a:r>
              <a:rPr lang="en" altLang="ko-KR" sz="2000" dirty="0"/>
              <a:t>Working Directory, Staging Area, Repository)</a:t>
            </a:r>
            <a:r>
              <a:rPr lang="ko-KR" altLang="en-US" sz="2000" dirty="0"/>
              <a:t>을 의미합니다</a:t>
            </a:r>
            <a:r>
              <a:rPr lang="en-US" altLang="ko-KR" sz="2000" dirty="0"/>
              <a:t>.</a:t>
            </a:r>
            <a:endParaRPr lang="ko-KR" altLang="en-US" sz="1600" dirty="0">
              <a:effectLst/>
              <a:latin typeface="+mn-ea"/>
              <a:ea typeface="+mn-ea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3DA202-4105-D635-36ED-FBA517A7B67B}"/>
              </a:ext>
            </a:extLst>
          </p:cNvPr>
          <p:cNvSpPr/>
          <p:nvPr/>
        </p:nvSpPr>
        <p:spPr bwMode="gray">
          <a:xfrm>
            <a:off x="7383567" y="2100988"/>
            <a:ext cx="4210018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+mj-ea"/>
                <a:ea typeface="+mj-ea"/>
              </a:rPr>
              <a:t>Git 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영역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D9D58-D6FB-34EE-26F8-E96008757A5D}"/>
              </a:ext>
            </a:extLst>
          </p:cNvPr>
          <p:cNvSpPr/>
          <p:nvPr/>
        </p:nvSpPr>
        <p:spPr>
          <a:xfrm>
            <a:off x="7383567" y="2573316"/>
            <a:ext cx="4210018" cy="266366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1200" kern="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Working Directory (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워킹 디렉토리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endParaRPr lang="ko-KR" altLang="en-US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사용자가 실제로 파일을 수정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생성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삭제하는 작업 공간</a:t>
            </a:r>
          </a:p>
          <a:p>
            <a:pPr algn="l"/>
            <a:endParaRPr lang="en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Staging Area (</a:t>
            </a:r>
            <a:r>
              <a:rPr lang="ko-KR" altLang="en-US" sz="12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스테이징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영역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 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Index)</a:t>
            </a:r>
            <a:endParaRPr lang="en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다음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위해 선별된 파일들이 대기하는 중간 영역</a:t>
            </a:r>
          </a:p>
          <a:p>
            <a:pPr algn="l"/>
            <a:endParaRPr lang="en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Repository (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저장소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 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Directory)</a:t>
            </a:r>
            <a:endParaRPr lang="en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프로젝트의 변경 이력이 영구적으로 저장되는 곳</a:t>
            </a:r>
            <a:endParaRPr lang="en-US" altLang="ko-KR" sz="1200" b="1" kern="0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ko-KR" altLang="en-US" sz="1200" b="1" kern="0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2CB1E1-94B5-25B3-EA94-EEBE183DF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99" y="2100988"/>
            <a:ext cx="6157007" cy="313599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4762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D9D58-D6FB-34EE-26F8-E96008757A5D}"/>
              </a:ext>
            </a:extLst>
          </p:cNvPr>
          <p:cNvSpPr/>
          <p:nvPr/>
        </p:nvSpPr>
        <p:spPr>
          <a:xfrm>
            <a:off x="469762" y="1467530"/>
            <a:ext cx="10629927" cy="17172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1200" kern="0" dirty="0">
              <a:solidFill>
                <a:srgbClr val="002060"/>
              </a:solidFill>
              <a:latin typeface="+mn-ea"/>
              <a:ea typeface="+mn-ea"/>
            </a:endParaRPr>
          </a:p>
          <a:p>
            <a:pPr algn="l"/>
            <a:r>
              <a:rPr lang="en-US" altLang="ko-KR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## 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폴더를 </a:t>
            </a:r>
            <a:r>
              <a:rPr lang="ko-KR" altLang="en-US" i="1" dirty="0" err="1">
                <a:solidFill>
                  <a:srgbClr val="969896"/>
                </a:solidFill>
                <a:effectLst/>
                <a:latin typeface="+mn-ea"/>
                <a:ea typeface="+mn-ea"/>
              </a:rPr>
              <a:t>생성후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 폴더 안에서 </a:t>
            </a:r>
            <a:r>
              <a:rPr lang="en" altLang="ko-KR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git </a:t>
            </a:r>
            <a:r>
              <a:rPr lang="en" altLang="ko-KR" i="1" dirty="0" err="1">
                <a:solidFill>
                  <a:srgbClr val="969896"/>
                </a:solidFill>
                <a:effectLst/>
                <a:latin typeface="+mn-ea"/>
                <a:ea typeface="+mn-ea"/>
              </a:rPr>
              <a:t>init</a:t>
            </a:r>
            <a:r>
              <a:rPr lang="ko-KR" altLang="en-US" i="1" dirty="0" err="1">
                <a:solidFill>
                  <a:srgbClr val="969896"/>
                </a:solidFill>
                <a:effectLst/>
                <a:latin typeface="+mn-ea"/>
                <a:ea typeface="+mn-ea"/>
              </a:rPr>
              <a:t>으로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 시작</a:t>
            </a:r>
            <a:r>
              <a:rPr lang="ko-KR" altLang="en-US" i="1" dirty="0">
                <a:latin typeface="+mn-ea"/>
                <a:ea typeface="+mn-ea"/>
              </a:rPr>
              <a:t> </a:t>
            </a:r>
            <a:endParaRPr lang="en-US" altLang="ko-KR" i="1" dirty="0">
              <a:latin typeface="+mn-ea"/>
              <a:ea typeface="+mn-ea"/>
            </a:endParaRPr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  <a:latin typeface="+mn-ea"/>
                <a:ea typeface="+mn-ea"/>
              </a:rPr>
              <a:t>git</a:t>
            </a:r>
            <a:r>
              <a:rPr lang="en" altLang="ko-KR" sz="2000" dirty="0">
                <a:latin typeface="+mn-ea"/>
                <a:ea typeface="+mn-ea"/>
              </a:rPr>
              <a:t> </a:t>
            </a:r>
            <a:r>
              <a:rPr lang="en" altLang="ko-KR" sz="2000" dirty="0" err="1">
                <a:latin typeface="+mn-ea"/>
                <a:ea typeface="+mn-ea"/>
              </a:rPr>
              <a:t>init</a:t>
            </a:r>
            <a:r>
              <a:rPr lang="en" altLang="ko-KR" sz="2000" dirty="0">
                <a:latin typeface="+mn-ea"/>
                <a:ea typeface="+mn-ea"/>
              </a:rPr>
              <a:t> </a:t>
            </a:r>
          </a:p>
          <a:p>
            <a:pPr algn="l"/>
            <a:endParaRPr lang="en" altLang="ko-KR" sz="2000" dirty="0">
              <a:latin typeface="+mn-ea"/>
              <a:ea typeface="+mn-ea"/>
            </a:endParaRPr>
          </a:p>
          <a:p>
            <a:pPr algn="l"/>
            <a:r>
              <a:rPr lang="en" altLang="ko-KR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## or 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이미 생성된 </a:t>
            </a:r>
            <a:r>
              <a:rPr lang="en" altLang="ko-KR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repository</a:t>
            </a:r>
            <a:r>
              <a:rPr lang="ko-KR" altLang="en-US" i="1" dirty="0" err="1">
                <a:solidFill>
                  <a:srgbClr val="969896"/>
                </a:solidFill>
                <a:effectLst/>
                <a:latin typeface="+mn-ea"/>
                <a:ea typeface="+mn-ea"/>
              </a:rPr>
              <a:t>를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 </a:t>
            </a:r>
            <a:r>
              <a:rPr lang="en" altLang="ko-KR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clone</a:t>
            </a:r>
            <a:r>
              <a:rPr lang="ko-KR" altLang="en-US" i="1" dirty="0">
                <a:solidFill>
                  <a:srgbClr val="969896"/>
                </a:solidFill>
                <a:effectLst/>
                <a:latin typeface="+mn-ea"/>
                <a:ea typeface="+mn-ea"/>
              </a:rPr>
              <a:t>하여 시작 </a:t>
            </a:r>
            <a:endParaRPr lang="en-US" altLang="ko-KR" i="1" dirty="0">
              <a:solidFill>
                <a:srgbClr val="969896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  <a:latin typeface="+mn-ea"/>
                <a:ea typeface="+mn-ea"/>
              </a:rPr>
              <a:t>git</a:t>
            </a:r>
            <a:r>
              <a:rPr lang="en" altLang="ko-KR" sz="2000" dirty="0">
                <a:latin typeface="+mn-ea"/>
                <a:ea typeface="+mn-ea"/>
              </a:rPr>
              <a:t> clone https://</a:t>
            </a:r>
            <a:r>
              <a:rPr lang="en" altLang="ko-KR" sz="2000" dirty="0" err="1">
                <a:latin typeface="+mn-ea"/>
                <a:ea typeface="+mn-ea"/>
              </a:rPr>
              <a:t>github.com</a:t>
            </a:r>
            <a:r>
              <a:rPr lang="en" altLang="ko-KR" sz="2000" dirty="0">
                <a:latin typeface="+mn-ea"/>
                <a:ea typeface="+mn-ea"/>
              </a:rPr>
              <a:t>/io203/my-test-</a:t>
            </a:r>
            <a:r>
              <a:rPr lang="en" altLang="ko-KR" sz="2000" dirty="0" err="1">
                <a:latin typeface="+mn-ea"/>
                <a:ea typeface="+mn-ea"/>
              </a:rPr>
              <a:t>lab.git</a:t>
            </a:r>
            <a:br>
              <a:rPr lang="ko-KR" altLang="en-US" sz="2400" dirty="0">
                <a:latin typeface="+mn-ea"/>
                <a:ea typeface="+mn-ea"/>
              </a:rPr>
            </a:br>
            <a:endParaRPr kumimoji="1" lang="ko-KR" altLang="en-US" sz="2400" dirty="0">
              <a:latin typeface="+mn-ea"/>
              <a:ea typeface="+mn-ea"/>
            </a:endParaRPr>
          </a:p>
          <a:p>
            <a:pPr marL="25717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12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로컬의 변경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추가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삭제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사항을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 Repository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저장</a:t>
            </a:r>
          </a:p>
          <a:p>
            <a:pPr marL="171450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ko-KR" altLang="en-US" sz="12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2FCD18-5F04-BF14-BA32-FB722A0B9C02}"/>
              </a:ext>
            </a:extLst>
          </p:cNvPr>
          <p:cNvSpPr/>
          <p:nvPr/>
        </p:nvSpPr>
        <p:spPr>
          <a:xfrm>
            <a:off x="469761" y="4029743"/>
            <a:ext cx="10629927" cy="229414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1200" kern="0" dirty="0">
              <a:solidFill>
                <a:srgbClr val="002060"/>
              </a:solidFill>
              <a:latin typeface="+mn-ea"/>
              <a:ea typeface="+mn-ea"/>
            </a:endParaRPr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</a:rPr>
              <a:t>touch</a:t>
            </a:r>
            <a:r>
              <a:rPr lang="en" altLang="ko-KR" sz="2000" dirty="0"/>
              <a:t> </a:t>
            </a:r>
            <a:r>
              <a:rPr lang="en" altLang="ko-KR" sz="2000" dirty="0" err="1"/>
              <a:t>test.txt</a:t>
            </a:r>
            <a:r>
              <a:rPr lang="en" altLang="ko-KR" sz="2000" dirty="0"/>
              <a:t> </a:t>
            </a:r>
            <a:r>
              <a:rPr lang="en" altLang="ko-KR" sz="2000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sz="2000" dirty="0">
                <a:solidFill>
                  <a:srgbClr val="0086B3"/>
                </a:solidFill>
                <a:effectLst/>
              </a:rPr>
              <a:t>\</a:t>
            </a:r>
            <a:r>
              <a:rPr lang="en" altLang="ko-KR" sz="2000" dirty="0" err="1">
                <a:solidFill>
                  <a:srgbClr val="0086B3"/>
                </a:solidFill>
                <a:effectLst/>
              </a:rPr>
              <a:t>n</a:t>
            </a:r>
            <a:r>
              <a:rPr lang="en" altLang="ko-KR" sz="2000" dirty="0" err="1">
                <a:solidFill>
                  <a:srgbClr val="183691"/>
                </a:solidFill>
                <a:effectLst/>
              </a:rPr>
              <a:t>this</a:t>
            </a:r>
            <a:r>
              <a:rPr lang="en" altLang="ko-KR" sz="2000" dirty="0">
                <a:solidFill>
                  <a:srgbClr val="183691"/>
                </a:solidFill>
                <a:effectLst/>
              </a:rPr>
              <a:t> is git"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A71D5D"/>
                </a:solidFill>
                <a:effectLst/>
              </a:rPr>
              <a:t>&gt;&gt;</a:t>
            </a:r>
            <a:r>
              <a:rPr lang="en" altLang="ko-KR" sz="2000" dirty="0"/>
              <a:t> </a:t>
            </a:r>
            <a:r>
              <a:rPr lang="en" altLang="ko-KR" sz="2000" dirty="0" err="1"/>
              <a:t>test.txt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status </a:t>
            </a:r>
          </a:p>
          <a:p>
            <a:pPr algn="l"/>
            <a:r>
              <a:rPr lang="en" altLang="ko-KR" i="1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i="1" dirty="0">
                <a:solidFill>
                  <a:srgbClr val="969896"/>
                </a:solidFill>
                <a:effectLst/>
              </a:rPr>
              <a:t>파일 </a:t>
            </a:r>
            <a:r>
              <a:rPr lang="ko-KR" altLang="en-US" i="1" dirty="0" err="1">
                <a:solidFill>
                  <a:srgbClr val="969896"/>
                </a:solidFill>
                <a:effectLst/>
              </a:rPr>
              <a:t>변경후</a:t>
            </a:r>
            <a:r>
              <a:rPr lang="en-US" altLang="ko-KR" i="1" dirty="0">
                <a:solidFill>
                  <a:srgbClr val="969896"/>
                </a:solidFill>
                <a:effectLst/>
              </a:rPr>
              <a:t>(</a:t>
            </a:r>
            <a:r>
              <a:rPr lang="ko-KR" altLang="en-US" i="1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i="1" dirty="0">
                <a:solidFill>
                  <a:srgbClr val="969896"/>
                </a:solidFill>
                <a:effectLst/>
              </a:rPr>
              <a:t>, </a:t>
            </a:r>
            <a:r>
              <a:rPr lang="ko-KR" altLang="en-US" i="1" dirty="0">
                <a:solidFill>
                  <a:srgbClr val="969896"/>
                </a:solidFill>
                <a:effectLst/>
              </a:rPr>
              <a:t>수정</a:t>
            </a:r>
            <a:r>
              <a:rPr lang="en-US" altLang="ko-KR" i="1" dirty="0">
                <a:solidFill>
                  <a:srgbClr val="969896"/>
                </a:solidFill>
                <a:effectLst/>
              </a:rPr>
              <a:t>, </a:t>
            </a:r>
            <a:r>
              <a:rPr lang="ko-KR" altLang="en-US" i="1" dirty="0">
                <a:solidFill>
                  <a:srgbClr val="969896"/>
                </a:solidFill>
                <a:effectLst/>
              </a:rPr>
              <a:t>삭제</a:t>
            </a:r>
            <a:r>
              <a:rPr lang="en-US" altLang="ko-KR" i="1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i="1" dirty="0"/>
              <a:t> </a:t>
            </a:r>
            <a:endParaRPr lang="en-US" altLang="ko-KR" i="1" dirty="0"/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status </a:t>
            </a:r>
          </a:p>
          <a:p>
            <a:pPr algn="l"/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/>
              <a:t> </a:t>
            </a:r>
            <a:endParaRPr lang="en-US" altLang="ko-KR" dirty="0"/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commit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sz="2000" dirty="0">
                <a:solidFill>
                  <a:srgbClr val="183691"/>
                </a:solidFill>
                <a:effectLst/>
              </a:rPr>
              <a:t>파일 추가</a:t>
            </a:r>
            <a:r>
              <a:rPr lang="en-US" altLang="ko-KR" sz="2000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status</a:t>
            </a:r>
            <a:endParaRPr lang="ko-KR" altLang="en-US" sz="20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77522"/>
            <a:ext cx="1327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161464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D9D58-D6FB-34EE-26F8-E96008757A5D}"/>
              </a:ext>
            </a:extLst>
          </p:cNvPr>
          <p:cNvSpPr/>
          <p:nvPr/>
        </p:nvSpPr>
        <p:spPr>
          <a:xfrm>
            <a:off x="512301" y="2198913"/>
            <a:ext cx="10629927" cy="144158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2000" kern="0" dirty="0">
              <a:solidFill>
                <a:srgbClr val="002060"/>
              </a:solidFill>
              <a:latin typeface="+mn-ea"/>
              <a:ea typeface="+mn-ea"/>
            </a:endParaRPr>
          </a:p>
          <a:p>
            <a:pPr algn="l"/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사용법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algn="l"/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fetch origin main</a:t>
            </a:r>
            <a:br>
              <a:rPr lang="ko-KR" altLang="en-US" sz="2000" dirty="0">
                <a:latin typeface="+mn-ea"/>
                <a:ea typeface="+mn-ea"/>
              </a:rPr>
            </a:br>
            <a:endParaRPr kumimoji="1" lang="ko-KR" altLang="en-US" sz="2000" dirty="0">
              <a:latin typeface="+mn-ea"/>
              <a:ea typeface="+mn-ea"/>
            </a:endParaRPr>
          </a:p>
          <a:p>
            <a:pPr marL="25717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20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0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2FCD18-5F04-BF14-BA32-FB722A0B9C02}"/>
              </a:ext>
            </a:extLst>
          </p:cNvPr>
          <p:cNvSpPr/>
          <p:nvPr/>
        </p:nvSpPr>
        <p:spPr>
          <a:xfrm>
            <a:off x="512301" y="4868403"/>
            <a:ext cx="10629926" cy="12976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사용법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pull </a:t>
            </a:r>
            <a:r>
              <a:rPr lang="ko-KR" altLang="en-US" sz="2000" dirty="0"/>
              <a:t>또는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pull origin main </a:t>
            </a:r>
          </a:p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git pull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의 내부 진행은 다음과 같다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352425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git fetch origin + git merge origin/main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77522"/>
            <a:ext cx="11002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원격 저장소와의 변경사항을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과 비교 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fetch</a:t>
            </a:r>
            <a:endParaRPr lang="ko-KR" altLang="en-US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ED29B-F30D-4FB1-7A6E-48CE72F7E5D6}"/>
              </a:ext>
            </a:extLst>
          </p:cNvPr>
          <p:cNvSpPr txBox="1"/>
          <p:nvPr/>
        </p:nvSpPr>
        <p:spPr>
          <a:xfrm>
            <a:off x="469762" y="1484045"/>
            <a:ext cx="9692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원격 저장소의 최신 변경 이력을 로컬로 가져오되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내 로컬 코드에 직접 병합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하지 않고 변경 사항 확인만 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EB3A9-62BF-8F95-273B-8070A0D2D2E1}"/>
              </a:ext>
            </a:extLst>
          </p:cNvPr>
          <p:cNvSpPr txBox="1"/>
          <p:nvPr/>
        </p:nvSpPr>
        <p:spPr>
          <a:xfrm>
            <a:off x="469762" y="4174585"/>
            <a:ext cx="4578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원격 저장소와의 변경사항을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반영 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</a:t>
            </a:r>
            <a:endParaRPr kumimoji="1"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B00EF-0EE2-7CD7-0801-9E3FBB3F7232}"/>
              </a:ext>
            </a:extLst>
          </p:cNvPr>
          <p:cNvSpPr txBox="1"/>
          <p:nvPr/>
        </p:nvSpPr>
        <p:spPr>
          <a:xfrm>
            <a:off x="535691" y="4513139"/>
            <a:ext cx="8366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원격 저장소의 최신 변경 사항을 다운로드하여 현재 작업 중인 로컬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즉시 병합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3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8D9D58-D6FB-34EE-26F8-E96008757A5D}"/>
              </a:ext>
            </a:extLst>
          </p:cNvPr>
          <p:cNvSpPr/>
          <p:nvPr/>
        </p:nvSpPr>
        <p:spPr>
          <a:xfrm>
            <a:off x="535691" y="2378507"/>
            <a:ext cx="10629927" cy="73866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## my-test-lab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commit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183691"/>
                </a:solidFill>
                <a:effectLst/>
              </a:rPr>
              <a:t>'local-</a:t>
            </a:r>
            <a:r>
              <a:rPr lang="ko-KR" altLang="en-US" sz="2000" dirty="0">
                <a:solidFill>
                  <a:srgbClr val="183691"/>
                </a:solidFill>
                <a:effectLst/>
              </a:rPr>
              <a:t>수정</a:t>
            </a:r>
            <a:r>
              <a:rPr lang="en-US" altLang="ko-KR" sz="2000" dirty="0">
                <a:solidFill>
                  <a:srgbClr val="183691"/>
                </a:solidFill>
                <a:effectLst/>
              </a:rPr>
              <a:t>’</a:t>
            </a:r>
            <a:br>
              <a:rPr lang="en-US" altLang="ko-KR" sz="2000" dirty="0">
                <a:solidFill>
                  <a:srgbClr val="183691"/>
                </a:solidFill>
                <a:effectLst/>
              </a:rPr>
            </a:br>
            <a:endParaRPr lang="en-US" altLang="ko-KR" sz="20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이제 </a:t>
            </a:r>
            <a:r>
              <a:rPr lang="en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하면 아래와 같은 경고문이 재현된다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20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2FCD18-5F04-BF14-BA32-FB722A0B9C02}"/>
              </a:ext>
            </a:extLst>
          </p:cNvPr>
          <p:cNvSpPr/>
          <p:nvPr/>
        </p:nvSpPr>
        <p:spPr>
          <a:xfrm>
            <a:off x="535691" y="3630263"/>
            <a:ext cx="10629926" cy="278785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600" dirty="0"/>
              <a:t> pull origin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You have divergent branches and need to specify how to reconcile them.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You can </a:t>
            </a:r>
            <a:r>
              <a:rPr lang="en" altLang="ko-KR" sz="1600" dirty="0">
                <a:solidFill>
                  <a:srgbClr val="0086B3"/>
                </a:solidFill>
                <a:effectLst/>
              </a:rPr>
              <a:t>do</a:t>
            </a:r>
            <a:r>
              <a:rPr lang="en" altLang="ko-KR" sz="1600" dirty="0"/>
              <a:t> so by running one of the following commands sometime before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your next pull: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</a:t>
            </a:r>
            <a:r>
              <a:rPr lang="en" altLang="ko-KR" sz="16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600" dirty="0"/>
              <a:t> config </a:t>
            </a:r>
            <a:r>
              <a:rPr lang="en" altLang="ko-KR" sz="1600" dirty="0" err="1"/>
              <a:t>pull.rebase</a:t>
            </a:r>
            <a:r>
              <a:rPr lang="en" altLang="ko-KR" sz="1600" dirty="0"/>
              <a:t> </a:t>
            </a:r>
            <a:r>
              <a:rPr lang="en" altLang="ko-KR" sz="1600" dirty="0">
                <a:solidFill>
                  <a:srgbClr val="0086B3"/>
                </a:solidFill>
                <a:effectLst/>
              </a:rPr>
              <a:t>false</a:t>
            </a:r>
            <a:r>
              <a:rPr lang="en" altLang="ko-KR" sz="1600" dirty="0"/>
              <a:t> </a:t>
            </a:r>
            <a:r>
              <a:rPr lang="en" altLang="ko-KR" sz="1600" dirty="0">
                <a:solidFill>
                  <a:srgbClr val="969896"/>
                </a:solidFill>
                <a:effectLst/>
              </a:rPr>
              <a:t># merge</a:t>
            </a:r>
            <a:r>
              <a:rPr lang="en" altLang="ko-KR" sz="1600" dirty="0"/>
              <a:t> </a:t>
            </a:r>
            <a:endParaRPr lang="en-US" altLang="ko-KR" sz="16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</a:t>
            </a:r>
            <a:r>
              <a:rPr lang="en" altLang="ko-KR" sz="16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600" dirty="0"/>
              <a:t> config </a:t>
            </a:r>
            <a:r>
              <a:rPr lang="en" altLang="ko-KR" sz="1600" dirty="0" err="1"/>
              <a:t>pull.rebase</a:t>
            </a:r>
            <a:r>
              <a:rPr lang="en" altLang="ko-KR" sz="1600" dirty="0"/>
              <a:t> </a:t>
            </a:r>
            <a:r>
              <a:rPr lang="en" altLang="ko-KR" sz="1600" dirty="0">
                <a:solidFill>
                  <a:srgbClr val="0086B3"/>
                </a:solidFill>
                <a:effectLst/>
              </a:rPr>
              <a:t>true</a:t>
            </a:r>
            <a:r>
              <a:rPr lang="en" altLang="ko-KR" sz="1600" dirty="0"/>
              <a:t> </a:t>
            </a:r>
            <a:r>
              <a:rPr lang="en" altLang="ko-KR" sz="1600" dirty="0">
                <a:solidFill>
                  <a:srgbClr val="969896"/>
                </a:solidFill>
                <a:effectLst/>
              </a:rPr>
              <a:t># rebase</a:t>
            </a:r>
            <a:r>
              <a:rPr lang="en" altLang="ko-KR" sz="16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</a:t>
            </a:r>
            <a:r>
              <a:rPr lang="en" altLang="ko-KR" sz="16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600" dirty="0"/>
              <a:t> config </a:t>
            </a:r>
            <a:r>
              <a:rPr lang="en" altLang="ko-KR" sz="1600" dirty="0" err="1"/>
              <a:t>pull.ff</a:t>
            </a:r>
            <a:r>
              <a:rPr lang="en" altLang="ko-KR" sz="1600" dirty="0"/>
              <a:t> only </a:t>
            </a:r>
            <a:r>
              <a:rPr lang="en" altLang="ko-KR" sz="1600" dirty="0">
                <a:solidFill>
                  <a:srgbClr val="969896"/>
                </a:solidFill>
                <a:effectLst/>
              </a:rPr>
              <a:t># fast-forward only</a:t>
            </a:r>
            <a:r>
              <a:rPr lang="en" altLang="ko-KR" sz="16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You can replace </a:t>
            </a:r>
            <a:r>
              <a:rPr lang="en" altLang="ko-KR" sz="1600" dirty="0">
                <a:solidFill>
                  <a:srgbClr val="183691"/>
                </a:solidFill>
                <a:effectLst/>
              </a:rPr>
              <a:t>"git config"</a:t>
            </a:r>
            <a:r>
              <a:rPr lang="en" altLang="ko-KR" sz="1600" dirty="0"/>
              <a:t> with </a:t>
            </a:r>
            <a:r>
              <a:rPr lang="en" altLang="ko-KR" sz="1600" dirty="0">
                <a:solidFill>
                  <a:srgbClr val="183691"/>
                </a:solidFill>
                <a:effectLst/>
              </a:rPr>
              <a:t>"git config --global"</a:t>
            </a:r>
            <a:r>
              <a:rPr lang="en" altLang="ko-KR" sz="1600" dirty="0"/>
              <a:t> to </a:t>
            </a:r>
            <a:r>
              <a:rPr lang="en" altLang="ko-KR" sz="1600" dirty="0">
                <a:solidFill>
                  <a:srgbClr val="795DA3"/>
                </a:solidFill>
                <a:effectLst/>
              </a:rPr>
              <a:t>set</a:t>
            </a:r>
            <a:r>
              <a:rPr lang="en" altLang="ko-KR" sz="1600" dirty="0"/>
              <a:t> a default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preference </a:t>
            </a:r>
            <a:r>
              <a:rPr lang="en" altLang="ko-KR" sz="1600" dirty="0">
                <a:solidFill>
                  <a:srgbClr val="0086B3"/>
                </a:solidFill>
                <a:effectLst/>
              </a:rPr>
              <a:t>for</a:t>
            </a:r>
            <a:r>
              <a:rPr lang="en" altLang="ko-KR" sz="1600" dirty="0"/>
              <a:t> all repositories. You can also pass --rebase, --no-rebase,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or --ff-only on the </a:t>
            </a:r>
            <a:r>
              <a:rPr lang="en" altLang="ko-KR" sz="1600" dirty="0">
                <a:solidFill>
                  <a:srgbClr val="795DA3"/>
                </a:solidFill>
                <a:effectLst/>
              </a:rPr>
              <a:t>command</a:t>
            </a:r>
            <a:r>
              <a:rPr lang="en" altLang="ko-KR" sz="1600" dirty="0"/>
              <a:t> line to override the configured default per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/>
              <a:t>hint: invocation.</a:t>
            </a:r>
            <a:endParaRPr lang="ko-KR" altLang="en-US" sz="16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77522"/>
            <a:ext cx="11002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pull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할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때 발생하는 경고문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ED29B-F30D-4FB1-7A6E-48CE72F7E5D6}"/>
              </a:ext>
            </a:extLst>
          </p:cNvPr>
          <p:cNvSpPr txBox="1"/>
          <p:nvPr/>
        </p:nvSpPr>
        <p:spPr>
          <a:xfrm>
            <a:off x="469762" y="1484045"/>
            <a:ext cx="95958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재현을 위해서 로컬의 같은 내용을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리모트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서버에서 변경한다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github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UI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my-test-lab/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README.md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파일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#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my-test-lab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server 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수정하고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commit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commit Changes)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로컬 노트북의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my-test-lab/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README.md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파일을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#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my-test-lab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 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수정하한다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674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(4/6)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77522"/>
            <a:ext cx="11002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pull 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할때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발생하는 경고문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FC9BA-9C5D-8E69-F443-2FB4186E5754}"/>
              </a:ext>
            </a:extLst>
          </p:cNvPr>
          <p:cNvSpPr txBox="1"/>
          <p:nvPr/>
        </p:nvSpPr>
        <p:spPr>
          <a:xfrm>
            <a:off x="469762" y="1477059"/>
            <a:ext cx="97257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pull 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할경우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위와 같은 에러 메세지가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발생할수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있는데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2.27+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부터는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전략을 명시하지 않으면 중단함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**에러가 아니라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행동 방식을 명시해 달라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안내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guard rail)**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config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pull.rebase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false :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공동으로 협업하는 프로젝트인 경우 필히 이것으로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 해야 한다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config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설정은 기본적으로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--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생략된 것으로 해당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repository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전용이다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저장위치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:.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git/config)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repository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적용 하려면 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config --global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pull.rebase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false 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사용자 전체에 해당된다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저장위치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~/.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gitconfig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DDB20-5B8A-B9D0-35D3-E2A67B3341E0}"/>
              </a:ext>
            </a:extLst>
          </p:cNvPr>
          <p:cNvSpPr txBox="1"/>
          <p:nvPr/>
        </p:nvSpPr>
        <p:spPr>
          <a:xfrm>
            <a:off x="469761" y="3365175"/>
            <a:ext cx="3888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 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범위별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차이 한눈에 보기</a:t>
            </a:r>
            <a:endParaRPr kumimoji="1" lang="ko-KR" altLang="en-US" sz="16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80EA940-73F1-31B2-41D5-FF95AB514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065839"/>
              </p:ext>
            </p:extLst>
          </p:nvPr>
        </p:nvGraphicFramePr>
        <p:xfrm>
          <a:off x="531312" y="3751636"/>
          <a:ext cx="9868920" cy="1638300"/>
        </p:xfrm>
        <a:graphic>
          <a:graphicData uri="http://schemas.openxmlformats.org/drawingml/2006/table">
            <a:tbl>
              <a:tblPr/>
              <a:tblGrid>
                <a:gridCol w="3289640">
                  <a:extLst>
                    <a:ext uri="{9D8B030D-6E8A-4147-A177-3AD203B41FA5}">
                      <a16:colId xmlns:a16="http://schemas.microsoft.com/office/drawing/2014/main" val="295177947"/>
                    </a:ext>
                  </a:extLst>
                </a:gridCol>
                <a:gridCol w="3289640">
                  <a:extLst>
                    <a:ext uri="{9D8B030D-6E8A-4147-A177-3AD203B41FA5}">
                      <a16:colId xmlns:a16="http://schemas.microsoft.com/office/drawing/2014/main" val="2099825909"/>
                    </a:ext>
                  </a:extLst>
                </a:gridCol>
                <a:gridCol w="3289640">
                  <a:extLst>
                    <a:ext uri="{9D8B030D-6E8A-4147-A177-3AD203B41FA5}">
                      <a16:colId xmlns:a16="http://schemas.microsoft.com/office/drawing/2014/main" val="3692293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명령어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>
                          <a:solidFill>
                            <a:srgbClr val="000000"/>
                          </a:solidFill>
                          <a:effectLst/>
                        </a:rPr>
                        <a:t>적용 범위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설정 파일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932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git config </a:t>
                      </a:r>
                      <a:r>
                        <a:rPr lang="en" dirty="0" err="1">
                          <a:effectLst/>
                        </a:rPr>
                        <a:t>pull.rebase</a:t>
                      </a:r>
                      <a:r>
                        <a:rPr lang="en" dirty="0">
                          <a:effectLst/>
                        </a:rPr>
                        <a:t> false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local (repo </a:t>
                      </a:r>
                      <a:r>
                        <a:rPr lang="ko-KR" altLang="en-US" dirty="0">
                          <a:effectLst/>
                        </a:rPr>
                        <a:t>전용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.git/config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87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git config --local </a:t>
                      </a:r>
                      <a:r>
                        <a:rPr lang="en" dirty="0" err="1">
                          <a:effectLst/>
                        </a:rPr>
                        <a:t>pull.rebase</a:t>
                      </a:r>
                      <a:r>
                        <a:rPr lang="en" dirty="0">
                          <a:effectLst/>
                        </a:rPr>
                        <a:t> false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local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.git/config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88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git config --global pull.rebase false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global (</a:t>
                      </a:r>
                      <a:r>
                        <a:rPr lang="ko-KR" altLang="en-US">
                          <a:effectLst/>
                        </a:rPr>
                        <a:t>사용자 전체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~/.</a:t>
                      </a:r>
                      <a:r>
                        <a:rPr lang="en" dirty="0" err="1">
                          <a:effectLst/>
                        </a:rPr>
                        <a:t>gitconfig</a:t>
                      </a:r>
                      <a:endParaRPr lang="en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3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git config --system </a:t>
                      </a:r>
                      <a:r>
                        <a:rPr lang="en" dirty="0" err="1">
                          <a:effectLst/>
                        </a:rPr>
                        <a:t>pull.rebase</a:t>
                      </a:r>
                      <a:r>
                        <a:rPr lang="en" dirty="0">
                          <a:effectLst/>
                        </a:rPr>
                        <a:t> false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system (</a:t>
                      </a:r>
                      <a:r>
                        <a:rPr lang="ko-KR" altLang="en-US" dirty="0">
                          <a:effectLst/>
                        </a:rPr>
                        <a:t>전체 사용자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`/</a:t>
                      </a:r>
                      <a:r>
                        <a:rPr lang="en" dirty="0" err="1">
                          <a:effectLst/>
                        </a:rPr>
                        <a:t>etc</a:t>
                      </a:r>
                      <a:r>
                        <a:rPr lang="en" dirty="0">
                          <a:effectLst/>
                        </a:rPr>
                        <a:t>/</a:t>
                      </a:r>
                      <a:r>
                        <a:rPr lang="en" dirty="0" err="1">
                          <a:effectLst/>
                        </a:rPr>
                        <a:t>gitcon</a:t>
                      </a:r>
                      <a:endParaRPr lang="en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1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159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(5/6)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77522"/>
            <a:ext cx="11002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우선순위 규칙 </a:t>
            </a:r>
            <a:endParaRPr lang="en-US" altLang="ko-KR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7C353-5AAF-E5B5-0FF4-92132DCD2A4A}"/>
              </a:ext>
            </a:extLst>
          </p:cNvPr>
          <p:cNvSpPr txBox="1"/>
          <p:nvPr/>
        </p:nvSpPr>
        <p:spPr>
          <a:xfrm>
            <a:off x="469762" y="1422510"/>
            <a:ext cx="35173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설정은 아래 순서로 우선 적용된다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1EB238-3AEC-9784-0B33-99FD280A8060}"/>
              </a:ext>
            </a:extLst>
          </p:cNvPr>
          <p:cNvSpPr/>
          <p:nvPr/>
        </p:nvSpPr>
        <p:spPr>
          <a:xfrm>
            <a:off x="563765" y="3717775"/>
            <a:ext cx="10539614" cy="20659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600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실제적용 여부 확인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--get</a:t>
            </a:r>
            <a:r>
              <a:rPr lang="en" altLang="ko-KR" sz="2000" dirty="0"/>
              <a:t> </a:t>
            </a:r>
            <a:r>
              <a:rPr lang="en" altLang="ko-KR" sz="2000" dirty="0" err="1"/>
              <a:t>pull.rebase</a:t>
            </a:r>
            <a:r>
              <a:rPr lang="en" altLang="ko-KR" sz="20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전체 설정 확인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--list</a:t>
            </a:r>
            <a:r>
              <a:rPr lang="en" altLang="ko-KR" sz="20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## config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수정 </a:t>
            </a:r>
            <a:endParaRPr lang="en-US" altLang="ko-KR" sz="1600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-e</a:t>
            </a:r>
            <a:endParaRPr lang="ko-KR" altLang="en-US" sz="16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EEE44-02DF-509B-266A-DC803549C62B}"/>
              </a:ext>
            </a:extLst>
          </p:cNvPr>
          <p:cNvSpPr/>
          <p:nvPr/>
        </p:nvSpPr>
        <p:spPr>
          <a:xfrm>
            <a:off x="563765" y="1797437"/>
            <a:ext cx="10539614" cy="41542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/>
              <a:t>local &gt; global &gt; system</a:t>
            </a:r>
            <a:endParaRPr lang="ko-KR" altLang="en-US" sz="16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3E107-5DA1-9C28-2C63-B22B499AD1B5}"/>
              </a:ext>
            </a:extLst>
          </p:cNvPr>
          <p:cNvSpPr txBox="1"/>
          <p:nvPr/>
        </p:nvSpPr>
        <p:spPr>
          <a:xfrm>
            <a:off x="469762" y="2361238"/>
            <a:ext cx="46009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예시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</a:p>
          <a:p>
            <a:pPr algn="l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   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global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pull.rebase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=true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설정되어 있고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    l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ocal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pull.rebase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=false ==&gt; local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설정이 최종 적용</a:t>
            </a:r>
          </a:p>
        </p:txBody>
      </p:sp>
    </p:spTree>
    <p:extLst>
      <p:ext uri="{BB962C8B-B14F-4D97-AF65-F5344CB8AC3E}">
        <p14:creationId xmlns:p14="http://schemas.microsoft.com/office/powerpoint/2010/main" val="108794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시작하기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(6/6)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B58F-E93B-A62B-F97C-82086F2D736C}"/>
              </a:ext>
            </a:extLst>
          </p:cNvPr>
          <p:cNvSpPr txBox="1"/>
          <p:nvPr/>
        </p:nvSpPr>
        <p:spPr>
          <a:xfrm>
            <a:off x="469762" y="1007012"/>
            <a:ext cx="11002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diff tool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등록 및 사용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1EB238-3AEC-9784-0B33-99FD280A8060}"/>
              </a:ext>
            </a:extLst>
          </p:cNvPr>
          <p:cNvSpPr/>
          <p:nvPr/>
        </p:nvSpPr>
        <p:spPr>
          <a:xfrm>
            <a:off x="538127" y="1543079"/>
            <a:ext cx="11067061" cy="335368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 VS Code</a:t>
            </a:r>
            <a:r>
              <a:rPr lang="ko-KR" altLang="en-US" sz="1600" dirty="0" err="1">
                <a:solidFill>
                  <a:srgbClr val="969896"/>
                </a:solidFill>
                <a:effectLst/>
              </a:rPr>
              <a:t>를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 </a:t>
            </a:r>
            <a:r>
              <a:rPr lang="en" altLang="ko-KR" sz="1600" dirty="0">
                <a:solidFill>
                  <a:srgbClr val="969896"/>
                </a:solidFill>
                <a:effectLst/>
              </a:rPr>
              <a:t>diff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도구로 등록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--global</a:t>
            </a:r>
            <a:r>
              <a:rPr lang="en" altLang="ko-KR" sz="2000" dirty="0"/>
              <a:t> </a:t>
            </a:r>
            <a:r>
              <a:rPr lang="en" altLang="ko-KR" sz="2000" dirty="0" err="1"/>
              <a:t>diff.tool</a:t>
            </a:r>
            <a:r>
              <a:rPr lang="en" altLang="ko-KR" sz="2000" dirty="0"/>
              <a:t> </a:t>
            </a:r>
            <a:r>
              <a:rPr lang="en" altLang="ko-KR" sz="2000" dirty="0" err="1"/>
              <a:t>vscode</a:t>
            </a:r>
            <a:r>
              <a:rPr lang="en" altLang="ko-KR" sz="20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--global</a:t>
            </a:r>
            <a:r>
              <a:rPr lang="en" altLang="ko-KR" sz="2000" dirty="0"/>
              <a:t> </a:t>
            </a:r>
            <a:r>
              <a:rPr lang="en" altLang="ko-KR" sz="2000" dirty="0" err="1"/>
              <a:t>difftool.vscode.cmd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183691"/>
                </a:solidFill>
                <a:effectLst/>
              </a:rPr>
              <a:t>'code --wait --reuse-window --diff $LOCAL $REMOTE’</a:t>
            </a:r>
            <a:r>
              <a:rPr lang="en" altLang="ko-KR" sz="20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600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 (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선택</a:t>
            </a:r>
            <a:r>
              <a:rPr lang="en-US" altLang="ko-KR" sz="1600" dirty="0">
                <a:solidFill>
                  <a:srgbClr val="969896"/>
                </a:solidFill>
                <a:effectLst/>
              </a:rPr>
              <a:t>)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실행 시 매번 물어보는 메시지 생략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config </a:t>
            </a:r>
            <a:r>
              <a:rPr lang="en" altLang="ko-KR" sz="2000" dirty="0">
                <a:solidFill>
                  <a:srgbClr val="333333"/>
                </a:solidFill>
                <a:effectLst/>
              </a:rPr>
              <a:t>--global</a:t>
            </a:r>
            <a:r>
              <a:rPr lang="en" altLang="ko-KR" sz="2000" dirty="0"/>
              <a:t> </a:t>
            </a:r>
            <a:r>
              <a:rPr lang="en" altLang="ko-KR" sz="2000" dirty="0" err="1"/>
              <a:t>difftool.prompt</a:t>
            </a:r>
            <a:r>
              <a:rPr lang="en" altLang="ko-KR" sz="2000" dirty="0"/>
              <a:t> </a:t>
            </a:r>
            <a:r>
              <a:rPr lang="en" altLang="ko-KR" sz="2000" dirty="0">
                <a:solidFill>
                  <a:srgbClr val="0086B3"/>
                </a:solidFill>
                <a:effectLst/>
              </a:rPr>
              <a:t>false</a:t>
            </a:r>
            <a:r>
              <a:rPr lang="en" altLang="ko-KR" sz="2000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600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sz="1600" dirty="0">
                <a:solidFill>
                  <a:srgbClr val="969896"/>
                </a:solidFill>
                <a:effectLst/>
              </a:rPr>
              <a:t>다음과 같이 사용하면 된다 </a:t>
            </a:r>
            <a:endParaRPr lang="en-US" altLang="ko-KR" sz="1600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</a:t>
            </a:r>
            <a:r>
              <a:rPr lang="en" altLang="ko-KR" sz="2000" dirty="0" err="1"/>
              <a:t>difftool</a:t>
            </a:r>
            <a:r>
              <a:rPr lang="en" altLang="ko-KR" sz="2000" dirty="0"/>
              <a:t> origin/main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600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600" dirty="0">
                <a:solidFill>
                  <a:srgbClr val="969896"/>
                </a:solidFill>
                <a:effectLst/>
              </a:rPr>
              <a:t>## or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2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2000" dirty="0"/>
              <a:t> </a:t>
            </a:r>
            <a:r>
              <a:rPr lang="en" altLang="ko-KR" sz="2000" dirty="0" err="1"/>
              <a:t>difftool</a:t>
            </a:r>
            <a:r>
              <a:rPr lang="en" altLang="ko-KR" sz="2000" dirty="0"/>
              <a:t> main origin/main</a:t>
            </a:r>
            <a:endParaRPr lang="ko-KR" altLang="en-US" sz="2000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1202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1708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 , retore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47955" y="999525"/>
            <a:ext cx="11562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작업을 하는 이유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05324-6128-D3BB-AF9E-CD4EB7FC2A66}"/>
              </a:ext>
            </a:extLst>
          </p:cNvPr>
          <p:cNvSpPr txBox="1"/>
          <p:nvPr/>
        </p:nvSpPr>
        <p:spPr>
          <a:xfrm>
            <a:off x="499872" y="1382394"/>
            <a:ext cx="104054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단편적인 예로 이전 돌아가고 싶은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가고 싶을 때 사용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릴리즈를 했는데 치명적인 버그로 인하여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롤백해야하는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경우 이전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되돌아가기 위해 위 명령어를 사용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88EF7-E136-C8AC-6A53-992364E5C7C9}"/>
              </a:ext>
            </a:extLst>
          </p:cNvPr>
          <p:cNvSpPr txBox="1"/>
          <p:nvPr/>
        </p:nvSpPr>
        <p:spPr>
          <a:xfrm>
            <a:off x="420985" y="2829715"/>
            <a:ext cx="11562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>
                <a:effectLst/>
                <a:highlight>
                  <a:srgbClr val="FFFFFF"/>
                </a:highlight>
                <a:latin typeface="Helvetica Neue" panose="02000503000000020004" pitchFamily="2" charset="0"/>
              </a:defRPr>
            </a:lvl1pPr>
          </a:lstStyle>
          <a:p>
            <a:r>
              <a:rPr lang="en" altLang="ko-KR" sz="1600" b="1" dirty="0"/>
              <a:t>reset, revert </a:t>
            </a:r>
            <a:r>
              <a:rPr lang="ko-KR" altLang="en-US" sz="1600" b="1" dirty="0"/>
              <a:t>차이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7163C-2321-F977-933F-77B0D524CD77}"/>
              </a:ext>
            </a:extLst>
          </p:cNvPr>
          <p:cNvSpPr txBox="1"/>
          <p:nvPr/>
        </p:nvSpPr>
        <p:spPr>
          <a:xfrm>
            <a:off x="664464" y="3313657"/>
            <a:ext cx="10491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둘다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이전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되돌린다는 점에서는 동일하나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github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같은 온라인 저장소에 올라가 다른 사람간 코드 공유의 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reset)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따라서 달라진다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0D44AE-BF66-4185-92EC-F5D17FE80BC1}"/>
              </a:ext>
            </a:extLst>
          </p:cNvPr>
          <p:cNvSpPr txBox="1"/>
          <p:nvPr/>
        </p:nvSpPr>
        <p:spPr>
          <a:xfrm>
            <a:off x="499872" y="4320819"/>
            <a:ext cx="6626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400">
                <a:effectLst/>
                <a:highlight>
                  <a:srgbClr val="FFFFFF"/>
                </a:highlight>
                <a:latin typeface="Helvetica Neue" panose="02000503000000020004" pitchFamily="2" charset="0"/>
              </a:defRPr>
            </a:lvl1pPr>
          </a:lstStyle>
          <a:p>
            <a:r>
              <a:rPr lang="en" altLang="ko-KR" sz="1600" b="1" dirty="0"/>
              <a:t>reset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9ADB75-39A7-F846-EE01-A50B4EFB7B51}"/>
              </a:ext>
            </a:extLst>
          </p:cNvPr>
          <p:cNvSpPr txBox="1"/>
          <p:nvPr/>
        </p:nvSpPr>
        <p:spPr>
          <a:xfrm>
            <a:off x="644679" y="4866316"/>
            <a:ext cx="95510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origin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올리지 않고 로컬에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머물렀다면 또는 올라갔어도 나만 해당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사용한다면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써도 좋다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사용법은 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 --option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돌아갈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이다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038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1756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revert, retore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469762" y="723274"/>
            <a:ext cx="11562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2400" dirty="0"/>
              <a:t>reset </a:t>
            </a:r>
            <a:r>
              <a:rPr lang="ko-KR" altLang="en-US" sz="2400" dirty="0"/>
              <a:t>실습</a:t>
            </a:r>
            <a:endParaRPr lang="ko-KR" altLang="en-US" sz="24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FB9F1C-2D25-83A4-51A4-9278D965F17E}"/>
              </a:ext>
            </a:extLst>
          </p:cNvPr>
          <p:cNvSpPr/>
          <p:nvPr/>
        </p:nvSpPr>
        <p:spPr>
          <a:xfrm>
            <a:off x="469762" y="1134756"/>
            <a:ext cx="10539614" cy="529042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reset1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추가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reset1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reset2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추가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reset2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"2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reset3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추가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reset3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reset4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추가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reset4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"4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log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commit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을 바로 이전 상황으로 되돌리기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reset HEAD^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log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여러개의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commit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이전으로 돌리는 경우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reset HEAD~2 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2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되돌아간다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[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git commit hash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를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써도 된다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]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commit log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만 되돌아 가고 파일의 내용은 변경이 없다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log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git reset --hard [2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번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commit [1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번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commit hash]]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hard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옵션을 사용하면 돌아간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이후의 변경 이력은 모두 삭제된다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reset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--hard</a:t>
            </a:r>
            <a:r>
              <a:rPr lang="en" altLang="ko-KR" dirty="0"/>
              <a:t> e8a82aa0261ee9071b75cc05005f8f54697da4e7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reset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--hard</a:t>
            </a:r>
            <a:r>
              <a:rPr lang="en" altLang="ko-KR" dirty="0"/>
              <a:t> HEAD^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3311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1602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 , retore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14995" y="1178038"/>
            <a:ext cx="11562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origin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에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 올린 상태에서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reset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하고 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push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한다면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ea"/>
                <a:ea typeface="+mn-ea"/>
              </a:rPr>
              <a:t>?</a:t>
            </a:r>
            <a:r>
              <a:rPr lang="en" altLang="ko-KR" sz="1600" dirty="0">
                <a:latin typeface="+mn-ea"/>
                <a:ea typeface="+mn-ea"/>
              </a:rPr>
              <a:t> </a:t>
            </a:r>
            <a:endParaRPr lang="ko-KR" altLang="en-US" sz="16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ea"/>
              <a:ea typeface="+mn-ea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33265-D882-2A40-E685-BE5E7AD4F042}"/>
              </a:ext>
            </a:extLst>
          </p:cNvPr>
          <p:cNvSpPr txBox="1"/>
          <p:nvPr/>
        </p:nvSpPr>
        <p:spPr>
          <a:xfrm>
            <a:off x="567498" y="1587958"/>
            <a:ext cx="781656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로컬은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origin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commit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삭제한 채로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origin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덮으려고 하니 당연히 에러가 뜨게 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이럴땐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--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force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옵션을 주어 강제로 로컬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commit history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origin commit history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덮어쓴다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commit log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내용으로 덮어 쓴다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따라서 만약 해당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repo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다른 사람들과 공유하고 있다면 무조건 하면 안되는 행동이다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5FB32-4309-CA14-A2F8-65220A1AF489}"/>
              </a:ext>
            </a:extLst>
          </p:cNvPr>
          <p:cNvSpPr txBox="1"/>
          <p:nvPr/>
        </p:nvSpPr>
        <p:spPr>
          <a:xfrm>
            <a:off x="414528" y="2986159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사용하는 경우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A24AC-A49D-56F9-63D1-059CC4ADA0E4}"/>
              </a:ext>
            </a:extLst>
          </p:cNvPr>
          <p:cNvSpPr txBox="1"/>
          <p:nvPr/>
        </p:nvSpPr>
        <p:spPr>
          <a:xfrm>
            <a:off x="567498" y="3365302"/>
            <a:ext cx="756168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위처럼 다른 사람간 코드가 공유될 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사용하면 상상치도 못하는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헬게이트가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열린다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그러므로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사용하는 경우는 아래와 같다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혼자만 사용하는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브랜치인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경우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origin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있지만 아무도 이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사용하지 않는다는 확신을 가지는 경우</a:t>
            </a:r>
          </a:p>
          <a:p>
            <a:br>
              <a:rPr lang="ko-KR" altLang="en-US" dirty="0"/>
            </a:b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0C429-1BB4-A476-2FF6-02A766A83688}"/>
              </a:ext>
            </a:extLst>
          </p:cNvPr>
          <p:cNvSpPr txBox="1"/>
          <p:nvPr/>
        </p:nvSpPr>
        <p:spPr>
          <a:xfrm>
            <a:off x="351741" y="5019817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EFF09-8F87-742E-C811-4B49C128D4A6}"/>
              </a:ext>
            </a:extLst>
          </p:cNvPr>
          <p:cNvSpPr txBox="1"/>
          <p:nvPr/>
        </p:nvSpPr>
        <p:spPr>
          <a:xfrm>
            <a:off x="567498" y="5415136"/>
            <a:ext cx="585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과 다르게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삭제하는 것이 아닌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추가한다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543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0889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 , retore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(4/7)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444125" y="1034650"/>
            <a:ext cx="115620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2000" dirty="0"/>
              <a:t>revert </a:t>
            </a:r>
            <a:r>
              <a:rPr lang="ko-KR" altLang="en-US" sz="2000" dirty="0"/>
              <a:t>실습</a:t>
            </a:r>
            <a:endParaRPr lang="ko-KR" altLang="en-US" sz="20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FB9F1C-2D25-83A4-51A4-9278D965F17E}"/>
              </a:ext>
            </a:extLst>
          </p:cNvPr>
          <p:cNvSpPr/>
          <p:nvPr/>
        </p:nvSpPr>
        <p:spPr>
          <a:xfrm>
            <a:off x="530722" y="1640710"/>
            <a:ext cx="10539614" cy="35765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-c</a:t>
            </a:r>
            <a:r>
              <a:rPr lang="en" altLang="ko-KR" dirty="0"/>
              <a:t> revert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revert-test1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revert-test1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"revert1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revert-test2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revert-test2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"revert2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revert-test3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revert-test3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"revert3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log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</a:t>
            </a:r>
            <a:r>
              <a:rPr lang="en" altLang="ko-KR" dirty="0" err="1">
                <a:solidFill>
                  <a:srgbClr val="333333"/>
                </a:solidFill>
                <a:effectLst/>
              </a:rPr>
              <a:t>oneline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revert 00c591d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..</a:t>
            </a:r>
            <a:r>
              <a:rPr lang="en" altLang="ko-KR" dirty="0"/>
              <a:t>HEAD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'revert1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'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되돌린다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revert3, revert2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는 삭제된다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 Revert "revert3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",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 "revert2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" 2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개의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메세지가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commit log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로 생성된다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물론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file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내용도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커밋으로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복원 되면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revert2,revert1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은 삭제 된다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revert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시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error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발생시 복구 명령어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revert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--abort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1A2E13-B7E1-E7CF-EA4F-21E278C6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2" y="5302508"/>
            <a:ext cx="2508569" cy="102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5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039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revert, retore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(5/7)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469762" y="852229"/>
            <a:ext cx="11562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하나씩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방법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FB9F1C-2D25-83A4-51A4-9278D965F17E}"/>
              </a:ext>
            </a:extLst>
          </p:cNvPr>
          <p:cNvSpPr/>
          <p:nvPr/>
        </p:nvSpPr>
        <p:spPr>
          <a:xfrm>
            <a:off x="530722" y="1319401"/>
            <a:ext cx="10539614" cy="718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revert f256be3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revert3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revert 2002a20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revert2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BC9AD-7F80-2FD6-EED3-71CC61AB2BF2}"/>
              </a:ext>
            </a:extLst>
          </p:cNvPr>
          <p:cNvSpPr txBox="1"/>
          <p:nvPr/>
        </p:nvSpPr>
        <p:spPr>
          <a:xfrm>
            <a:off x="661851" y="2117764"/>
            <a:ext cx="32848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순서 중요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최신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커밋부터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해야 한다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결과는 동일하지만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 생김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2E985-79DF-1415-EA28-C832164B95B9}"/>
              </a:ext>
            </a:extLst>
          </p:cNvPr>
          <p:cNvSpPr txBox="1"/>
          <p:nvPr/>
        </p:nvSpPr>
        <p:spPr>
          <a:xfrm>
            <a:off x="530722" y="2972858"/>
            <a:ext cx="1454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B436-53EA-937E-AAA6-2339032C36AA}"/>
              </a:ext>
            </a:extLst>
          </p:cNvPr>
          <p:cNvSpPr txBox="1"/>
          <p:nvPr/>
        </p:nvSpPr>
        <p:spPr>
          <a:xfrm>
            <a:off x="661851" y="3265088"/>
            <a:ext cx="63546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push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→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로만 복구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push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 →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가능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했지만 아직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push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경우만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허용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항상 되돌릴 수 있지만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reset/rebase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되돌릴 수 없을 수도 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56C54-5D29-BABC-C5CF-1DF4069182BF}"/>
              </a:ext>
            </a:extLst>
          </p:cNvPr>
          <p:cNvSpPr txBox="1"/>
          <p:nvPr/>
        </p:nvSpPr>
        <p:spPr>
          <a:xfrm>
            <a:off x="530722" y="4249815"/>
            <a:ext cx="798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restore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02455-D68D-7BCF-9F5B-3E3EC890D522}"/>
              </a:ext>
            </a:extLst>
          </p:cNvPr>
          <p:cNvSpPr txBox="1"/>
          <p:nvPr/>
        </p:nvSpPr>
        <p:spPr>
          <a:xfrm>
            <a:off x="844731" y="4702629"/>
            <a:ext cx="884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restore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작업 트리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working tree)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스테이징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영역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index)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변경을 “되돌리기” 전용으로 분리한 명령어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핵심은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히스토리는 건드리지 않고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아직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커밋되지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않은 변경만 취소한다는 점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42071-0A63-FB23-74C6-7BF8138FEB54}"/>
              </a:ext>
            </a:extLst>
          </p:cNvPr>
          <p:cNvSpPr txBox="1"/>
          <p:nvPr/>
        </p:nvSpPr>
        <p:spPr>
          <a:xfrm>
            <a:off x="658160" y="5225849"/>
            <a:ext cx="1136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r</a:t>
            </a:r>
            <a:r>
              <a:rPr lang="en-US" altLang="ko-KR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esote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역할</a:t>
            </a:r>
          </a:p>
          <a:p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6AA37-9A07-98E5-2FF7-741D6C2652BC}"/>
              </a:ext>
            </a:extLst>
          </p:cNvPr>
          <p:cNvSpPr txBox="1"/>
          <p:nvPr/>
        </p:nvSpPr>
        <p:spPr>
          <a:xfrm>
            <a:off x="775064" y="5528717"/>
            <a:ext cx="38443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restore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것은 절대 변경하지 않음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add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안 했으면 →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상태로 복원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add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했으면 →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add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된 상태로 복원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324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039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revert, retore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(6/7)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FB9F1C-2D25-83A4-51A4-9278D965F17E}"/>
              </a:ext>
            </a:extLst>
          </p:cNvPr>
          <p:cNvSpPr/>
          <p:nvPr/>
        </p:nvSpPr>
        <p:spPr>
          <a:xfrm>
            <a:off x="518940" y="1190083"/>
            <a:ext cx="10539614" cy="52522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main</a:t>
            </a:r>
            <a:endParaRPr lang="en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 err="1">
                <a:solidFill>
                  <a:srgbClr val="969896"/>
                </a:solidFill>
                <a:effectLst/>
              </a:rPr>
              <a:t>file.txt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새로 추가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touch</a:t>
            </a:r>
            <a:r>
              <a:rPr lang="en" altLang="ko-KR" dirty="0"/>
              <a:t> </a:t>
            </a:r>
            <a:r>
              <a:rPr lang="en" altLang="ko-KR" dirty="0" err="1"/>
              <a:t>file.txt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 err="1">
                <a:solidFill>
                  <a:srgbClr val="183691"/>
                </a:solidFill>
                <a:effectLst/>
              </a:rPr>
              <a:t>file.txt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생성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내용에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restore-test1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add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전으로 →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상태로 복원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dirty="0"/>
              <a:t>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내용에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restore-test2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restore-test2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add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된 상태이므로 →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add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된 상태로 복원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즉 변경사항 없음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 err="1">
                <a:solidFill>
                  <a:srgbClr val="969896"/>
                </a:solidFill>
                <a:effectLst/>
              </a:rPr>
              <a:t>file.txt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변경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restore-test3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restore-test3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restore-test3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지워짐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이전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add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상태로 복원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restore-test2)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status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여전히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stash area(index)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는 존재함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 err="1">
                <a:solidFill>
                  <a:srgbClr val="969896"/>
                </a:solidFill>
                <a:effectLst/>
              </a:rPr>
              <a:t>file.txt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변경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restore-test3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restore-test3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변경사항 없음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--staged</a:t>
            </a:r>
            <a:r>
              <a:rPr lang="en" altLang="ko-KR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index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에서 제거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,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다시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untracked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상태로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돌아감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git add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취소와 같음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),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file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내용은 변함 없음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이것을 한다면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커밋상태로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복원 한다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 err="1">
                <a:solidFill>
                  <a:srgbClr val="969896"/>
                </a:solidFill>
                <a:effectLst/>
              </a:rPr>
              <a:t>file.txt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변경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restore-test4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restore-test4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 err="1">
                <a:solidFill>
                  <a:srgbClr val="183691"/>
                </a:solidFill>
                <a:effectLst/>
              </a:rPr>
              <a:t>resotre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 commit"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restore </a:t>
            </a:r>
            <a:r>
              <a:rPr lang="en" altLang="ko-KR" dirty="0" err="1"/>
              <a:t>file.txt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add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한것이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없으므로 →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상태로 복원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상태에서는 변경사항 없음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)</a:t>
            </a:r>
            <a:r>
              <a:rPr lang="ko-KR" altLang="en-US" dirty="0"/>
              <a:t> </a:t>
            </a:r>
            <a:br>
              <a:rPr lang="ko-KR" altLang="en-US" dirty="0"/>
            </a:b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5AC3F-AD71-341F-BEA4-894610136048}"/>
              </a:ext>
            </a:extLst>
          </p:cNvPr>
          <p:cNvSpPr txBox="1"/>
          <p:nvPr/>
        </p:nvSpPr>
        <p:spPr>
          <a:xfrm>
            <a:off x="618309" y="101019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CE245D-56D8-FCD7-CDB7-808F3269B0DD}"/>
              </a:ext>
            </a:extLst>
          </p:cNvPr>
          <p:cNvSpPr txBox="1"/>
          <p:nvPr/>
        </p:nvSpPr>
        <p:spPr>
          <a:xfrm>
            <a:off x="433482" y="876537"/>
            <a:ext cx="3719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highlight>
                  <a:srgbClr val="FFFFFF"/>
                </a:highlight>
                <a:latin typeface="Helvetica Neue" panose="02000503000000020004" pitchFamily="2" charset="0"/>
              </a:rPr>
              <a:t>restore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어떻게 사용하는가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?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82729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1039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reset, revert, retore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이전 </a:t>
            </a:r>
            <a:r>
              <a:rPr lang="ko-KR" altLang="en-US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돌리기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(7/7)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5AC3F-AD71-341F-BEA4-894610136048}"/>
              </a:ext>
            </a:extLst>
          </p:cNvPr>
          <p:cNvSpPr txBox="1"/>
          <p:nvPr/>
        </p:nvSpPr>
        <p:spPr>
          <a:xfrm>
            <a:off x="618309" y="101019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CE245D-56D8-FCD7-CDB7-808F3269B0DD}"/>
              </a:ext>
            </a:extLst>
          </p:cNvPr>
          <p:cNvSpPr txBox="1"/>
          <p:nvPr/>
        </p:nvSpPr>
        <p:spPr>
          <a:xfrm>
            <a:off x="710674" y="1671290"/>
            <a:ext cx="330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1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restore vs reset vs revert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B72851B-D6AB-9940-97BE-55857FAF6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70129"/>
              </p:ext>
            </p:extLst>
          </p:nvPr>
        </p:nvGraphicFramePr>
        <p:xfrm>
          <a:off x="803040" y="2180879"/>
          <a:ext cx="5701692" cy="2636502"/>
        </p:xfrm>
        <a:graphic>
          <a:graphicData uri="http://schemas.openxmlformats.org/drawingml/2006/table">
            <a:tbl>
              <a:tblPr/>
              <a:tblGrid>
                <a:gridCol w="1445960">
                  <a:extLst>
                    <a:ext uri="{9D8B030D-6E8A-4147-A177-3AD203B41FA5}">
                      <a16:colId xmlns:a16="http://schemas.microsoft.com/office/drawing/2014/main" val="3061800440"/>
                    </a:ext>
                  </a:extLst>
                </a:gridCol>
                <a:gridCol w="1421503">
                  <a:extLst>
                    <a:ext uri="{9D8B030D-6E8A-4147-A177-3AD203B41FA5}">
                      <a16:colId xmlns:a16="http://schemas.microsoft.com/office/drawing/2014/main" val="2139382504"/>
                    </a:ext>
                  </a:extLst>
                </a:gridCol>
                <a:gridCol w="1316205">
                  <a:extLst>
                    <a:ext uri="{9D8B030D-6E8A-4147-A177-3AD203B41FA5}">
                      <a16:colId xmlns:a16="http://schemas.microsoft.com/office/drawing/2014/main" val="1072669636"/>
                    </a:ext>
                  </a:extLst>
                </a:gridCol>
                <a:gridCol w="1518024">
                  <a:extLst>
                    <a:ext uri="{9D8B030D-6E8A-4147-A177-3AD203B41FA5}">
                      <a16:colId xmlns:a16="http://schemas.microsoft.com/office/drawing/2014/main" val="3737233507"/>
                    </a:ext>
                  </a:extLst>
                </a:gridCol>
              </a:tblGrid>
              <a:tr h="5117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구분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restore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reset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revert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41458"/>
                  </a:ext>
                </a:extLst>
              </a:tr>
              <a:tr h="4314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effectLst/>
                        </a:rPr>
                        <a:t>커밋</a:t>
                      </a:r>
                      <a:r>
                        <a:rPr lang="ko-KR" altLang="en-US" sz="1200" dirty="0">
                          <a:effectLst/>
                        </a:rPr>
                        <a:t> 변경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007961"/>
                  </a:ext>
                </a:extLst>
              </a:tr>
              <a:tr h="431459">
                <a:tc>
                  <a:txBody>
                    <a:bodyPr/>
                    <a:lstStyle/>
                    <a:p>
                      <a:pPr algn="ctr"/>
                      <a:r>
                        <a:rPr lang="en" sz="1200">
                          <a:effectLst/>
                        </a:rPr>
                        <a:t>working tree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>
                          <a:effectLst/>
                        </a:rPr>
                        <a:t>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92424"/>
                  </a:ext>
                </a:extLst>
              </a:tr>
              <a:tr h="431459">
                <a:tc>
                  <a:txBody>
                    <a:bodyPr/>
                    <a:lstStyle/>
                    <a:p>
                      <a:pPr algn="ctr"/>
                      <a:r>
                        <a:rPr lang="en" sz="1200">
                          <a:effectLst/>
                        </a:rPr>
                        <a:t>index (staging)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O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200" dirty="0">
                          <a:effectLst/>
                        </a:rPr>
                        <a:t>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91812"/>
                  </a:ext>
                </a:extLst>
              </a:tr>
              <a:tr h="431459">
                <a:tc>
                  <a:txBody>
                    <a:bodyPr/>
                    <a:lstStyle/>
                    <a:p>
                      <a:pPr algn="ctr"/>
                      <a:r>
                        <a:rPr lang="en" sz="1200">
                          <a:effectLst/>
                        </a:rPr>
                        <a:t>push </a:t>
                      </a:r>
                      <a:r>
                        <a:rPr lang="ko-KR" altLang="en-US" sz="1200">
                          <a:effectLst/>
                        </a:rPr>
                        <a:t>후 사용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안전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</a:rPr>
                        <a:t>위험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</a:rPr>
                        <a:t>안전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458916"/>
                  </a:ext>
                </a:extLst>
              </a:tr>
              <a:tr h="398936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주 용도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로컬 변경 취소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히스토리 조작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effectLst/>
                        </a:rPr>
                        <a:t>커밋</a:t>
                      </a:r>
                      <a:r>
                        <a:rPr lang="ko-KR" altLang="en-US" sz="1200" dirty="0">
                          <a:effectLst/>
                        </a:rPr>
                        <a:t> 되돌림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2428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7B21D8-9452-5B1B-1CCB-FCDBEA913E12}"/>
              </a:ext>
            </a:extLst>
          </p:cNvPr>
          <p:cNvSpPr txBox="1"/>
          <p:nvPr/>
        </p:nvSpPr>
        <p:spPr>
          <a:xfrm>
            <a:off x="7178326" y="1688769"/>
            <a:ext cx="4443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restore / reset / revert 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상황별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핵심 판단 기준</a:t>
            </a:r>
            <a:endParaRPr kumimoji="1"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508DD-33FF-CDD3-D82F-0A17961B811D}"/>
              </a:ext>
            </a:extLst>
          </p:cNvPr>
          <p:cNvSpPr txBox="1"/>
          <p:nvPr/>
        </p:nvSpPr>
        <p:spPr>
          <a:xfrm>
            <a:off x="7366891" y="2180879"/>
            <a:ext cx="28296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아직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안 했다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→ </a:t>
            </a:r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restore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했지만 </a:t>
            </a: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push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→ </a:t>
            </a:r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이미 </a:t>
            </a: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push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했다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→ </a:t>
            </a:r>
            <a:r>
              <a:rPr lang="en" altLang="ko-KR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721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200" b="1">
                <a:effectLst/>
                <a:highlight>
                  <a:srgbClr val="FFFFFF"/>
                </a:highlight>
                <a:latin typeface="Helvetica Neue" panose="02000503000000020004" pitchFamily="2" charset="0"/>
              </a:defRPr>
            </a:lvl1pPr>
          </a:lstStyle>
          <a:p>
            <a:r>
              <a:rPr lang="en-US" altLang="ko-KR" sz="2400" dirty="0"/>
              <a:t>Rebase</a:t>
            </a:r>
            <a:r>
              <a:rPr lang="ko-KR" alt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0337E-F099-494B-B7CF-B3428D3D68D5}"/>
              </a:ext>
            </a:extLst>
          </p:cNvPr>
          <p:cNvSpPr txBox="1"/>
          <p:nvPr/>
        </p:nvSpPr>
        <p:spPr>
          <a:xfrm>
            <a:off x="355065" y="865114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/>
            </a:lvl1pPr>
          </a:lstStyle>
          <a:p>
            <a:r>
              <a:rPr lang="en" altLang="ko-KR" dirty="0"/>
              <a:t>Git Rebase</a:t>
            </a:r>
            <a:r>
              <a:rPr lang="ko-KR" altLang="en-US" dirty="0"/>
              <a:t>는 </a:t>
            </a:r>
            <a:r>
              <a:rPr lang="ko-KR" altLang="en-US" dirty="0" err="1"/>
              <a:t>브랜치의</a:t>
            </a:r>
            <a:r>
              <a:rPr lang="ko-KR" altLang="en-US" dirty="0"/>
              <a:t> 변경 사항을 다른 </a:t>
            </a:r>
            <a:r>
              <a:rPr lang="ko-KR" altLang="en-US" dirty="0" err="1"/>
              <a:t>브랜치의</a:t>
            </a:r>
            <a:r>
              <a:rPr lang="ko-KR" altLang="en-US" dirty="0"/>
              <a:t> 최신 </a:t>
            </a:r>
            <a:r>
              <a:rPr lang="ko-KR" altLang="en-US" dirty="0" err="1"/>
              <a:t>커밋</a:t>
            </a:r>
            <a:r>
              <a:rPr lang="ko-KR" altLang="en-US" dirty="0"/>
              <a:t> 뒤로 재배치하여</a:t>
            </a:r>
            <a:r>
              <a:rPr lang="en-US" altLang="ko-KR" dirty="0"/>
              <a:t>, </a:t>
            </a:r>
            <a:r>
              <a:rPr lang="ko-KR" altLang="en-US" dirty="0"/>
              <a:t>프로젝트의 작업 내역을 하나의 깔끔한 선형 히스토리로 만드는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E3A09-AF9F-9651-70C2-C20B3D3A87E6}"/>
              </a:ext>
            </a:extLst>
          </p:cNvPr>
          <p:cNvSpPr txBox="1"/>
          <p:nvPr/>
        </p:nvSpPr>
        <p:spPr>
          <a:xfrm>
            <a:off x="444137" y="1628615"/>
            <a:ext cx="107388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rebase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기준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base)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다른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“옮기는” 작업이다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즉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새로 만들어서 히스토리를 다시 정렬한다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rebase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“히스토리를 깔끔하게 만들기 위한 개인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브랜치용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도구”이다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공유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→ 절대 사용 금지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 절대 금지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중요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25409C-1D37-E98F-22EE-5CA48C572D4A}"/>
              </a:ext>
            </a:extLst>
          </p:cNvPr>
          <p:cNvSpPr/>
          <p:nvPr/>
        </p:nvSpPr>
        <p:spPr>
          <a:xfrm>
            <a:off x="444137" y="3069225"/>
            <a:ext cx="3372204" cy="2782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A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B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C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main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D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E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test-rebase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A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B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C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</a:t>
            </a:r>
            <a:r>
              <a:rPr lang="en" altLang="ko-K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main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D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E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test-rebase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== rebase ==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A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B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C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---</a:t>
            </a:r>
            <a:r>
              <a:rPr lang="en" altLang="ko-KR" dirty="0"/>
              <a:t> F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main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       </a:t>
            </a:r>
            <a:r>
              <a:rPr lang="en" altLang="ko-K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</a:t>
            </a:r>
            <a:r>
              <a:rPr lang="en" altLang="ko-KR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' --- E'</a:t>
            </a:r>
            <a:r>
              <a:rPr lang="en" altLang="ko-K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(</a:t>
            </a:r>
            <a:r>
              <a:rPr lang="en" altLang="ko-KR" dirty="0"/>
              <a:t>test-rebase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)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C1226A-D11E-7128-940E-06A624C48AD9}"/>
              </a:ext>
            </a:extLst>
          </p:cNvPr>
          <p:cNvSpPr/>
          <p:nvPr/>
        </p:nvSpPr>
        <p:spPr>
          <a:xfrm>
            <a:off x="4259517" y="3056148"/>
            <a:ext cx="6923427" cy="336288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-c</a:t>
            </a:r>
            <a:r>
              <a:rPr lang="en" altLang="ko-KR" dirty="0"/>
              <a:t> test-rebase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test rebase1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파일내용 추가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D)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</a:t>
            </a:r>
            <a:r>
              <a:rPr lang="en" altLang="ko-KR" dirty="0" err="1">
                <a:solidFill>
                  <a:srgbClr val="0086B3"/>
                </a:solidFill>
                <a:effectLst/>
              </a:rPr>
              <a:t>n</a:t>
            </a:r>
            <a:r>
              <a:rPr lang="en" altLang="ko-KR" dirty="0" err="1">
                <a:solidFill>
                  <a:srgbClr val="183691"/>
                </a:solidFill>
                <a:effectLst/>
              </a:rPr>
              <a:t>test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 rebase1"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en" altLang="ko-KR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"test rebase1"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test rebase2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파일내용 추가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E)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</a:t>
            </a:r>
            <a:r>
              <a:rPr lang="en" altLang="ko-KR" dirty="0" err="1">
                <a:solidFill>
                  <a:srgbClr val="0086B3"/>
                </a:solidFill>
                <a:effectLst/>
              </a:rPr>
              <a:t>n</a:t>
            </a:r>
            <a:r>
              <a:rPr lang="en" altLang="ko-KR" dirty="0" err="1">
                <a:solidFill>
                  <a:srgbClr val="183691"/>
                </a:solidFill>
                <a:effectLst/>
              </a:rPr>
              <a:t>test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 rebase2"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en" altLang="ko-KR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"test rebase2"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main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main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에도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update1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추가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(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F)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\n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메인에서 </a:t>
            </a:r>
            <a:r>
              <a:rPr lang="ko-KR" altLang="en-US" dirty="0" err="1">
                <a:solidFill>
                  <a:srgbClr val="183691"/>
                </a:solidFill>
                <a:effectLst/>
              </a:rPr>
              <a:t>커밋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update1 </a:t>
            </a:r>
            <a:r>
              <a:rPr lang="ko-KR" altLang="en-US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 err="1"/>
              <a:t>test.txt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commit 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"main update1"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rebase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는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feature </a:t>
            </a:r>
            <a:r>
              <a:rPr lang="ko-KR" altLang="en-US" dirty="0" err="1">
                <a:solidFill>
                  <a:srgbClr val="969896"/>
                </a:solidFill>
                <a:effectLst/>
              </a:rPr>
              <a:t>브랜치에서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 해야함 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test-rebase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rebase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  <a:effectLst/>
              </a:rPr>
              <a:t>## conflict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처리</a:t>
            </a:r>
            <a:endParaRPr lang="en-US" altLang="ko-KR" dirty="0">
              <a:solidFill>
                <a:srgbClr val="969896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마지막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main commit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로그를 기준으로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test-rebase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의 </a:t>
            </a:r>
            <a:r>
              <a:rPr lang="en-US" altLang="ko-KR" dirty="0">
                <a:solidFill>
                  <a:srgbClr val="969896"/>
                </a:solidFill>
                <a:effectLst/>
              </a:rPr>
              <a:t>2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개의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conflict </a:t>
            </a:r>
            <a:r>
              <a:rPr lang="ko-KR" altLang="en-US" dirty="0">
                <a:solidFill>
                  <a:srgbClr val="969896"/>
                </a:solidFill>
                <a:effectLst/>
              </a:rPr>
              <a:t>처리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8080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E3A09-AF9F-9651-70C2-C20B3D3A87E6}"/>
              </a:ext>
            </a:extLst>
          </p:cNvPr>
          <p:cNvSpPr txBox="1"/>
          <p:nvPr/>
        </p:nvSpPr>
        <p:spPr>
          <a:xfrm>
            <a:off x="470263" y="1936283"/>
            <a:ext cx="95197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대상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특정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해시 기준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342900" indent="-342900" algn="l">
              <a:buFont typeface="+mj-lt"/>
              <a:buAutoNum type="arabicPeriod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선택한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변경 내용이 현재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새로운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재생성됨</a:t>
            </a:r>
          </a:p>
          <a:p>
            <a:pPr marL="342900" indent="-342900" algn="l">
              <a:buFont typeface="+mj-lt"/>
              <a:buAutoNum type="arabicPeriod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중요 포인트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해시는 달라짐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복사본 개념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이력은 공유되지 않고 내용만 가져옴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C1226A-D11E-7128-940E-06A624C48AD9}"/>
              </a:ext>
            </a:extLst>
          </p:cNvPr>
          <p:cNvSpPr/>
          <p:nvPr/>
        </p:nvSpPr>
        <p:spPr>
          <a:xfrm>
            <a:off x="616377" y="4287358"/>
            <a:ext cx="10493156" cy="43762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cherry-pick 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&lt;</a:t>
            </a:r>
            <a:r>
              <a:rPr lang="en" altLang="ko-KR" dirty="0"/>
              <a:t>commit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&gt;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E315A-67E9-0935-19AD-1E87AACD9E00}"/>
              </a:ext>
            </a:extLst>
          </p:cNvPr>
          <p:cNvSpPr txBox="1"/>
          <p:nvPr/>
        </p:nvSpPr>
        <p:spPr>
          <a:xfrm>
            <a:off x="323271" y="1594826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cherry-pick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개념</a:t>
            </a:r>
            <a:endParaRPr kumimoji="1"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021BB-9467-F2C9-5609-84E4C64C0E5C}"/>
              </a:ext>
            </a:extLst>
          </p:cNvPr>
          <p:cNvSpPr txBox="1"/>
          <p:nvPr/>
        </p:nvSpPr>
        <p:spPr>
          <a:xfrm>
            <a:off x="323271" y="3393787"/>
            <a:ext cx="3025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 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언제 사용하는가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8B3C2-D800-5917-29BB-C08DB38F62A3}"/>
              </a:ext>
            </a:extLst>
          </p:cNvPr>
          <p:cNvSpPr txBox="1"/>
          <p:nvPr/>
        </p:nvSpPr>
        <p:spPr>
          <a:xfrm>
            <a:off x="470263" y="3654630"/>
            <a:ext cx="8451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특정 버그 수정만 빠르게 반영해야 할 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배포일정 다름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여러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있지만 그중 버그 수정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개만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반영하여 배포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진행시</a:t>
            </a: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D31DD-2BF8-DA52-3EF5-2E5E0D38A4BB}"/>
              </a:ext>
            </a:extLst>
          </p:cNvPr>
          <p:cNvSpPr txBox="1"/>
          <p:nvPr/>
        </p:nvSpPr>
        <p:spPr>
          <a:xfrm>
            <a:off x="470263" y="4807131"/>
            <a:ext cx="4902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실수로 잘못된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커밋했을 때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커밋했어야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했는데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커밋한 경우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795EA8-2B18-E850-C0B0-807AD7ADF27D}"/>
              </a:ext>
            </a:extLst>
          </p:cNvPr>
          <p:cNvSpPr/>
          <p:nvPr/>
        </p:nvSpPr>
        <p:spPr>
          <a:xfrm>
            <a:off x="616377" y="5354264"/>
            <a:ext cx="1049315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cherry-pick 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&lt;</a:t>
            </a:r>
            <a:r>
              <a:rPr lang="en" altLang="ko-KR" dirty="0"/>
              <a:t>commit</a:t>
            </a:r>
            <a:r>
              <a:rPr lang="en" altLang="ko-KR" dirty="0">
                <a:solidFill>
                  <a:srgbClr val="A71D5D"/>
                </a:solidFill>
                <a:effectLst/>
              </a:rPr>
              <a:t>&gt;</a:t>
            </a:r>
            <a:endParaRPr lang="ko-KR" altLang="en-US" b="1" kern="0" dirty="0">
              <a:solidFill>
                <a:srgbClr val="002776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69658-9746-3ABB-57E6-9EA878EE9304}"/>
              </a:ext>
            </a:extLst>
          </p:cNvPr>
          <p:cNvSpPr txBox="1"/>
          <p:nvPr/>
        </p:nvSpPr>
        <p:spPr>
          <a:xfrm>
            <a:off x="470263" y="5926652"/>
            <a:ext cx="5894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3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Hotfix /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운영 장애 대응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운영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main)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개발 중인 기능은 제외하고 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핫픽스만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반영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93F5C-2C9F-D25A-7657-4E0F96046B0E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1300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E3A09-AF9F-9651-70C2-C20B3D3A87E6}"/>
              </a:ext>
            </a:extLst>
          </p:cNvPr>
          <p:cNvSpPr txBox="1"/>
          <p:nvPr/>
        </p:nvSpPr>
        <p:spPr>
          <a:xfrm>
            <a:off x="444138" y="2332004"/>
            <a:ext cx="508580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장기간 유지되는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간 동기화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+mj-lt"/>
              <a:buAutoNum type="arabicPeriod"/>
            </a:pP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 → main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계속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관리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이유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동일한 변경이 다른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해시로 여러 번 생김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나중에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merge/rebase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시 충돌 폭발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이력 추적이 매우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어려워짐</a:t>
            </a:r>
            <a:b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</a:b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--&gt;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경우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정답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+mj-lt"/>
              <a:buAutoNum type="arabicPeriod" startAt="2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이미 다른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또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중복 적용 가능 하여 “이미 적용된 코드인데 충돌 발생” 상황 빈번 발생함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+mj-lt"/>
              <a:buAutoNum type="arabicPeriod" startAt="2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팀 컨벤션 없이 남용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은 수술 도구이지 일상적인 작업 흐름의 중심이 되면 안 됨</a:t>
            </a:r>
          </a:p>
          <a:p>
            <a:br>
              <a:rPr lang="ko-KR" altLang="en-US" dirty="0"/>
            </a:b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E315A-67E9-0935-19AD-1E87AACD9E00}"/>
              </a:ext>
            </a:extLst>
          </p:cNvPr>
          <p:cNvSpPr txBox="1"/>
          <p:nvPr/>
        </p:nvSpPr>
        <p:spPr>
          <a:xfrm>
            <a:off x="323271" y="1834868"/>
            <a:ext cx="4363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언제 사용하지 말아야 하는가 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주의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안티 패턴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72267-10CC-C755-2769-B5930CD3D0F3}"/>
              </a:ext>
            </a:extLst>
          </p:cNvPr>
          <p:cNvSpPr txBox="1"/>
          <p:nvPr/>
        </p:nvSpPr>
        <p:spPr>
          <a:xfrm>
            <a:off x="5659893" y="1771325"/>
            <a:ext cx="2501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cherry-pick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 케이스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592C5-331D-9880-E0D1-7F2C42B77357}"/>
              </a:ext>
            </a:extLst>
          </p:cNvPr>
          <p:cNvSpPr txBox="1"/>
          <p:nvPr/>
        </p:nvSpPr>
        <p:spPr>
          <a:xfrm>
            <a:off x="5929893" y="2095918"/>
            <a:ext cx="5599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cherry-pick F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실행하여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작업시</a:t>
            </a:r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CD0504-C3C6-732E-F358-91A3ABD77E81}"/>
              </a:ext>
            </a:extLst>
          </p:cNvPr>
          <p:cNvSpPr/>
          <p:nvPr/>
        </p:nvSpPr>
        <p:spPr>
          <a:xfrm>
            <a:off x="5929893" y="2525408"/>
            <a:ext cx="5599610" cy="2782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  A — B — C — D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           \ </a:t>
            </a:r>
            <a:endParaRPr lang="en" altLang="ko-KR" dirty="0">
              <a:solidFill>
                <a:srgbClr val="0086B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                 E — F — G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cherry-pick F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969896"/>
                </a:solidFill>
              </a:rPr>
              <a:t>##F</a:t>
            </a:r>
            <a:r>
              <a:rPr lang="ko-KR" altLang="en-US" dirty="0">
                <a:solidFill>
                  <a:srgbClr val="969896"/>
                </a:solidFill>
              </a:rPr>
              <a:t>의 변경만 복사되어 </a:t>
            </a:r>
            <a:r>
              <a:rPr lang="en" altLang="ko-KR" dirty="0">
                <a:solidFill>
                  <a:srgbClr val="969896"/>
                </a:solidFill>
              </a:rPr>
              <a:t>main </a:t>
            </a:r>
            <a:r>
              <a:rPr lang="ko-KR" altLang="en-US" dirty="0">
                <a:solidFill>
                  <a:srgbClr val="969896"/>
                </a:solidFill>
              </a:rPr>
              <a:t>위에 새로운 </a:t>
            </a:r>
            <a:r>
              <a:rPr lang="ko-KR" altLang="en-US" dirty="0" err="1">
                <a:solidFill>
                  <a:srgbClr val="969896"/>
                </a:solidFill>
              </a:rPr>
              <a:t>커밋이</a:t>
            </a:r>
            <a:r>
              <a:rPr lang="ko-KR" altLang="en-US" dirty="0">
                <a:solidFill>
                  <a:srgbClr val="969896"/>
                </a:solidFill>
              </a:rPr>
              <a:t> 하나 생긴다</a:t>
            </a:r>
            <a:r>
              <a:rPr lang="en-US" altLang="ko-KR" dirty="0">
                <a:solidFill>
                  <a:srgbClr val="969896"/>
                </a:solidFill>
              </a:rPr>
              <a:t>.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A — B — C — D </a:t>
            </a:r>
            <a:r>
              <a:rPr lang="en" altLang="ko-KR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 F’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/>
              <a:t>   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                E — F — G</a:t>
            </a:r>
            <a:endParaRPr lang="ko-KR" altLang="en-US" dirty="0">
              <a:solidFill>
                <a:srgbClr val="96989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5A2AF-FB40-4669-BA92-F721F1480B9D}"/>
              </a:ext>
            </a:extLst>
          </p:cNvPr>
          <p:cNvSpPr txBox="1"/>
          <p:nvPr/>
        </p:nvSpPr>
        <p:spPr>
          <a:xfrm>
            <a:off x="5929893" y="5393136"/>
            <a:ext cx="55996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F'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와 동일한 변경 내용을 가진 새로운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해시 완전히 다름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복사본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만 가져오고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가져오지 않음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내용이 포함돼 있다면 충돌 발생 가능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B9C6C-E264-D9B0-C37C-ADE477AFB4BA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493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E315A-67E9-0935-19AD-1E87AACD9E00}"/>
              </a:ext>
            </a:extLst>
          </p:cNvPr>
          <p:cNvSpPr txBox="1"/>
          <p:nvPr/>
        </p:nvSpPr>
        <p:spPr>
          <a:xfrm>
            <a:off x="7220821" y="2015198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600" b="1" dirty="0">
                <a:highlight>
                  <a:srgbClr val="FFFFFF"/>
                </a:highlight>
                <a:latin typeface="Helvetica Neue" panose="02000503000000020004" pitchFamily="2" charset="0"/>
              </a:rPr>
              <a:t>주요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포인트</a:t>
            </a:r>
            <a:endParaRPr lang="en-US" altLang="ko-KR" sz="16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592C5-331D-9880-E0D1-7F2C42B77357}"/>
              </a:ext>
            </a:extLst>
          </p:cNvPr>
          <p:cNvSpPr txBox="1"/>
          <p:nvPr/>
        </p:nvSpPr>
        <p:spPr>
          <a:xfrm>
            <a:off x="5755631" y="2457893"/>
            <a:ext cx="58773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기반으로 만들어졌다면 → 충돌 가능성 높다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위에서 만든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커밋이기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때문에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변경이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없다면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코드가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바로 적용될 때 불일치가 생길 수 있음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br>
              <a:rPr lang="ko-KR" altLang="en-US" dirty="0"/>
            </a:br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E85D28-1DB2-3A24-8D76-CF8A89290190}"/>
              </a:ext>
            </a:extLst>
          </p:cNvPr>
          <p:cNvSpPr/>
          <p:nvPr/>
        </p:nvSpPr>
        <p:spPr>
          <a:xfrm>
            <a:off x="5894496" y="3412718"/>
            <a:ext cx="5599610" cy="48262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E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</a:t>
            </a:r>
            <a:r>
              <a:rPr lang="ko-KR" altLang="en-US" dirty="0"/>
              <a:t>함수 추가 </a:t>
            </a:r>
            <a:endParaRPr lang="en-US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F</a:t>
            </a:r>
            <a:r>
              <a:rPr lang="en" altLang="ko-KR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dirty="0"/>
              <a:t> </a:t>
            </a:r>
            <a:r>
              <a:rPr lang="ko-KR" altLang="en-US" dirty="0"/>
              <a:t>함수 수정</a:t>
            </a:r>
            <a:r>
              <a:rPr lang="en" altLang="ko-KR" dirty="0"/>
              <a:t>                          </a:t>
            </a:r>
            <a:endParaRPr lang="en" altLang="ko-KR" dirty="0">
              <a:solidFill>
                <a:srgbClr val="0086B3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2D5C9-3940-ECA5-7F8E-0DBC8386A0C2}"/>
              </a:ext>
            </a:extLst>
          </p:cNvPr>
          <p:cNvSpPr txBox="1"/>
          <p:nvPr/>
        </p:nvSpPr>
        <p:spPr>
          <a:xfrm>
            <a:off x="5755631" y="3939926"/>
            <a:ext cx="56755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에는 아직 그 함수가 없음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--&gt;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 F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하면 해당 함수가 없으므로 충돌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 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와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서로 독립적이라면 → 충돌 없이 잘 적용됨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kumimoji="1" lang="en-US" altLang="ko-KR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kumimoji="1"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예</a:t>
            </a:r>
            <a:r>
              <a:rPr kumimoji="1"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kumimoji="1"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endParaRPr kumimoji="1" lang="en-US" altLang="ko-KR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README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</a:t>
            </a:r>
          </a:p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test1.txt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</a:t>
            </a:r>
            <a:b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</a:b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---&gt;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이런 경우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만 가져와도 문제 없음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94F53-B2A7-0763-9180-090F0AE3B7D8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BFDB6F-24CA-7BD7-0C1D-10DF18C31CA1}"/>
              </a:ext>
            </a:extLst>
          </p:cNvPr>
          <p:cNvSpPr/>
          <p:nvPr/>
        </p:nvSpPr>
        <p:spPr>
          <a:xfrm>
            <a:off x="274926" y="2747776"/>
            <a:ext cx="4251769" cy="219723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A — B — C — D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  \ </a:t>
            </a:r>
            <a:endParaRPr lang="en" altLang="ko-KR" sz="1100" dirty="0">
              <a:solidFill>
                <a:srgbClr val="0086B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 E — F — G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cherry-pick F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969896"/>
                </a:solidFill>
              </a:rPr>
              <a:t>##F</a:t>
            </a:r>
            <a:r>
              <a:rPr lang="ko-KR" altLang="en-US" sz="1100" dirty="0">
                <a:solidFill>
                  <a:srgbClr val="969896"/>
                </a:solidFill>
              </a:rPr>
              <a:t>의 변경만 복사되어 </a:t>
            </a:r>
            <a:r>
              <a:rPr lang="en" altLang="ko-KR" sz="1100" dirty="0">
                <a:solidFill>
                  <a:srgbClr val="969896"/>
                </a:solidFill>
              </a:rPr>
              <a:t>main </a:t>
            </a:r>
            <a:r>
              <a:rPr lang="ko-KR" altLang="en-US" sz="1100" dirty="0">
                <a:solidFill>
                  <a:srgbClr val="969896"/>
                </a:solidFill>
              </a:rPr>
              <a:t>위에 새로운 </a:t>
            </a:r>
            <a:r>
              <a:rPr lang="ko-KR" altLang="en-US" sz="1100" dirty="0" err="1">
                <a:solidFill>
                  <a:srgbClr val="969896"/>
                </a:solidFill>
              </a:rPr>
              <a:t>커밋이</a:t>
            </a:r>
            <a:r>
              <a:rPr lang="ko-KR" altLang="en-US" sz="1100" dirty="0">
                <a:solidFill>
                  <a:srgbClr val="969896"/>
                </a:solidFill>
              </a:rPr>
              <a:t> 하나 생긴다</a:t>
            </a:r>
            <a:r>
              <a:rPr lang="en-US" altLang="ko-KR" sz="1100" dirty="0">
                <a:solidFill>
                  <a:srgbClr val="969896"/>
                </a:solidFill>
              </a:rPr>
              <a:t>.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A — B — C — D </a:t>
            </a:r>
            <a:r>
              <a:rPr lang="en" altLang="ko-KR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 F’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E — F — G</a:t>
            </a:r>
            <a:endParaRPr lang="ko-KR" altLang="en-US" sz="1100" dirty="0">
              <a:solidFill>
                <a:srgbClr val="969896"/>
              </a:solidFill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647DECAE-9C58-F40F-703B-F09CB40F2A00}"/>
              </a:ext>
            </a:extLst>
          </p:cNvPr>
          <p:cNvCxnSpPr/>
          <p:nvPr/>
        </p:nvCxnSpPr>
        <p:spPr>
          <a:xfrm>
            <a:off x="5221480" y="1845892"/>
            <a:ext cx="0" cy="4443813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74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200" b="1">
                <a:effectLst/>
                <a:highlight>
                  <a:srgbClr val="FFFFFF"/>
                </a:highlight>
                <a:latin typeface="Helvetica Neue" panose="02000503000000020004" pitchFamily="2" charset="0"/>
              </a:defRPr>
            </a:lvl1pPr>
          </a:lstStyle>
          <a:p>
            <a:r>
              <a:rPr lang="en" altLang="ko-KR" sz="2400" dirty="0"/>
              <a:t>cherry-pick</a:t>
            </a:r>
            <a:r>
              <a:rPr lang="ko-KR" altLang="en-US" sz="2400" dirty="0"/>
              <a:t> </a:t>
            </a:r>
            <a:r>
              <a:rPr lang="en-US" altLang="ko-KR" sz="1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(4/6)</a:t>
            </a:r>
            <a:endParaRPr lang="en" altLang="ko-KR" sz="14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CD0504-C3C6-732E-F358-91A3ABD77E81}"/>
              </a:ext>
            </a:extLst>
          </p:cNvPr>
          <p:cNvSpPr/>
          <p:nvPr/>
        </p:nvSpPr>
        <p:spPr>
          <a:xfrm>
            <a:off x="5848003" y="1757485"/>
            <a:ext cx="5440991" cy="99029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public class Calculator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000" dirty="0">
              <a:solidFill>
                <a:schemeClr val="tx1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public int add(int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    return a + b;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}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64E4-A6F1-9171-729F-75DF3DF2A403}"/>
              </a:ext>
            </a:extLst>
          </p:cNvPr>
          <p:cNvSpPr txBox="1"/>
          <p:nvPr/>
        </p:nvSpPr>
        <p:spPr>
          <a:xfrm>
            <a:off x="323271" y="1612879"/>
            <a:ext cx="1717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cherri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-pick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54890-86C7-1B03-5C5C-061C28AB82CB}"/>
              </a:ext>
            </a:extLst>
          </p:cNvPr>
          <p:cNvSpPr txBox="1"/>
          <p:nvPr/>
        </p:nvSpPr>
        <p:spPr>
          <a:xfrm>
            <a:off x="5798013" y="1448042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Calculator.java</a:t>
            </a:r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5CD6B4-4A15-9AD1-888E-FD2E6DDB9569}"/>
              </a:ext>
            </a:extLst>
          </p:cNvPr>
          <p:cNvSpPr/>
          <p:nvPr/>
        </p:nvSpPr>
        <p:spPr>
          <a:xfrm>
            <a:off x="5848003" y="2849703"/>
            <a:ext cx="5440991" cy="1092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git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</a:rPr>
              <a:t>touch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</a:t>
            </a:r>
            <a:r>
              <a:rPr lang="en" altLang="ko-KR" sz="1000" dirty="0" err="1">
                <a:solidFill>
                  <a:schemeClr val="tx1">
                    <a:lumMod val="75000"/>
                  </a:schemeClr>
                </a:solidFill>
                <a:effectLst/>
              </a:rPr>
              <a:t>Calculator.java</a:t>
            </a:r>
            <a:endParaRPr lang="en" altLang="ko-KR" sz="1000" dirty="0">
              <a:solidFill>
                <a:schemeClr val="tx1">
                  <a:lumMod val="75000"/>
                </a:schemeClr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git add .; git commit -m "</a:t>
            </a:r>
            <a:r>
              <a:rPr lang="en" altLang="ko-KR" sz="1000" dirty="0" err="1">
                <a:solidFill>
                  <a:schemeClr val="tx1">
                    <a:lumMod val="75000"/>
                  </a:schemeClr>
                </a:solidFill>
                <a:effectLst/>
              </a:rPr>
              <a:t>Calculator.java</a:t>
            </a:r>
            <a:r>
              <a:rPr lang="ko-KR" altLang="en-US" sz="1000" dirty="0">
                <a:solidFill>
                  <a:schemeClr val="tx1">
                    <a:lumMod val="75000"/>
                  </a:schemeClr>
                </a:solidFill>
                <a:effectLst/>
              </a:rPr>
              <a:t>추가</a:t>
            </a:r>
            <a:r>
              <a:rPr lang="en-US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”.  </a:t>
            </a:r>
            <a:r>
              <a:rPr lang="en-US" altLang="ko-KR" sz="1000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## </a:t>
            </a:r>
            <a:r>
              <a:rPr lang="en-US" altLang="ko-KR" sz="1000" dirty="0">
                <a:solidFill>
                  <a:srgbClr val="C00000"/>
                </a:solidFill>
                <a:effectLst/>
              </a:rPr>
              <a:t>C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srgbClr val="A71D5D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effectLst/>
              </a:rPr>
              <a:t>##  </a:t>
            </a:r>
            <a:r>
              <a:rPr lang="en" altLang="ko-KR" sz="1000" dirty="0">
                <a:solidFill>
                  <a:schemeClr val="bg1">
                    <a:lumMod val="65000"/>
                  </a:schemeClr>
                </a:solidFill>
                <a:effectLst/>
              </a:rPr>
              <a:t>feature </a:t>
            </a:r>
            <a:r>
              <a:rPr lang="ko-KR" altLang="en-US" sz="1000" dirty="0" err="1">
                <a:solidFill>
                  <a:schemeClr val="bg1">
                    <a:lumMod val="65000"/>
                  </a:schemeClr>
                </a:solidFill>
                <a:effectLst/>
              </a:rPr>
              <a:t>브랜치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effectLst/>
              </a:rPr>
              <a:t> 생성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git switch -c feature</a:t>
            </a:r>
            <a:endParaRPr lang="ko-KR" altLang="en-US" sz="10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B0F1E-578B-AEC2-EFAD-FECC47FD2ACE}"/>
              </a:ext>
            </a:extLst>
          </p:cNvPr>
          <p:cNvSpPr txBox="1"/>
          <p:nvPr/>
        </p:nvSpPr>
        <p:spPr>
          <a:xfrm>
            <a:off x="5833282" y="3975086"/>
            <a:ext cx="2032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Calculator.java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수정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AE510F-B651-F6AA-1017-82DAB7114637}"/>
              </a:ext>
            </a:extLst>
          </p:cNvPr>
          <p:cNvSpPr/>
          <p:nvPr/>
        </p:nvSpPr>
        <p:spPr>
          <a:xfrm>
            <a:off x="5833282" y="4349189"/>
            <a:ext cx="5455712" cy="16505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public class Calculator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000" dirty="0">
              <a:solidFill>
                <a:schemeClr val="tx1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public int add(int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    return a + b;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//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추가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</a:t>
            </a: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private int </a:t>
            </a:r>
            <a:r>
              <a:rPr lang="en" altLang="ko-KR" sz="1000" dirty="0" err="1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doAdd</a:t>
            </a: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    return a + b;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}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E1C077-B03D-6B78-A656-71E43761E439}"/>
              </a:ext>
            </a:extLst>
          </p:cNvPr>
          <p:cNvSpPr/>
          <p:nvPr/>
        </p:nvSpPr>
        <p:spPr>
          <a:xfrm>
            <a:off x="5848002" y="6066046"/>
            <a:ext cx="5440991" cy="41312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## feature </a:t>
            </a:r>
            <a:r>
              <a:rPr lang="ko-KR" altLang="en-US" sz="1000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브랜치</a:t>
            </a:r>
            <a:endParaRPr lang="en" altLang="ko-KR" sz="1000" dirty="0">
              <a:solidFill>
                <a:schemeClr val="tx1">
                  <a:lumMod val="60000"/>
                  <a:lumOff val="40000"/>
                </a:schemeClr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/>
                </a:solidFill>
                <a:effectLst/>
              </a:rPr>
              <a:t>git</a:t>
            </a:r>
            <a:r>
              <a:rPr lang="en" altLang="ko-KR" sz="1000" dirty="0">
                <a:solidFill>
                  <a:schemeClr val="tx1"/>
                </a:solidFill>
              </a:rPr>
              <a:t> </a:t>
            </a:r>
            <a:r>
              <a:rPr lang="en" altLang="ko-KR" sz="1000" dirty="0">
                <a:solidFill>
                  <a:schemeClr val="tx1"/>
                </a:solidFill>
                <a:effectLst/>
              </a:rPr>
              <a:t>add</a:t>
            </a:r>
            <a:r>
              <a:rPr lang="en" altLang="ko-KR" sz="1000" dirty="0">
                <a:solidFill>
                  <a:schemeClr val="tx1"/>
                </a:solidFill>
              </a:rPr>
              <a:t> </a:t>
            </a:r>
            <a:r>
              <a:rPr lang="en" altLang="ko-KR" sz="1000" dirty="0">
                <a:solidFill>
                  <a:schemeClr val="tx1"/>
                </a:solidFill>
                <a:effectLst/>
              </a:rPr>
              <a:t>.;git</a:t>
            </a:r>
            <a:r>
              <a:rPr lang="en" altLang="ko-KR" sz="1000" dirty="0">
                <a:solidFill>
                  <a:schemeClr val="tx1"/>
                </a:solidFill>
              </a:rPr>
              <a:t> commit </a:t>
            </a:r>
            <a:r>
              <a:rPr lang="en" altLang="ko-KR" sz="1000" dirty="0">
                <a:solidFill>
                  <a:schemeClr val="tx1"/>
                </a:solidFill>
                <a:effectLst/>
              </a:rPr>
              <a:t>-m</a:t>
            </a:r>
            <a:r>
              <a:rPr lang="en" altLang="ko-KR" sz="1000" dirty="0">
                <a:solidFill>
                  <a:schemeClr val="tx1"/>
                </a:solidFill>
              </a:rPr>
              <a:t> </a:t>
            </a:r>
            <a:r>
              <a:rPr lang="en" altLang="ko-KR" sz="1000" dirty="0">
                <a:solidFill>
                  <a:schemeClr val="tx1"/>
                </a:solidFill>
                <a:effectLst/>
              </a:rPr>
              <a:t>"</a:t>
            </a:r>
            <a:r>
              <a:rPr lang="en" altLang="ko-KR" sz="1000" dirty="0" err="1">
                <a:solidFill>
                  <a:schemeClr val="tx1"/>
                </a:solidFill>
                <a:effectLst/>
              </a:rPr>
              <a:t>doAdd</a:t>
            </a:r>
            <a:r>
              <a:rPr lang="en" altLang="ko-KR" sz="1000" dirty="0">
                <a:solidFill>
                  <a:schemeClr val="tx1"/>
                </a:solidFill>
                <a:effectLst/>
              </a:rPr>
              <a:t>() </a:t>
            </a:r>
            <a:r>
              <a:rPr lang="ko-KR" altLang="en-US" sz="1000" dirty="0">
                <a:solidFill>
                  <a:schemeClr val="tx1"/>
                </a:solidFill>
                <a:effectLst/>
              </a:rPr>
              <a:t>추가</a:t>
            </a:r>
            <a:r>
              <a:rPr lang="en-US" altLang="ko-KR" sz="1000" dirty="0">
                <a:solidFill>
                  <a:schemeClr val="tx1"/>
                </a:solidFill>
                <a:effectLst/>
              </a:rPr>
              <a:t>"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  </a:t>
            </a:r>
            <a:r>
              <a:rPr lang="en-US" altLang="ko-KR" sz="1000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sz="1000" dirty="0">
                <a:solidFill>
                  <a:srgbClr val="C00000"/>
                </a:solidFill>
                <a:effectLst/>
              </a:rPr>
              <a:t>E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9D8283-A40A-FA8B-35A8-9B291E0827E3}"/>
              </a:ext>
            </a:extLst>
          </p:cNvPr>
          <p:cNvSpPr/>
          <p:nvPr/>
        </p:nvSpPr>
        <p:spPr>
          <a:xfrm>
            <a:off x="274926" y="2747776"/>
            <a:ext cx="4251769" cy="219723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A — B — C — D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  \ </a:t>
            </a:r>
            <a:endParaRPr lang="en" altLang="ko-KR" sz="1100" dirty="0">
              <a:solidFill>
                <a:srgbClr val="0086B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 E — F — G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cherry-pick F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969896"/>
                </a:solidFill>
              </a:rPr>
              <a:t>##F</a:t>
            </a:r>
            <a:r>
              <a:rPr lang="ko-KR" altLang="en-US" sz="1100" dirty="0">
                <a:solidFill>
                  <a:srgbClr val="969896"/>
                </a:solidFill>
              </a:rPr>
              <a:t>의 변경만 복사되어 </a:t>
            </a:r>
            <a:r>
              <a:rPr lang="en" altLang="ko-KR" sz="1100" dirty="0">
                <a:solidFill>
                  <a:srgbClr val="969896"/>
                </a:solidFill>
              </a:rPr>
              <a:t>main </a:t>
            </a:r>
            <a:r>
              <a:rPr lang="ko-KR" altLang="en-US" sz="1100" dirty="0">
                <a:solidFill>
                  <a:srgbClr val="969896"/>
                </a:solidFill>
              </a:rPr>
              <a:t>위에 새로운 </a:t>
            </a:r>
            <a:r>
              <a:rPr lang="ko-KR" altLang="en-US" sz="1100" dirty="0" err="1">
                <a:solidFill>
                  <a:srgbClr val="969896"/>
                </a:solidFill>
              </a:rPr>
              <a:t>커밋이</a:t>
            </a:r>
            <a:r>
              <a:rPr lang="ko-KR" altLang="en-US" sz="1100" dirty="0">
                <a:solidFill>
                  <a:srgbClr val="969896"/>
                </a:solidFill>
              </a:rPr>
              <a:t> 하나 생긴다</a:t>
            </a:r>
            <a:r>
              <a:rPr lang="en-US" altLang="ko-KR" sz="1100" dirty="0">
                <a:solidFill>
                  <a:srgbClr val="969896"/>
                </a:solidFill>
              </a:rPr>
              <a:t>.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A — B — C — D </a:t>
            </a:r>
            <a:r>
              <a:rPr lang="en" altLang="ko-KR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 F’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E — F — G</a:t>
            </a:r>
            <a:endParaRPr lang="ko-KR" altLang="en-US" sz="1100" dirty="0">
              <a:solidFill>
                <a:srgbClr val="96989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31ED0-02FF-11CE-1C71-B6BDA2328588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2E9926C3-BF9B-8A6B-C4D1-5369C19F8768}"/>
              </a:ext>
            </a:extLst>
          </p:cNvPr>
          <p:cNvCxnSpPr/>
          <p:nvPr/>
        </p:nvCxnSpPr>
        <p:spPr>
          <a:xfrm>
            <a:off x="5221480" y="1845892"/>
            <a:ext cx="0" cy="4443813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884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(5/6)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64E4-A6F1-9171-729F-75DF3DF2A403}"/>
              </a:ext>
            </a:extLst>
          </p:cNvPr>
          <p:cNvSpPr txBox="1"/>
          <p:nvPr/>
        </p:nvSpPr>
        <p:spPr>
          <a:xfrm>
            <a:off x="274926" y="1743970"/>
            <a:ext cx="1717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cherri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-pick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0D9FC-9507-21F5-5E20-1BB55848AD49}"/>
              </a:ext>
            </a:extLst>
          </p:cNvPr>
          <p:cNvSpPr txBox="1"/>
          <p:nvPr/>
        </p:nvSpPr>
        <p:spPr>
          <a:xfrm>
            <a:off x="5771595" y="1880896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 :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다른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메소드 추가</a:t>
            </a:r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389912-B862-8298-BF0C-53658CD53B1A}"/>
              </a:ext>
            </a:extLst>
          </p:cNvPr>
          <p:cNvSpPr/>
          <p:nvPr/>
        </p:nvSpPr>
        <p:spPr>
          <a:xfrm>
            <a:off x="5876022" y="2256807"/>
            <a:ext cx="5599610" cy="308733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public class Calculator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000" dirty="0">
              <a:solidFill>
                <a:schemeClr val="tx1">
                  <a:lumMod val="75000"/>
                </a:schemeClr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public int add(int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    return </a:t>
            </a:r>
            <a:r>
              <a:rPr lang="en" altLang="ko-KR" sz="1000" dirty="0" err="1">
                <a:solidFill>
                  <a:schemeClr val="tx1">
                    <a:lumMod val="75000"/>
                  </a:schemeClr>
                </a:solidFill>
                <a:effectLst/>
              </a:rPr>
              <a:t>doAdd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(a, b);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// </a:t>
            </a:r>
            <a:r>
              <a:rPr lang="ko-KR" altLang="en-US" sz="1000" dirty="0">
                <a:solidFill>
                  <a:schemeClr val="tx1">
                    <a:lumMod val="75000"/>
                  </a:schemeClr>
                </a:solidFill>
                <a:effectLst/>
              </a:rPr>
              <a:t>추가</a:t>
            </a:r>
            <a:r>
              <a:rPr lang="en-US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(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E)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// </a:t>
            </a:r>
            <a:r>
              <a:rPr lang="ko-KR" altLang="en-US" sz="1000" dirty="0">
                <a:solidFill>
                  <a:schemeClr val="tx1">
                    <a:lumMod val="75000"/>
                  </a:schemeClr>
                </a:solidFill>
                <a:effectLst/>
              </a:rPr>
              <a:t>수정 </a:t>
            </a:r>
            <a:r>
              <a:rPr lang="en-US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(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F)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private int </a:t>
            </a:r>
            <a:r>
              <a:rPr lang="en" altLang="ko-KR" sz="1000" dirty="0" err="1">
                <a:solidFill>
                  <a:schemeClr val="tx1">
                    <a:lumMod val="75000"/>
                  </a:schemeClr>
                </a:solidFill>
                <a:effectLst/>
              </a:rPr>
              <a:t>doAdd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    if (a &lt; 0 || b &lt; 0)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        throw new </a:t>
            </a:r>
            <a:r>
              <a:rPr lang="en" altLang="ko-KR" sz="1000" dirty="0" err="1">
                <a:solidFill>
                  <a:schemeClr val="tx1">
                    <a:lumMod val="75000"/>
                  </a:schemeClr>
                </a:solidFill>
                <a:effectLst/>
              </a:rPr>
              <a:t>IllegalArgumentException</a:t>
            </a: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("negative not allowed");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    return a + b;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000" dirty="0">
              <a:solidFill>
                <a:schemeClr val="tx1">
                  <a:lumMod val="75000"/>
                </a:schemeClr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   </a:t>
            </a: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// </a:t>
            </a: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다른 메소드 추가 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(</a:t>
            </a: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G)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private int </a:t>
            </a:r>
            <a:r>
              <a:rPr lang="en" altLang="ko-KR" sz="1000" dirty="0" err="1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doSubtraction</a:t>
            </a: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(int a, int b) {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       return a - b;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altLang="ko-KR" sz="1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}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}</a:t>
            </a:r>
            <a:endParaRPr lang="en" altLang="ko-KR" sz="1000" dirty="0">
              <a:solidFill>
                <a:schemeClr val="tx1">
                  <a:lumMod val="75000"/>
                </a:schemeClr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chemeClr val="tx1">
                    <a:lumMod val="75000"/>
                  </a:schemeClr>
                </a:solidFill>
                <a:effectLst/>
              </a:rPr>
              <a:t> </a:t>
            </a:r>
            <a:endParaRPr lang="ko-KR" altLang="en-US" sz="10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09B8F9-A198-CED7-ABD4-4C7E94E32DAA}"/>
              </a:ext>
            </a:extLst>
          </p:cNvPr>
          <p:cNvSpPr/>
          <p:nvPr/>
        </p:nvSpPr>
        <p:spPr>
          <a:xfrm>
            <a:off x="5876022" y="5639682"/>
            <a:ext cx="5599610" cy="57331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000" dirty="0">
              <a:solidFill>
                <a:srgbClr val="795DA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000" dirty="0"/>
              <a:t> </a:t>
            </a:r>
            <a:r>
              <a:rPr lang="en" altLang="ko-KR" sz="1000" dirty="0">
                <a:solidFill>
                  <a:srgbClr val="795DA3"/>
                </a:solidFill>
                <a:effectLst/>
              </a:rPr>
              <a:t>add</a:t>
            </a:r>
            <a:r>
              <a:rPr lang="en" altLang="ko-KR" sz="1000" dirty="0"/>
              <a:t> </a:t>
            </a:r>
            <a:r>
              <a:rPr lang="en" altLang="ko-KR" sz="1000" dirty="0">
                <a:solidFill>
                  <a:srgbClr val="795DA3"/>
                </a:solidFill>
                <a:effectLst/>
              </a:rPr>
              <a:t>.</a:t>
            </a:r>
            <a:r>
              <a:rPr lang="en" altLang="ko-KR" sz="1000" dirty="0">
                <a:solidFill>
                  <a:srgbClr val="333333"/>
                </a:solidFill>
                <a:effectLst/>
              </a:rPr>
              <a:t>;</a:t>
            </a:r>
            <a:r>
              <a:rPr lang="en" altLang="ko-KR" sz="10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000" dirty="0"/>
              <a:t> commit </a:t>
            </a:r>
            <a:r>
              <a:rPr lang="en" altLang="ko-KR" sz="1000" dirty="0">
                <a:solidFill>
                  <a:srgbClr val="333333"/>
                </a:solidFill>
                <a:effectLst/>
              </a:rPr>
              <a:t>-m</a:t>
            </a:r>
            <a:r>
              <a:rPr lang="en" altLang="ko-KR" sz="1000" dirty="0"/>
              <a:t> </a:t>
            </a:r>
            <a:r>
              <a:rPr lang="en" altLang="ko-KR" sz="1000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sz="1000" dirty="0" err="1">
                <a:solidFill>
                  <a:srgbClr val="183691"/>
                </a:solidFill>
                <a:effectLst/>
              </a:rPr>
              <a:t>doSubtraction</a:t>
            </a:r>
            <a:r>
              <a:rPr lang="en" altLang="ko-KR" sz="1000" dirty="0">
                <a:solidFill>
                  <a:srgbClr val="183691"/>
                </a:solidFill>
                <a:effectLst/>
              </a:rPr>
              <a:t>() </a:t>
            </a:r>
            <a:r>
              <a:rPr lang="ko-KR" altLang="en-US" sz="1000" dirty="0">
                <a:solidFill>
                  <a:srgbClr val="183691"/>
                </a:solidFill>
                <a:effectLst/>
              </a:rPr>
              <a:t>추가</a:t>
            </a:r>
            <a:r>
              <a:rPr lang="en-US" altLang="ko-KR" sz="1000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sz="1000" dirty="0"/>
              <a:t> </a:t>
            </a:r>
            <a:r>
              <a:rPr lang="en-US" altLang="ko-KR" sz="1000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sz="1000" dirty="0">
                <a:solidFill>
                  <a:srgbClr val="C00000"/>
                </a:solidFill>
                <a:effectLst/>
              </a:rPr>
              <a:t>G</a:t>
            </a:r>
            <a:r>
              <a:rPr lang="en" altLang="ko-KR" sz="1000" dirty="0"/>
              <a:t> </a:t>
            </a:r>
            <a:endParaRPr lang="ko-KR" altLang="en-US" sz="10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95536E-92E5-815D-275A-A6417FAA7AFF}"/>
              </a:ext>
            </a:extLst>
          </p:cNvPr>
          <p:cNvSpPr/>
          <p:nvPr/>
        </p:nvSpPr>
        <p:spPr>
          <a:xfrm>
            <a:off x="274926" y="2747776"/>
            <a:ext cx="4251769" cy="219723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A — B — C — D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  \ </a:t>
            </a:r>
            <a:endParaRPr lang="en" altLang="ko-KR" sz="1100" dirty="0">
              <a:solidFill>
                <a:srgbClr val="0086B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 E — F — G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cherry-pick F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969896"/>
                </a:solidFill>
              </a:rPr>
              <a:t>##F</a:t>
            </a:r>
            <a:r>
              <a:rPr lang="ko-KR" altLang="en-US" sz="1100" dirty="0">
                <a:solidFill>
                  <a:srgbClr val="969896"/>
                </a:solidFill>
              </a:rPr>
              <a:t>의 변경만 복사되어 </a:t>
            </a:r>
            <a:r>
              <a:rPr lang="en" altLang="ko-KR" sz="1100" dirty="0">
                <a:solidFill>
                  <a:srgbClr val="969896"/>
                </a:solidFill>
              </a:rPr>
              <a:t>main </a:t>
            </a:r>
            <a:r>
              <a:rPr lang="ko-KR" altLang="en-US" sz="1100" dirty="0">
                <a:solidFill>
                  <a:srgbClr val="969896"/>
                </a:solidFill>
              </a:rPr>
              <a:t>위에 새로운 </a:t>
            </a:r>
            <a:r>
              <a:rPr lang="ko-KR" altLang="en-US" sz="1100" dirty="0" err="1">
                <a:solidFill>
                  <a:srgbClr val="969896"/>
                </a:solidFill>
              </a:rPr>
              <a:t>커밋이</a:t>
            </a:r>
            <a:r>
              <a:rPr lang="ko-KR" altLang="en-US" sz="1100" dirty="0">
                <a:solidFill>
                  <a:srgbClr val="969896"/>
                </a:solidFill>
              </a:rPr>
              <a:t> 하나 생긴다</a:t>
            </a:r>
            <a:r>
              <a:rPr lang="en-US" altLang="ko-KR" sz="1100" dirty="0">
                <a:solidFill>
                  <a:srgbClr val="969896"/>
                </a:solidFill>
              </a:rPr>
              <a:t>.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A — B — C — D </a:t>
            </a:r>
            <a:r>
              <a:rPr lang="en" altLang="ko-KR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 F’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E — F — G</a:t>
            </a:r>
            <a:endParaRPr lang="ko-KR" altLang="en-US" sz="1100" dirty="0">
              <a:solidFill>
                <a:srgbClr val="96989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8E286-E03E-597F-AEE3-7887D0E50FF9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5043E470-AE26-3D5C-4508-D058188AACE9}"/>
              </a:ext>
            </a:extLst>
          </p:cNvPr>
          <p:cNvCxnSpPr/>
          <p:nvPr/>
        </p:nvCxnSpPr>
        <p:spPr>
          <a:xfrm>
            <a:off x="5221480" y="1845892"/>
            <a:ext cx="0" cy="4443813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388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(6/6)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64E4-A6F1-9171-729F-75DF3DF2A403}"/>
              </a:ext>
            </a:extLst>
          </p:cNvPr>
          <p:cNvSpPr txBox="1"/>
          <p:nvPr/>
        </p:nvSpPr>
        <p:spPr>
          <a:xfrm>
            <a:off x="274926" y="1804801"/>
            <a:ext cx="1717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cherri</a:t>
            </a:r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-pick 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9D8283-A40A-FA8B-35A8-9B291E0827E3}"/>
              </a:ext>
            </a:extLst>
          </p:cNvPr>
          <p:cNvSpPr/>
          <p:nvPr/>
        </p:nvSpPr>
        <p:spPr>
          <a:xfrm>
            <a:off x="274926" y="2870163"/>
            <a:ext cx="4251769" cy="219723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A — B — C — D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  \ </a:t>
            </a:r>
            <a:endParaRPr lang="en" altLang="ko-KR" sz="1100" dirty="0">
              <a:solidFill>
                <a:srgbClr val="0086B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 E — F — G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switch main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100" dirty="0"/>
              <a:t> cherry-pick F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b="1" kern="0" dirty="0">
              <a:solidFill>
                <a:srgbClr val="002776"/>
              </a:solidFill>
              <a:latin typeface="+mn-ea"/>
              <a:ea typeface="+mn-ea"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969896"/>
                </a:solidFill>
              </a:rPr>
              <a:t>##F</a:t>
            </a:r>
            <a:r>
              <a:rPr lang="ko-KR" altLang="en-US" sz="1100" dirty="0">
                <a:solidFill>
                  <a:srgbClr val="969896"/>
                </a:solidFill>
              </a:rPr>
              <a:t>의 변경만 복사되어 </a:t>
            </a:r>
            <a:r>
              <a:rPr lang="en" altLang="ko-KR" sz="1100" dirty="0">
                <a:solidFill>
                  <a:srgbClr val="969896"/>
                </a:solidFill>
              </a:rPr>
              <a:t>main </a:t>
            </a:r>
            <a:r>
              <a:rPr lang="ko-KR" altLang="en-US" sz="1100" dirty="0">
                <a:solidFill>
                  <a:srgbClr val="969896"/>
                </a:solidFill>
              </a:rPr>
              <a:t>위에 새로운 </a:t>
            </a:r>
            <a:r>
              <a:rPr lang="ko-KR" altLang="en-US" sz="1100" dirty="0" err="1">
                <a:solidFill>
                  <a:srgbClr val="969896"/>
                </a:solidFill>
              </a:rPr>
              <a:t>커밋이</a:t>
            </a:r>
            <a:r>
              <a:rPr lang="ko-KR" altLang="en-US" sz="1100" dirty="0">
                <a:solidFill>
                  <a:srgbClr val="969896"/>
                </a:solidFill>
              </a:rPr>
              <a:t> 하나 생긴다</a:t>
            </a:r>
            <a:r>
              <a:rPr lang="en-US" altLang="ko-KR" sz="1100" dirty="0">
                <a:solidFill>
                  <a:srgbClr val="969896"/>
                </a:solidFill>
              </a:rPr>
              <a:t>.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main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A — B — C — D </a:t>
            </a:r>
            <a:r>
              <a:rPr lang="en" altLang="ko-KR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 F’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                            \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rgbClr val="0086B3"/>
                </a:solidFill>
                <a:effectLst/>
              </a:rPr>
              <a:t>feature</a:t>
            </a:r>
            <a:r>
              <a:rPr lang="en" altLang="ko-KR" sz="1100" dirty="0">
                <a:solidFill>
                  <a:srgbClr val="333333"/>
                </a:solidFill>
                <a:effectLst/>
              </a:rPr>
              <a:t>:</a:t>
            </a:r>
            <a:r>
              <a:rPr lang="en" altLang="ko-KR" sz="1100" dirty="0"/>
              <a:t>                 E — F — G</a:t>
            </a:r>
            <a:endParaRPr lang="ko-KR" altLang="en-US" sz="1100" dirty="0">
              <a:solidFill>
                <a:srgbClr val="969896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FA3AF6-527A-8EE4-27C6-0FC8A25244AD}"/>
              </a:ext>
            </a:extLst>
          </p:cNvPr>
          <p:cNvSpPr/>
          <p:nvPr/>
        </p:nvSpPr>
        <p:spPr>
          <a:xfrm>
            <a:off x="5713241" y="2166952"/>
            <a:ext cx="5789400" cy="10890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switch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dirty="0"/>
              <a:t>touch </a:t>
            </a:r>
            <a:r>
              <a:rPr lang="en" altLang="ko-KR" dirty="0"/>
              <a:t>calculator-</a:t>
            </a:r>
            <a:r>
              <a:rPr lang="en" altLang="ko-KR" dirty="0" err="1"/>
              <a:t>info.txt</a:t>
            </a:r>
            <a:endParaRPr lang="en" altLang="ko-KR" dirty="0"/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 err="1">
                <a:solidFill>
                  <a:srgbClr val="795DA3"/>
                </a:solidFill>
                <a:effectLst/>
              </a:rPr>
              <a:t>printf</a:t>
            </a:r>
            <a:r>
              <a:rPr lang="en" altLang="ko-KR" dirty="0"/>
              <a:t> </a:t>
            </a:r>
            <a:r>
              <a:rPr lang="en" altLang="ko-KR" dirty="0">
                <a:solidFill>
                  <a:srgbClr val="183691"/>
                </a:solidFill>
                <a:effectLst/>
              </a:rPr>
              <a:t>"</a:t>
            </a:r>
            <a:r>
              <a:rPr lang="en" altLang="ko-KR" dirty="0">
                <a:solidFill>
                  <a:srgbClr val="0086B3"/>
                </a:solidFill>
                <a:effectLst/>
              </a:rPr>
              <a:t>\</a:t>
            </a:r>
            <a:r>
              <a:rPr lang="en" altLang="ko-KR" dirty="0"/>
              <a:t>this is calculator-info</a:t>
            </a:r>
            <a:r>
              <a:rPr lang="en-US" altLang="ko-KR" dirty="0">
                <a:solidFill>
                  <a:srgbClr val="183691"/>
                </a:solidFill>
                <a:effectLst/>
              </a:rPr>
              <a:t>"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A71D5D"/>
                </a:solidFill>
                <a:effectLst/>
              </a:rPr>
              <a:t>&gt;&gt;</a:t>
            </a:r>
            <a:r>
              <a:rPr lang="ko-KR" altLang="en-US" dirty="0"/>
              <a:t> </a:t>
            </a:r>
            <a:r>
              <a:rPr lang="en" altLang="ko-KR" dirty="0"/>
              <a:t>calculator-</a:t>
            </a:r>
            <a:r>
              <a:rPr lang="en" altLang="ko-KR" dirty="0" err="1"/>
              <a:t>info.txt</a:t>
            </a:r>
            <a:r>
              <a:rPr lang="en" altLang="ko-KR" dirty="0"/>
              <a:t>    </a:t>
            </a:r>
            <a:r>
              <a:rPr lang="en" altLang="ko-KR" dirty="0">
                <a:solidFill>
                  <a:srgbClr val="969896"/>
                </a:solidFill>
                <a:effectLst/>
              </a:rPr>
              <a:t>## </a:t>
            </a:r>
            <a:r>
              <a:rPr lang="en" altLang="ko-KR" dirty="0">
                <a:solidFill>
                  <a:srgbClr val="C00000"/>
                </a:solidFill>
                <a:effectLst/>
              </a:rPr>
              <a:t>D</a:t>
            </a:r>
            <a:br>
              <a:rPr lang="en" altLang="ko-KR" dirty="0"/>
            </a:br>
            <a:endParaRPr lang="ko-KR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F9C2B-F4CB-C35F-5539-D18E40BEF5E6}"/>
              </a:ext>
            </a:extLst>
          </p:cNvPr>
          <p:cNvSpPr txBox="1"/>
          <p:nvPr/>
        </p:nvSpPr>
        <p:spPr>
          <a:xfrm>
            <a:off x="5625615" y="1804801"/>
            <a:ext cx="405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으로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돌아와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b="0" i="0" dirty="0">
                <a:solidFill>
                  <a:srgbClr val="C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추가됨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calculator-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info.txt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00015-9EB2-E27F-9158-3EB4F9D1887D}"/>
              </a:ext>
            </a:extLst>
          </p:cNvPr>
          <p:cNvSpPr txBox="1"/>
          <p:nvPr/>
        </p:nvSpPr>
        <p:spPr>
          <a:xfrm>
            <a:off x="5625615" y="3635897"/>
            <a:ext cx="1747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cherry-pick 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038599-823D-ABE7-FD1D-E744E9305891}"/>
              </a:ext>
            </a:extLst>
          </p:cNvPr>
          <p:cNvSpPr/>
          <p:nvPr/>
        </p:nvSpPr>
        <p:spPr>
          <a:xfrm>
            <a:off x="5713240" y="4013605"/>
            <a:ext cx="5789400" cy="178071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 switch feature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 log --</a:t>
            </a:r>
            <a:r>
              <a:rPr lang="en" altLang="ko-KR" dirty="0" err="1">
                <a:solidFill>
                  <a:srgbClr val="795DA3"/>
                </a:solidFill>
                <a:effectLst/>
              </a:rPr>
              <a:t>oneline</a:t>
            </a:r>
            <a:endParaRPr lang="en" altLang="ko-KR" dirty="0">
              <a:solidFill>
                <a:srgbClr val="795DA3"/>
              </a:solidFill>
              <a:effectLst/>
            </a:endParaRP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## af1fb61 </a:t>
            </a:r>
            <a:r>
              <a:rPr lang="en" altLang="ko-KR" dirty="0" err="1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doAdd</a:t>
            </a:r>
            <a:r>
              <a:rPr lang="en" altLang="ko-KR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() </a:t>
            </a:r>
            <a:r>
              <a:rPr lang="ko-KR" altLang="en-US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수정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 switch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 cherry-pick 97af075 af1fb61     </a:t>
            </a:r>
            <a:r>
              <a:rPr lang="en" altLang="ko-KR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## </a:t>
            </a:r>
            <a:r>
              <a:rPr lang="en" altLang="ko-KR" dirty="0">
                <a:solidFill>
                  <a:srgbClr val="C00000"/>
                </a:solidFill>
                <a:effectLst/>
              </a:rPr>
              <a:t>E, F</a:t>
            </a:r>
            <a:r>
              <a:rPr lang="ko-KR" altLang="en-US" dirty="0">
                <a:solidFill>
                  <a:schemeClr val="tx1">
                    <a:lumMod val="60000"/>
                    <a:lumOff val="40000"/>
                  </a:schemeClr>
                </a:solidFill>
                <a:effectLst/>
              </a:rPr>
              <a:t>로 순서대로 한다 </a:t>
            </a:r>
            <a:br>
              <a:rPr lang="en" altLang="ko-KR" dirty="0"/>
            </a:br>
            <a:endParaRPr lang="ko-KR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A0191-EBDE-C4A7-D393-D1F74F68C0D3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Cherry-pick</a:t>
            </a:r>
            <a:r>
              <a:rPr lang="ko-KR" altLang="en-US" dirty="0"/>
              <a:t>은 다른 </a:t>
            </a:r>
            <a:r>
              <a:rPr lang="ko-KR" altLang="en-US" dirty="0" err="1"/>
              <a:t>브랜치에</a:t>
            </a:r>
            <a:r>
              <a:rPr lang="ko-KR" altLang="en-US" dirty="0"/>
              <a:t> 있는 특정 </a:t>
            </a:r>
            <a:r>
              <a:rPr lang="ko-KR" altLang="en-US" dirty="0" err="1"/>
              <a:t>커밋만을</a:t>
            </a:r>
            <a:r>
              <a:rPr lang="ko-KR" altLang="en-US" dirty="0"/>
              <a:t> 선택하여 현재 </a:t>
            </a:r>
            <a:r>
              <a:rPr lang="ko-KR" altLang="en-US" dirty="0" err="1"/>
              <a:t>브랜치에</a:t>
            </a:r>
            <a:r>
              <a:rPr lang="ko-KR" altLang="en-US" dirty="0"/>
              <a:t> 개별적으로 적용하는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5A058B82-2272-5891-6469-74B6B23CC190}"/>
              </a:ext>
            </a:extLst>
          </p:cNvPr>
          <p:cNvCxnSpPr/>
          <p:nvPr/>
        </p:nvCxnSpPr>
        <p:spPr>
          <a:xfrm>
            <a:off x="5221480" y="1845892"/>
            <a:ext cx="0" cy="4443813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49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</a:t>
            </a:r>
            <a:r>
              <a:rPr lang="en" altLang="ko-KR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eflog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(1/2)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64E4-A6F1-9171-729F-75DF3DF2A403}"/>
              </a:ext>
            </a:extLst>
          </p:cNvPr>
          <p:cNvSpPr txBox="1"/>
          <p:nvPr/>
        </p:nvSpPr>
        <p:spPr>
          <a:xfrm>
            <a:off x="401648" y="1712959"/>
            <a:ext cx="21451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</a:t>
            </a:r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란 무엇인가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9D8283-A40A-FA8B-35A8-9B291E0827E3}"/>
              </a:ext>
            </a:extLst>
          </p:cNvPr>
          <p:cNvSpPr/>
          <p:nvPr/>
        </p:nvSpPr>
        <p:spPr>
          <a:xfrm>
            <a:off x="561938" y="3379862"/>
            <a:ext cx="5072222" cy="26730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4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400" dirty="0"/>
              <a:t> </a:t>
            </a:r>
            <a:r>
              <a:rPr lang="en" altLang="ko-KR" sz="1400" dirty="0" err="1"/>
              <a:t>reflog</a:t>
            </a:r>
            <a:endParaRPr lang="en" altLang="ko-KR" sz="14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4671074 (HEAD -&gt; test-rebase2) HEAD@{0}: rebase (finish): returning to refs/heads/test-rebase2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4671074 (HEAD -&gt; test-rebase2) HEAD@{1}: rebase (continue): test 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244d259 HEAD@{2}: rebase (continue): test rebase1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HEAD@{3}: rebase (start): checkout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5f60148 HEAD@{4}: rebase (abort): returning to refs/heads/test-rebase2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HEAD@{5}: rebase (start): checkout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5f60148 HEAD@{6}: rebase (abort): returning to refs/heads/test-rebase2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HEAD@{7}: rebase (start): checkout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5f60148 HEAD@{8}: checkout: moving from main to test-rebase2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HEAD@{9}: commit: main update2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9892F-A788-9E86-6802-8664C1756CE0}"/>
              </a:ext>
            </a:extLst>
          </p:cNvPr>
          <p:cNvSpPr txBox="1"/>
          <p:nvPr/>
        </p:nvSpPr>
        <p:spPr>
          <a:xfrm>
            <a:off x="561938" y="2193602"/>
            <a:ext cx="507222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HEAD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와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포인터의 이동 기록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log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보이지 않는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커밋도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포함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로컬 저장소에서만 유지됨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기본적으로 약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90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일간 유지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GC(Garbage Collection)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이전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F16E4-BD1F-11E9-18AE-8FFD79D54BF6}"/>
              </a:ext>
            </a:extLst>
          </p:cNvPr>
          <p:cNvSpPr txBox="1"/>
          <p:nvPr/>
        </p:nvSpPr>
        <p:spPr>
          <a:xfrm>
            <a:off x="6378519" y="1693574"/>
            <a:ext cx="3272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언제 사용하는가</a:t>
            </a:r>
            <a:r>
              <a:rPr lang="en-US" altLang="ko-KR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763C-0B15-592B-A69D-59FA543A6969}"/>
              </a:ext>
            </a:extLst>
          </p:cNvPr>
          <p:cNvSpPr txBox="1"/>
          <p:nvPr/>
        </p:nvSpPr>
        <p:spPr>
          <a:xfrm>
            <a:off x="6509428" y="2018972"/>
            <a:ext cx="50722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1.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reset --hard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날렸을 때</a:t>
            </a:r>
            <a:endParaRPr lang="en" altLang="ko-KR" sz="1200" dirty="0">
              <a:highlight>
                <a:srgbClr val="C0C0C0"/>
              </a:highlight>
            </a:endParaRPr>
          </a:p>
          <a:p>
            <a:endParaRPr kumimoji="1" lang="en" altLang="ko-KR" sz="1200" dirty="0">
              <a:highlight>
                <a:srgbClr val="C0C0C0"/>
              </a:highlight>
            </a:endParaRPr>
          </a:p>
          <a:p>
            <a:endParaRPr kumimoji="1" lang="en" altLang="ko-KR" sz="1200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log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에서는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사라짐 하지만 </a:t>
            </a:r>
            <a:r>
              <a:rPr lang="en" altLang="ko-KR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에는 남아 있음</a:t>
            </a:r>
            <a:endParaRPr lang="en-US" altLang="ko-KR" sz="12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중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커밋이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사라졌을 때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" altLang="ko-KR" sz="1200" dirty="0">
              <a:highlight>
                <a:srgbClr val="C0C0C0"/>
              </a:highlight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squash / drop 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잘못된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브랜치가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엉뚱한 위치로 이동</a:t>
            </a:r>
          </a:p>
          <a:p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3.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잘못된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checkout / branch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삭제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" altLang="ko-KR" sz="1200" dirty="0">
              <a:highlight>
                <a:srgbClr val="C0C0C0"/>
              </a:highlight>
            </a:endParaRPr>
          </a:p>
          <a:p>
            <a:endParaRPr lang="en" altLang="ko-KR" sz="1200" b="0" i="0" dirty="0">
              <a:solidFill>
                <a:srgbClr val="333333"/>
              </a:solidFill>
              <a:effectLst/>
              <a:highlight>
                <a:srgbClr val="C0C0C0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삭제 ≠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삭제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마지막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위치 확인 가능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4.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후 취소하고 싶을 때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" altLang="ko-KR" sz="1200" dirty="0">
              <a:highlight>
                <a:srgbClr val="C0C0C0"/>
              </a:highlight>
            </a:endParaRPr>
          </a:p>
          <a:p>
            <a:endParaRPr lang="en-US" altLang="ko-KR" sz="1200" b="0" i="0" dirty="0">
              <a:solidFill>
                <a:srgbClr val="333333"/>
              </a:solidFill>
              <a:effectLst/>
              <a:highlight>
                <a:srgbClr val="C0C0C0"/>
              </a:highlight>
              <a:latin typeface="Helvetica Neue" panose="02000503000000020004" pitchFamily="2" charset="0"/>
            </a:endParaRPr>
          </a:p>
          <a:p>
            <a:endParaRPr lang="ko-KR" altLang="en-US" sz="1200" b="0" i="0" dirty="0">
              <a:solidFill>
                <a:srgbClr val="333333"/>
              </a:solidFill>
              <a:effectLst/>
              <a:highlight>
                <a:srgbClr val="C0C0C0"/>
              </a:highlight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이전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HEAD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되돌림 가능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5.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“어제까진 있었는데 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log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안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보여요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” 상황</a:t>
            </a: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force push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reset / rebase / amend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반복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HEAD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이동이 많았던 경우</a:t>
            </a:r>
            <a:endParaRPr kumimoji="1" lang="ko-KR" altLang="en-US" sz="1200" dirty="0"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C6F4A-A102-E83D-C274-B875E5FA7E17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</a:t>
            </a:r>
            <a:r>
              <a:rPr lang="en" altLang="ko-KR" dirty="0" err="1"/>
              <a:t>Reflog</a:t>
            </a:r>
            <a:r>
              <a:rPr lang="ko-KR" altLang="en-US" dirty="0"/>
              <a:t>는 </a:t>
            </a:r>
            <a:r>
              <a:rPr lang="ko-KR" altLang="en-US" dirty="0" err="1"/>
              <a:t>브랜치의</a:t>
            </a:r>
            <a:r>
              <a:rPr lang="ko-KR" altLang="en-US" dirty="0"/>
              <a:t> 선두</a:t>
            </a:r>
            <a:r>
              <a:rPr lang="en-US" altLang="ko-KR" dirty="0"/>
              <a:t>(</a:t>
            </a:r>
            <a:r>
              <a:rPr lang="en" altLang="ko-KR" dirty="0"/>
              <a:t>HEAD)</a:t>
            </a:r>
            <a:r>
              <a:rPr lang="ko-KR" altLang="en-US" dirty="0"/>
              <a:t>가 가리켰던 모든 변경 이력을 기록하여</a:t>
            </a:r>
            <a:r>
              <a:rPr lang="en-US" altLang="ko-KR" dirty="0"/>
              <a:t>, </a:t>
            </a:r>
            <a:r>
              <a:rPr lang="ko-KR" altLang="en-US" dirty="0"/>
              <a:t>실수로 삭제하거나 잃어버린 </a:t>
            </a:r>
            <a:r>
              <a:rPr lang="ko-KR" altLang="en-US" dirty="0" err="1"/>
              <a:t>커밋</a:t>
            </a:r>
            <a:r>
              <a:rPr lang="ko-KR" altLang="en-US" dirty="0"/>
              <a:t> 및 </a:t>
            </a:r>
            <a:r>
              <a:rPr lang="ko-KR" altLang="en-US" dirty="0" err="1"/>
              <a:t>브랜치까지</a:t>
            </a:r>
            <a:r>
              <a:rPr lang="ko-KR" altLang="en-US" dirty="0"/>
              <a:t> 추적하고 복구할 수 있게 해주는 </a:t>
            </a:r>
            <a:r>
              <a:rPr lang="en-US" altLang="ko-KR" dirty="0"/>
              <a:t>'</a:t>
            </a:r>
            <a:r>
              <a:rPr lang="ko-KR" altLang="en-US" dirty="0"/>
              <a:t>최후의 보루</a:t>
            </a:r>
            <a:r>
              <a:rPr lang="en-US" altLang="ko-KR" dirty="0"/>
              <a:t>'</a:t>
            </a:r>
            <a:r>
              <a:rPr lang="ko-KR" altLang="en-US" dirty="0"/>
              <a:t>와 같은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FA7D56-182F-4231-CC5A-2424D484A6F6}"/>
              </a:ext>
            </a:extLst>
          </p:cNvPr>
          <p:cNvSpPr/>
          <p:nvPr/>
        </p:nvSpPr>
        <p:spPr>
          <a:xfrm>
            <a:off x="6740650" y="2290647"/>
            <a:ext cx="2086383" cy="3027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git reset --hard HEAD~3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952216-CDC6-09DD-1ABD-80308B530B55}"/>
              </a:ext>
            </a:extLst>
          </p:cNvPr>
          <p:cNvSpPr/>
          <p:nvPr/>
        </p:nvSpPr>
        <p:spPr>
          <a:xfrm>
            <a:off x="6740649" y="3017662"/>
            <a:ext cx="2086383" cy="3027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git rebase -</a:t>
            </a:r>
            <a:r>
              <a:rPr lang="en" altLang="ko-KR" sz="1100" dirty="0" err="1"/>
              <a:t>i</a:t>
            </a:r>
            <a:r>
              <a:rPr lang="en" altLang="ko-KR" sz="1100" dirty="0"/>
              <a:t> HEAD~5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9661EC-DD38-5182-C1CC-8A8ABBCD5BCB}"/>
              </a:ext>
            </a:extLst>
          </p:cNvPr>
          <p:cNvSpPr/>
          <p:nvPr/>
        </p:nvSpPr>
        <p:spPr>
          <a:xfrm>
            <a:off x="6740649" y="3888405"/>
            <a:ext cx="2086383" cy="3027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git branch -D feature-x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11770E-B6A1-67E5-39B7-E76CF7B93619}"/>
              </a:ext>
            </a:extLst>
          </p:cNvPr>
          <p:cNvSpPr/>
          <p:nvPr/>
        </p:nvSpPr>
        <p:spPr>
          <a:xfrm>
            <a:off x="6740648" y="5064490"/>
            <a:ext cx="2086383" cy="44754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git cherry-pick &lt;commit&gt;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##</a:t>
            </a:r>
            <a:r>
              <a:rPr lang="ko-KR" altLang="en-US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이후 잘못됨을 인지</a:t>
            </a:r>
            <a:endParaRPr lang="en" altLang="ko-KR" sz="11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210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ko-KR" sz="2400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r</a:t>
            </a:r>
            <a:r>
              <a:rPr lang="en" altLang="ko-KR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eflog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(2/2)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64E4-A6F1-9171-729F-75DF3DF2A403}"/>
              </a:ext>
            </a:extLst>
          </p:cNvPr>
          <p:cNvSpPr txBox="1"/>
          <p:nvPr/>
        </p:nvSpPr>
        <p:spPr>
          <a:xfrm>
            <a:off x="567853" y="1939405"/>
            <a:ext cx="3241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</a:t>
            </a:r>
            <a:r>
              <a:rPr lang="ko-KR" altLang="en-US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복원하는 기본 패턴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9D8283-A40A-FA8B-35A8-9B291E0827E3}"/>
              </a:ext>
            </a:extLst>
          </p:cNvPr>
          <p:cNvSpPr/>
          <p:nvPr/>
        </p:nvSpPr>
        <p:spPr>
          <a:xfrm>
            <a:off x="623193" y="2602574"/>
            <a:ext cx="5472807" cy="26787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dirty="0"/>
              <a:t> </a:t>
            </a:r>
            <a:r>
              <a:rPr lang="en" altLang="ko-KR" dirty="0" err="1"/>
              <a:t>reflog</a:t>
            </a:r>
            <a:r>
              <a:rPr lang="en" altLang="ko-KR" dirty="0"/>
              <a:t> 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2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HEAD@{3}: rebase (start): checkout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5f60148 HEAD@{4}: rebase (abort): returning to refs/heads/test-rebase2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2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fdaedca</a:t>
            </a:r>
            <a:r>
              <a:rPr lang="en" altLang="ko-KR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(main) HEAD@{5}: rebase (start): checkout main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5f60148 HEAD@{6}: rebase (abort): returning to refs/heads/test-rebase2</a:t>
            </a:r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2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a95ca20</a:t>
            </a:r>
            <a:r>
              <a:rPr lang="en" altLang="ko-KR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HEAD@{3}: commit: important fix</a:t>
            </a:r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en" altLang="ko-KR" sz="1100" dirty="0"/>
          </a:p>
          <a:p>
            <a:pPr marL="18097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##</a:t>
            </a:r>
            <a:r>
              <a:rPr lang="ko-KR" altLang="en-US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반드시 </a:t>
            </a:r>
            <a:r>
              <a:rPr lang="ko-KR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새 </a:t>
            </a:r>
            <a:r>
              <a:rPr lang="ko-KR" altLang="en-US" sz="11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브랜치로</a:t>
            </a:r>
            <a:r>
              <a:rPr lang="ko-KR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생성해야 안전하다</a:t>
            </a:r>
            <a:endParaRPr lang="en" altLang="ko-KR" sz="1100" dirty="0"/>
          </a:p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400" dirty="0">
                <a:solidFill>
                  <a:srgbClr val="795DA3"/>
                </a:solidFill>
                <a:effectLst/>
              </a:rPr>
              <a:t>git</a:t>
            </a:r>
            <a:r>
              <a:rPr lang="en" altLang="ko-KR" sz="1400" dirty="0"/>
              <a:t> branch </a:t>
            </a:r>
            <a:r>
              <a:rPr lang="en" altLang="ko-KR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restore-point</a:t>
            </a:r>
            <a:r>
              <a:rPr lang="en" altLang="ko-KR" sz="1400" dirty="0"/>
              <a:t> </a:t>
            </a:r>
            <a:r>
              <a:rPr lang="en" altLang="ko-KR" sz="1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a95ca20</a:t>
            </a:r>
            <a:endParaRPr lang="en" altLang="ko-KR" sz="11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CB8B3-A05D-279C-CB1D-255F57AF03C9}"/>
              </a:ext>
            </a:extLst>
          </p:cNvPr>
          <p:cNvSpPr txBox="1"/>
          <p:nvPr/>
        </p:nvSpPr>
        <p:spPr>
          <a:xfrm>
            <a:off x="6747773" y="1939405"/>
            <a:ext cx="25683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6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sz="1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통하지 않는 경우</a:t>
            </a:r>
            <a:endParaRPr kumimoji="1"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7793C-A472-84F6-4829-C10C7E298970}"/>
              </a:ext>
            </a:extLst>
          </p:cNvPr>
          <p:cNvSpPr txBox="1"/>
          <p:nvPr/>
        </p:nvSpPr>
        <p:spPr>
          <a:xfrm>
            <a:off x="6867417" y="2591008"/>
            <a:ext cx="442843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다음 상황에서는 복구 불가 또는 매우 어렵다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Garbage Collection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후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lvl="1"/>
            <a:r>
              <a:rPr lang="ko-KR" altLang="en-US" dirty="0">
                <a:solidFill>
                  <a:srgbClr val="795DA3"/>
                </a:solidFill>
                <a:effectLst/>
              </a:rPr>
              <a:t>        </a:t>
            </a:r>
            <a:endParaRPr lang="en" altLang="ko-KR" dirty="0">
              <a:solidFill>
                <a:schemeClr val="tx1">
                  <a:lumMod val="60000"/>
                  <a:lumOff val="40000"/>
                </a:schemeClr>
              </a:solidFill>
              <a:highlight>
                <a:srgbClr val="C0C0C0"/>
              </a:highlight>
            </a:endParaRPr>
          </a:p>
          <a:p>
            <a:pPr lvl="1"/>
            <a:endParaRPr lang="en-US" altLang="ko-KR" b="0" i="0" dirty="0">
              <a:solidFill>
                <a:schemeClr val="tx1">
                  <a:lumMod val="60000"/>
                  <a:lumOff val="40000"/>
                </a:schemeClr>
              </a:solidFill>
              <a:effectLst/>
              <a:highlight>
                <a:srgbClr val="C0C0C0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en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보존 기간 초과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( 90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일 보관 기본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다른 개발자의 로컬에서 발생한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</a:t>
            </a:r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원격에도 없고 로컬에도 없는 경우</a:t>
            </a:r>
            <a:b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</a:b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--&gt; </a:t>
            </a:r>
            <a:r>
              <a:rPr lang="en" altLang="ko-KR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reflog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로컬 자기 자신만 구해준다</a:t>
            </a:r>
          </a:p>
          <a:p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99343-978E-C9D4-6E74-845868ABC762}"/>
              </a:ext>
            </a:extLst>
          </p:cNvPr>
          <p:cNvSpPr txBox="1"/>
          <p:nvPr/>
        </p:nvSpPr>
        <p:spPr>
          <a:xfrm>
            <a:off x="323271" y="805066"/>
            <a:ext cx="11562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/>
              <a:t>Git </a:t>
            </a:r>
            <a:r>
              <a:rPr lang="en" altLang="ko-KR" dirty="0" err="1"/>
              <a:t>Reflog</a:t>
            </a:r>
            <a:r>
              <a:rPr lang="ko-KR" altLang="en-US" dirty="0"/>
              <a:t>는 </a:t>
            </a:r>
            <a:r>
              <a:rPr lang="ko-KR" altLang="en-US" dirty="0" err="1"/>
              <a:t>브랜치의</a:t>
            </a:r>
            <a:r>
              <a:rPr lang="ko-KR" altLang="en-US" dirty="0"/>
              <a:t> 선두</a:t>
            </a:r>
            <a:r>
              <a:rPr lang="en-US" altLang="ko-KR" dirty="0"/>
              <a:t>(</a:t>
            </a:r>
            <a:r>
              <a:rPr lang="en" altLang="ko-KR" dirty="0"/>
              <a:t>HEAD)</a:t>
            </a:r>
            <a:r>
              <a:rPr lang="ko-KR" altLang="en-US" dirty="0"/>
              <a:t>가 가리켰던 모든 변경 이력을 기록하여</a:t>
            </a:r>
            <a:r>
              <a:rPr lang="en-US" altLang="ko-KR" dirty="0"/>
              <a:t>, </a:t>
            </a:r>
            <a:r>
              <a:rPr lang="ko-KR" altLang="en-US" dirty="0"/>
              <a:t>실수로 삭제하거나 잃어버린 </a:t>
            </a:r>
            <a:r>
              <a:rPr lang="ko-KR" altLang="en-US" dirty="0" err="1"/>
              <a:t>커밋</a:t>
            </a:r>
            <a:r>
              <a:rPr lang="ko-KR" altLang="en-US" dirty="0"/>
              <a:t> 및 </a:t>
            </a:r>
            <a:r>
              <a:rPr lang="ko-KR" altLang="en-US" dirty="0" err="1"/>
              <a:t>브랜치까지</a:t>
            </a:r>
            <a:r>
              <a:rPr lang="ko-KR" altLang="en-US" dirty="0"/>
              <a:t> 추적하고 복구할 수 있게 해주는 </a:t>
            </a:r>
            <a:r>
              <a:rPr lang="en-US" altLang="ko-KR" dirty="0"/>
              <a:t>'</a:t>
            </a:r>
            <a:r>
              <a:rPr lang="ko-KR" altLang="en-US" dirty="0"/>
              <a:t>최후의 보루</a:t>
            </a:r>
            <a:r>
              <a:rPr lang="en-US" altLang="ko-KR" dirty="0"/>
              <a:t>'</a:t>
            </a:r>
            <a:r>
              <a:rPr lang="ko-KR" altLang="en-US" dirty="0"/>
              <a:t>와 같은 기능입니다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8B689C-8174-1BC5-D386-64BAD2C40BF3}"/>
              </a:ext>
            </a:extLst>
          </p:cNvPr>
          <p:cNvSpPr/>
          <p:nvPr/>
        </p:nvSpPr>
        <p:spPr>
          <a:xfrm>
            <a:off x="7321762" y="3388038"/>
            <a:ext cx="2086383" cy="3027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975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" altLang="ko-KR" sz="1100" dirty="0"/>
              <a:t>git </a:t>
            </a:r>
            <a:r>
              <a:rPr lang="en" altLang="ko-KR" sz="1100" dirty="0" err="1"/>
              <a:t>gc</a:t>
            </a:r>
            <a:endParaRPr lang="en" altLang="ko-KR" sz="1100" dirty="0"/>
          </a:p>
        </p:txBody>
      </p:sp>
    </p:spTree>
    <p:extLst>
      <p:ext uri="{BB962C8B-B14F-4D97-AF65-F5344CB8AC3E}">
        <p14:creationId xmlns:p14="http://schemas.microsoft.com/office/powerpoint/2010/main" val="4042700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branch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git-flow)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(1/2)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EC6C1-DA35-29B8-A831-4F42894C9F23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 err="1"/>
              <a:t>Gitflow</a:t>
            </a:r>
            <a:r>
              <a:rPr lang="ko-KR" altLang="en-US" dirty="0"/>
              <a:t>는 </a:t>
            </a:r>
            <a:r>
              <a:rPr lang="en" altLang="ko-KR" dirty="0"/>
              <a:t>main</a:t>
            </a:r>
            <a:r>
              <a:rPr lang="ko-KR" altLang="en-US" dirty="0"/>
              <a:t>과 </a:t>
            </a:r>
            <a:r>
              <a:rPr lang="en" altLang="ko-KR" dirty="0"/>
              <a:t>develop </a:t>
            </a:r>
            <a:r>
              <a:rPr lang="ko-KR" altLang="en-US" dirty="0" err="1"/>
              <a:t>브랜치를</a:t>
            </a:r>
            <a:r>
              <a:rPr lang="ko-KR" altLang="en-US" dirty="0"/>
              <a:t> 중심으로 기능 개발</a:t>
            </a:r>
            <a:r>
              <a:rPr lang="en-US" altLang="ko-KR" dirty="0"/>
              <a:t>, </a:t>
            </a:r>
            <a:r>
              <a:rPr lang="ko-KR" altLang="en-US" dirty="0"/>
              <a:t>출시 준비</a:t>
            </a:r>
            <a:r>
              <a:rPr lang="en-US" altLang="ko-KR" dirty="0"/>
              <a:t>, </a:t>
            </a:r>
            <a:r>
              <a:rPr lang="ko-KR" altLang="en-US" dirty="0"/>
              <a:t>긴급 수정 등 작업 목적에 따라 </a:t>
            </a:r>
            <a:r>
              <a:rPr lang="ko-KR" altLang="en-US" dirty="0" err="1"/>
              <a:t>브랜치를</a:t>
            </a:r>
            <a:r>
              <a:rPr lang="ko-KR" altLang="en-US" dirty="0"/>
              <a:t> 엄격히 구분하여 운영하는 워크플로우 이다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E16617-32C8-5615-1ADA-5444476B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7" y="2484876"/>
            <a:ext cx="5201194" cy="318721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40AB60C-2F6D-C7B5-FB64-E5B7D51B5FF4}"/>
              </a:ext>
            </a:extLst>
          </p:cNvPr>
          <p:cNvSpPr/>
          <p:nvPr/>
        </p:nvSpPr>
        <p:spPr bwMode="gray">
          <a:xfrm>
            <a:off x="7155582" y="1913703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ko-KR" sz="1300" b="1" dirty="0" err="1">
                <a:solidFill>
                  <a:schemeClr val="bg1"/>
                </a:solidFill>
                <a:latin typeface="+mj-ea"/>
                <a:ea typeface="+mj-ea"/>
              </a:rPr>
              <a:t>Gitflow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의 주요 장점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CD44D3-1492-701B-CE7A-6F4A2CC294E0}"/>
              </a:ext>
            </a:extLst>
          </p:cNvPr>
          <p:cNvSpPr/>
          <p:nvPr/>
        </p:nvSpPr>
        <p:spPr>
          <a:xfrm>
            <a:off x="6210615" y="2401510"/>
            <a:ext cx="5437304" cy="4231766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228600" indent="-228600" algn="l">
              <a:buAutoNum type="arabicPeriod"/>
            </a:pP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병렬 개발의 극대화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여러 팀원이 동시에 서로 다른 기능을 개발할 때 충돌을 최소화한다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각자 독립적으로 작업하므로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현재 작업 중인 기능이 타인의 미완성 코드에 영향을 받지 않는다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28600" indent="-228600" algn="l">
              <a:buAutoNum type="arabicPeriod"/>
            </a:pP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배포의 안정성 확보</a:t>
            </a: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 전용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release)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운영함으로써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다음 버전 출시를 준비하는 동안에도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브랜치에서는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차기 버전을 위한 개발을 멈추지 않고 지속한다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3.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긴급 수정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Hotfix)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대응 체계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서비스 중인 제품에서 치명적인 버그가 발생했을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현재 개발 중인 기능들과 상관없이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즉시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hotfix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생성하여 수정 및 배포할 수 있는 명확한 경로를 제공한다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4.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버전 관리의 명확성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브랜치는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항상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출시 가능한 상태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또는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현재 서비스 중인 상태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만을 유지한다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각 배포 시점마다 태그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Tag)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붙여 관리하기 때문에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특정 버전으로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롤백하거나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과거 상태를 확인하기가 매우 용이하다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5.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 리뷰와 품질 관리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기능 개발은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으로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병합되는 과정을 거친다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시점에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 Request(PR)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통한 코드 리뷰를 강제할 수 있어 전체적인 코드 품질을 높이는 장치가 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br>
              <a:rPr lang="ko-KR" altLang="en-US" sz="1100" dirty="0"/>
            </a:br>
            <a:endParaRPr lang="en-US" altLang="ko-KR" sz="1100" b="1" kern="0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ko-KR" altLang="en-US" sz="1100" b="1" kern="0" dirty="0">
              <a:solidFill>
                <a:srgbClr val="00277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1398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760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branch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git-flow)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(2/2)</a:t>
            </a:r>
            <a:endParaRPr lang="en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E16617-32C8-5615-1ADA-5444476B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10" y="2339597"/>
            <a:ext cx="5201194" cy="318721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40AB60C-2F6D-C7B5-FB64-E5B7D51B5FF4}"/>
              </a:ext>
            </a:extLst>
          </p:cNvPr>
          <p:cNvSpPr/>
          <p:nvPr/>
        </p:nvSpPr>
        <p:spPr bwMode="gray">
          <a:xfrm>
            <a:off x="6805204" y="2187045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 err="1">
                <a:solidFill>
                  <a:schemeClr val="bg1"/>
                </a:solidFill>
                <a:latin typeface="+mj-ea"/>
                <a:ea typeface="+mj-ea"/>
              </a:rPr>
              <a:t>브랜치별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 역할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917B37F-8CF2-3D33-6F93-279B6E9D6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132494"/>
              </p:ext>
            </p:extLst>
          </p:nvPr>
        </p:nvGraphicFramePr>
        <p:xfrm>
          <a:off x="5781434" y="2817494"/>
          <a:ext cx="5747657" cy="2831268"/>
        </p:xfrm>
        <a:graphic>
          <a:graphicData uri="http://schemas.openxmlformats.org/drawingml/2006/table">
            <a:tbl>
              <a:tblPr/>
              <a:tblGrid>
                <a:gridCol w="1405579">
                  <a:extLst>
                    <a:ext uri="{9D8B030D-6E8A-4147-A177-3AD203B41FA5}">
                      <a16:colId xmlns:a16="http://schemas.microsoft.com/office/drawing/2014/main" val="2303642259"/>
                    </a:ext>
                  </a:extLst>
                </a:gridCol>
                <a:gridCol w="4342078">
                  <a:extLst>
                    <a:ext uri="{9D8B030D-6E8A-4147-A177-3AD203B41FA5}">
                      <a16:colId xmlns:a16="http://schemas.microsoft.com/office/drawing/2014/main" val="3913278283"/>
                    </a:ext>
                  </a:extLst>
                </a:gridCol>
              </a:tblGrid>
              <a:tr h="471878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 err="1">
                          <a:solidFill>
                            <a:srgbClr val="000000"/>
                          </a:solidFill>
                          <a:effectLst/>
                        </a:rPr>
                        <a:t>브랜치명</a:t>
                      </a:r>
                      <a:endParaRPr lang="ko-KR" altLang="en-US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역할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586541"/>
                  </a:ext>
                </a:extLst>
              </a:tr>
              <a:tr h="471878">
                <a:tc>
                  <a:txBody>
                    <a:bodyPr/>
                    <a:lstStyle/>
                    <a:p>
                      <a:r>
                        <a:rPr lang="en" b="1" dirty="0">
                          <a:effectLst/>
                        </a:rPr>
                        <a:t>Main</a:t>
                      </a:r>
                      <a:r>
                        <a:rPr lang="en-US" altLang="ko-KR" b="1" dirty="0">
                          <a:effectLst/>
                        </a:rPr>
                        <a:t>(Master)</a:t>
                      </a:r>
                      <a:endParaRPr lang="en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제품으로 출시되는 최종적인 </a:t>
                      </a:r>
                      <a:r>
                        <a:rPr lang="ko-KR" altLang="en-US" sz="1200" dirty="0" err="1">
                          <a:effectLst/>
                        </a:rPr>
                        <a:t>브랜치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82442"/>
                  </a:ext>
                </a:extLst>
              </a:tr>
              <a:tr h="471878">
                <a:tc>
                  <a:txBody>
                    <a:bodyPr/>
                    <a:lstStyle/>
                    <a:p>
                      <a:r>
                        <a:rPr lang="en" b="1" dirty="0">
                          <a:effectLst/>
                        </a:rPr>
                        <a:t>Develop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다음 출시 버전을 위해 개발 중인 코드가 모이는 곳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80113"/>
                  </a:ext>
                </a:extLst>
              </a:tr>
              <a:tr h="471878">
                <a:tc>
                  <a:txBody>
                    <a:bodyPr/>
                    <a:lstStyle/>
                    <a:p>
                      <a:r>
                        <a:rPr lang="en" b="1" dirty="0">
                          <a:effectLst/>
                        </a:rPr>
                        <a:t>Feature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단위 기능을 개발하는 곳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" sz="1200" dirty="0">
                          <a:effectLst/>
                        </a:rPr>
                        <a:t>Develop</a:t>
                      </a:r>
                      <a:r>
                        <a:rPr lang="ko-KR" altLang="en-US" sz="1200" dirty="0">
                          <a:effectLst/>
                        </a:rPr>
                        <a:t>에서 분기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152606"/>
                  </a:ext>
                </a:extLst>
              </a:tr>
              <a:tr h="471878">
                <a:tc>
                  <a:txBody>
                    <a:bodyPr/>
                    <a:lstStyle/>
                    <a:p>
                      <a:r>
                        <a:rPr lang="en" b="1" dirty="0">
                          <a:effectLst/>
                        </a:rPr>
                        <a:t>Release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배포 전 최종 버그 수정 및 문서를 준비하는 곳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61614"/>
                  </a:ext>
                </a:extLst>
              </a:tr>
              <a:tr h="471878">
                <a:tc>
                  <a:txBody>
                    <a:bodyPr/>
                    <a:lstStyle/>
                    <a:p>
                      <a:r>
                        <a:rPr lang="en" b="1" dirty="0">
                          <a:effectLst/>
                        </a:rPr>
                        <a:t>Hotfix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effectLst/>
                        </a:rPr>
                        <a:t>출시 버전에서 발생한 긴급 버그를 수정하는 곳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998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0997B-DD03-D205-B94F-5A8BCD5666AB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en" altLang="ko-KR" dirty="0" err="1"/>
              <a:t>Gitflow</a:t>
            </a:r>
            <a:r>
              <a:rPr lang="ko-KR" altLang="en-US" dirty="0"/>
              <a:t>는 </a:t>
            </a:r>
            <a:r>
              <a:rPr lang="en" altLang="ko-KR" dirty="0"/>
              <a:t>main</a:t>
            </a:r>
            <a:r>
              <a:rPr lang="ko-KR" altLang="en-US" dirty="0"/>
              <a:t>과 </a:t>
            </a:r>
            <a:r>
              <a:rPr lang="en" altLang="ko-KR" dirty="0"/>
              <a:t>develop </a:t>
            </a:r>
            <a:r>
              <a:rPr lang="ko-KR" altLang="en-US" dirty="0" err="1"/>
              <a:t>브랜치를</a:t>
            </a:r>
            <a:r>
              <a:rPr lang="ko-KR" altLang="en-US" dirty="0"/>
              <a:t> 중심으로 기능 개발</a:t>
            </a:r>
            <a:r>
              <a:rPr lang="en-US" altLang="ko-KR" dirty="0"/>
              <a:t>, </a:t>
            </a:r>
            <a:r>
              <a:rPr lang="ko-KR" altLang="en-US" dirty="0"/>
              <a:t>출시 준비</a:t>
            </a:r>
            <a:r>
              <a:rPr lang="en-US" altLang="ko-KR" dirty="0"/>
              <a:t>, </a:t>
            </a:r>
            <a:r>
              <a:rPr lang="ko-KR" altLang="en-US" dirty="0"/>
              <a:t>긴급 수정 등 작업 목적에 따라 </a:t>
            </a:r>
            <a:r>
              <a:rPr lang="ko-KR" altLang="en-US" dirty="0" err="1"/>
              <a:t>브랜치를</a:t>
            </a:r>
            <a:r>
              <a:rPr lang="ko-KR" altLang="en-US" dirty="0"/>
              <a:t> 엄격히 구분하여 운영하는 워크플로우 이다</a:t>
            </a:r>
          </a:p>
        </p:txBody>
      </p:sp>
    </p:spTree>
    <p:extLst>
      <p:ext uri="{BB962C8B-B14F-4D97-AF65-F5344CB8AC3E}">
        <p14:creationId xmlns:p14="http://schemas.microsoft.com/office/powerpoint/2010/main" val="2123848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5F5FB-CE43-8287-80B5-99CE636D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00" y="1938758"/>
            <a:ext cx="6079437" cy="40087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918642" y="1805156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 err="1">
                <a:solidFill>
                  <a:schemeClr val="bg1"/>
                </a:solidFill>
                <a:latin typeface="+mj-ea"/>
                <a:ea typeface="+mj-ea"/>
              </a:rPr>
              <a:t>브랜치별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 역할 및 장점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6376205" y="2503654"/>
            <a:ext cx="5434084" cy="370018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algn="l"/>
            <a:r>
              <a:rPr lang="en-US" altLang="ko-KR" sz="1400" b="1" dirty="0"/>
              <a:t>[1].</a:t>
            </a:r>
            <a:r>
              <a:rPr lang="ko-KR" altLang="en-US" sz="1400" b="1" dirty="0"/>
              <a:t>  </a:t>
            </a:r>
            <a:r>
              <a:rPr lang="ko-KR" altLang="en-US" sz="1400" b="1" dirty="0" err="1"/>
              <a:t>브랜치</a:t>
            </a:r>
            <a:r>
              <a:rPr lang="ko-KR" altLang="en-US" sz="1400" b="1" dirty="0"/>
              <a:t> 역할</a:t>
            </a:r>
            <a:endParaRPr lang="en-US" altLang="ko-KR" sz="1400" b="1" dirty="0"/>
          </a:p>
          <a:p>
            <a:pPr algn="l"/>
            <a:endParaRPr lang="en-US" altLang="ko-KR" sz="1400" b="1" dirty="0"/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로컬 단계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개발 </a:t>
            </a:r>
            <a:r>
              <a:rPr lang="en" altLang="ko-KR" sz="1200" b="1" dirty="0"/>
              <a:t>VDI):</a:t>
            </a:r>
            <a:r>
              <a:rPr lang="en" altLang="ko-KR" sz="1200" dirty="0"/>
              <a:t> </a:t>
            </a:r>
            <a:r>
              <a:rPr lang="ko-KR" altLang="en-US" sz="1200" dirty="0"/>
              <a:t>개별 기능 단위로 파일을 수정하고 </a:t>
            </a:r>
            <a:r>
              <a:rPr lang="en" altLang="ko-KR" sz="1200" dirty="0"/>
              <a:t>Commit</a:t>
            </a:r>
            <a:r>
              <a:rPr lang="ko-KR" altLang="en-US" sz="1200" dirty="0"/>
              <a:t>을 발생시키는 출발점</a:t>
            </a:r>
            <a:r>
              <a:rPr lang="ko-KR" altLang="en-US" sz="1200" dirty="0">
                <a:highlight>
                  <a:srgbClr val="FFFFFF"/>
                </a:highlight>
                <a:latin typeface="Helvetica Neue" panose="02000503000000020004" pitchFamily="2" charset="0"/>
              </a:rPr>
              <a:t>이다</a:t>
            </a:r>
            <a:endParaRPr lang="en-US" altLang="ko-KR" sz="1200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통합 및 검증</a:t>
            </a:r>
            <a:r>
              <a:rPr lang="en-US" altLang="ko-KR" sz="1200" b="1" dirty="0"/>
              <a:t>:</a:t>
            </a:r>
            <a:r>
              <a:rPr lang="ko-KR" altLang="en-US" sz="1200" dirty="0"/>
              <a:t> </a:t>
            </a:r>
            <a:r>
              <a:rPr lang="en" altLang="ko-KR" sz="1200" dirty="0"/>
              <a:t>feature </a:t>
            </a:r>
            <a:r>
              <a:rPr lang="ko-KR" altLang="en-US" sz="1200" dirty="0" err="1"/>
              <a:t>브랜치에서</a:t>
            </a:r>
            <a:r>
              <a:rPr lang="ko-KR" altLang="en-US" sz="1200" dirty="0"/>
              <a:t> 작업된 코드가 상위 </a:t>
            </a:r>
            <a:r>
              <a:rPr lang="ko-KR" altLang="en-US" sz="1200" dirty="0" err="1"/>
              <a:t>브랜치인</a:t>
            </a:r>
            <a:r>
              <a:rPr lang="ko-KR" altLang="en-US" sz="1200" dirty="0"/>
              <a:t> </a:t>
            </a:r>
            <a:r>
              <a:rPr lang="en" altLang="ko-KR" sz="1200" dirty="0"/>
              <a:t>dev → </a:t>
            </a:r>
            <a:r>
              <a:rPr lang="en" altLang="ko-KR" sz="1200" dirty="0" err="1"/>
              <a:t>tst</a:t>
            </a:r>
            <a:r>
              <a:rPr lang="en" altLang="ko-KR" sz="1200" dirty="0"/>
              <a:t> → release</a:t>
            </a:r>
            <a:r>
              <a:rPr lang="ko-KR" altLang="en-US" sz="1200" dirty="0"/>
              <a:t>로 순차적으로 전달되며 테스트를 거친다</a:t>
            </a:r>
            <a:endParaRPr lang="en-US" altLang="ko-KR" sz="1200" dirty="0"/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최종 배포</a:t>
            </a:r>
            <a:r>
              <a:rPr lang="en-US" altLang="ko-KR" sz="1200" b="1" dirty="0"/>
              <a:t>:</a:t>
            </a:r>
            <a:r>
              <a:rPr lang="ko-KR" altLang="en-US" sz="1200" dirty="0"/>
              <a:t> 모든 검증이 완료된 코드는 최상위 </a:t>
            </a:r>
            <a:r>
              <a:rPr lang="en" altLang="ko-KR" sz="1200" dirty="0"/>
              <a:t>main </a:t>
            </a:r>
            <a:r>
              <a:rPr lang="ko-KR" altLang="en-US" sz="1200" dirty="0" err="1"/>
              <a:t>브랜치로</a:t>
            </a:r>
            <a:r>
              <a:rPr lang="ko-KR" altLang="en-US" sz="1200" dirty="0"/>
              <a:t> 병합되며</a:t>
            </a:r>
            <a:r>
              <a:rPr lang="en-US" altLang="ko-KR" sz="1200" dirty="0"/>
              <a:t>, </a:t>
            </a:r>
            <a:r>
              <a:rPr lang="ko-KR" altLang="en-US" sz="1200" dirty="0"/>
              <a:t>이때 버전 </a:t>
            </a:r>
            <a:r>
              <a:rPr lang="en" altLang="ko-KR" sz="1200" dirty="0"/>
              <a:t>Tag</a:t>
            </a:r>
            <a:r>
              <a:rPr lang="ko-KR" altLang="en-US" sz="1200" dirty="0"/>
              <a:t>가 자동으로 생성되어 배포 이력이 관리된다</a:t>
            </a:r>
            <a:endParaRPr lang="en-US" altLang="ko-KR" sz="1200" dirty="0"/>
          </a:p>
          <a:p>
            <a:pPr marL="228600" indent="-228600" algn="l">
              <a:buAutoNum type="arabicPeriod"/>
            </a:pPr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[2].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장점</a:t>
            </a:r>
            <a:endParaRPr lang="en-US" altLang="ko-KR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200" b="1" dirty="0"/>
              <a:t>병렬 개발의 극대화</a:t>
            </a: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여러 팀원이 동시에 서로 다른 기능을 개발할 때 충돌을 최소화한다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각자 독립적으로 작업하므로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현재 작업 중인 기능이 타인의 미완성 코드에 영향을 받지 않는다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28600" indent="-228600" algn="l">
              <a:buAutoNum type="arabicPeriod"/>
            </a:pP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배포의 안정성 확보</a:t>
            </a: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 전용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release)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운영함으로써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다음 버전 출시를 준비하는 동안에도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develop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브랜치에서는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차기 버전을 위한 개발을 멈추지 않고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지속할수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7A47C-3D7A-E911-94C0-DF7473B9FA5F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/>
              <a:t>개발자가 </a:t>
            </a:r>
            <a:r>
              <a:rPr lang="en" altLang="ko-KR" dirty="0"/>
              <a:t>Feature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작업한 내용을 </a:t>
            </a:r>
            <a:r>
              <a:rPr lang="en" altLang="ko-KR" dirty="0"/>
              <a:t>Local</a:t>
            </a:r>
            <a:r>
              <a:rPr lang="ko-KR" altLang="en-US" dirty="0"/>
              <a:t>에서 </a:t>
            </a:r>
            <a:r>
              <a:rPr lang="en" altLang="ko-KR" dirty="0"/>
              <a:t>Commit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(</a:t>
            </a:r>
            <a:r>
              <a:rPr lang="en" altLang="ko-KR" dirty="0"/>
              <a:t>dev)</a:t>
            </a:r>
            <a:r>
              <a:rPr lang="ko-KR" altLang="en-US" dirty="0" err="1"/>
              <a:t>부터</a:t>
            </a:r>
            <a:r>
              <a:rPr lang="ko-KR" altLang="en-US" dirty="0"/>
              <a:t> 운영</a:t>
            </a:r>
            <a:r>
              <a:rPr lang="en-US" altLang="ko-KR" dirty="0"/>
              <a:t>(</a:t>
            </a:r>
            <a:r>
              <a:rPr lang="en" altLang="ko-KR" dirty="0"/>
              <a:t>main)</a:t>
            </a:r>
            <a:r>
              <a:rPr lang="ko-KR" altLang="en-US" dirty="0"/>
              <a:t>까지 단계별 </a:t>
            </a:r>
            <a:r>
              <a:rPr lang="ko-KR" altLang="en-US" dirty="0" err="1"/>
              <a:t>브랜치로</a:t>
            </a:r>
            <a:r>
              <a:rPr lang="ko-KR" altLang="en-US" dirty="0"/>
              <a:t> 병합하며 검증 및 배포를 진행하는 선형적 </a:t>
            </a:r>
            <a:r>
              <a:rPr lang="en" altLang="ko-KR" dirty="0" err="1"/>
              <a:t>GitFlow</a:t>
            </a:r>
            <a:r>
              <a:rPr lang="ko-KR" altLang="en-US" dirty="0"/>
              <a:t>의</a:t>
            </a:r>
            <a:r>
              <a:rPr lang="en" altLang="ko-KR" dirty="0"/>
              <a:t> </a:t>
            </a:r>
            <a:r>
              <a:rPr lang="ko-KR" altLang="en-US" dirty="0"/>
              <a:t>변형된 프로세스입니다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800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5F5FB-CE43-8287-80B5-99CE636D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8" y="2163789"/>
            <a:ext cx="4918288" cy="29090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535045" y="964189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주요 개선점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5273060" y="1427156"/>
            <a:ext cx="6688182" cy="5077934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228600" indent="-228600">
              <a:buFont typeface="Arial"/>
              <a:buAutoNum type="arabicPeriod"/>
            </a:pP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브랜치의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수명이 길수로 따른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충돌의 </a:t>
            </a: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 Hell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발생</a:t>
            </a:r>
          </a:p>
          <a:p>
            <a:pPr algn="l"/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그림을 보면 개발자가 로컬에서 여러 번 </a:t>
            </a:r>
            <a:r>
              <a:rPr lang="ko-KR" altLang="en-US" sz="1000" dirty="0" err="1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쌓은 후</a:t>
            </a:r>
            <a:r>
              <a:rPr lang="en-US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단계 </a:t>
            </a:r>
            <a:r>
              <a:rPr lang="en-US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2), </a:t>
            </a:r>
            <a:r>
              <a:rPr lang="en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dev -&gt; </a:t>
            </a:r>
            <a:r>
              <a:rPr lang="en" altLang="ko-KR" sz="1000" dirty="0" err="1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tst</a:t>
            </a:r>
            <a:r>
              <a:rPr lang="en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-&gt; release 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순으로 순차적으로 </a:t>
            </a:r>
            <a:r>
              <a:rPr lang="ko-KR" altLang="en-US" sz="1000" dirty="0" err="1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한다</a:t>
            </a:r>
            <a:endParaRPr lang="en-US" altLang="ko-KR" sz="10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개선점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갈라져 나온 지 오래된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일수록 나중에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release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나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합칠 때 </a:t>
            </a:r>
            <a:r>
              <a:rPr lang="ko-KR" altLang="en-US" sz="11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 충돌</a:t>
            </a:r>
            <a:r>
              <a:rPr lang="en-US" altLang="ko-KR" sz="11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1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Conflict)</a:t>
            </a:r>
            <a:r>
              <a:rPr lang="en" altLang="ko-KR" sz="11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기하급수적으로 늘어 날수 있다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 배포 직전에 코드 충돌을 해결하느라 시간을 다 허비하게 되며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과정에서 다른 팀의 코드를 잘못 건드려 장애가 발생할 위험이 크다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2.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릴리즈 </a:t>
            </a:r>
            <a:r>
              <a:rPr lang="ko-KR" altLang="en-US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병목 현상</a:t>
            </a:r>
          </a:p>
          <a:p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모든 팀의 기능이 결국 하나의 </a:t>
            </a:r>
            <a:r>
              <a:rPr lang="en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release </a:t>
            </a:r>
            <a:r>
              <a:rPr lang="ko-KR" altLang="en-US" sz="1000" dirty="0" err="1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브랜치로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모여 </a:t>
            </a:r>
            <a:r>
              <a:rPr lang="en" altLang="ko-KR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dirty="0" err="1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으로</a:t>
            </a:r>
            <a:r>
              <a:rPr lang="ko-KR" altLang="en-US" sz="1000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가야 한다</a:t>
            </a:r>
            <a:endParaRPr lang="en-US" altLang="ko-KR" sz="10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개선점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특정 팀의 기능에 결함이 발견되어 배포를 취소해야 한다면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해당 팀의 코드만 골라내기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Cherry-pick)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매우 어려워진다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결국 문제 없는 다른 팀의 기능까지 줄줄이 배포가 지연되는 막힘 현상이 발생할 수 있다</a:t>
            </a:r>
          </a:p>
          <a:p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3.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환경별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동기화 오류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그림의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3, 4, 5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단계를 보면 동일한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dev, </a:t>
            </a:r>
            <a:r>
              <a:rPr lang="en" altLang="ko-KR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tst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release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각각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된다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개선점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이론적으로는 같아야 하지만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수동 개입이나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순서의 차이로 인해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 서버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에서는 됐는데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테스트 서버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tst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나 운영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release)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에서는 안 되는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상황이 빈번해 질 수 있다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환경 간 코드 일관성을 보장하기 어렵고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운영 배포 직전에 예상치 못한 인프라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 이슈가 터질 확률이 높다</a:t>
            </a:r>
          </a:p>
          <a:p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4. 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복잡한 승인 프로세스로 인한 피드백 지연</a:t>
            </a: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IT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업무 요청 포털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통해 배포 승인을 받는 단계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(3, 4, 5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매번 존재할 수 있다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개선점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금융권의 규제 준수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Compliance)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때문이겠지만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개발자가 코드를 작성한 후 실제 반영 결과를 보기까지 너무 많은 대기 시간이 발생 할 수 있다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en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CI(</a:t>
            </a:r>
            <a:r>
              <a:rPr lang="ko-KR" altLang="en-US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지속적 통합</a:t>
            </a:r>
            <a:r>
              <a:rPr lang="en-US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r>
              <a:rPr lang="ko-KR" altLang="en-US" sz="10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본질인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빠른 실패와 빠른 수정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불가능 해지며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 생산성이 크게 저하 될 수 있다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5. 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긴 호흡의 배포 주기로 인한 리스크 증대</a:t>
            </a: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6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번 단계에서 </a:t>
            </a:r>
            <a:r>
              <a:rPr lang="ko-KR" altLang="en-US" sz="10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예정된 배포 시점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한꺼번에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하고 태그를 생성한다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개선점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한 번에 너무 많은 변경 사항이 운영 환경에 반영된다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변경 범위가 클수록 장애 발생 시 </a:t>
            </a:r>
            <a:r>
              <a:rPr lang="ko-KR" altLang="en-US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원인 파악</a:t>
            </a:r>
            <a:r>
              <a:rPr lang="ko-KR" altLang="en-US" sz="10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 매우 힘들어질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결과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장애 대응 시간이 길어지고 시스템 전체의 안정성에 리스크가 존재할 수 있다</a:t>
            </a:r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318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(3/8)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5F5FB-CE43-8287-80B5-99CE636D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26" y="2415516"/>
            <a:ext cx="4918288" cy="29090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524535" y="1880620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주요 개선 방안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5464818" y="2526612"/>
            <a:ext cx="6572536" cy="377163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lvl="1"/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[1] 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현재의 긴 호흡의 </a:t>
            </a:r>
            <a:r>
              <a:rPr lang="en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전략을 단기 </a:t>
            </a:r>
            <a:r>
              <a:rPr lang="ko-KR" altLang="en-US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b="1" dirty="0">
                <a:highlight>
                  <a:srgbClr val="FFFFFF"/>
                </a:highlight>
                <a:latin typeface="Helvetica Neue" panose="02000503000000020004" pitchFamily="2" charset="0"/>
              </a:rPr>
              <a:t> 전략으로 전환</a:t>
            </a:r>
          </a:p>
          <a:p>
            <a:pPr algn="l"/>
            <a:endParaRPr lang="en-US" altLang="ko-KR" sz="10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1.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변경 사항 최소화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수명을 최대한 짧게 설정한다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기능이 완성되지 않았더라도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수시로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짧은 수명이라 함은 전체 기능 개발을 끝내라는 뜻이 아니라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 통합의 주기를 의미이다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기능 하나가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주짜리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작업이라면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완성되지 않은 코드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미리 합치는 것이 핵심입니다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예를 들어 다음과 같이 시도해 볼 수 있을 것이다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최대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3~4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일 원칙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아무리 복잡한 기능이라도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3~4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일 이상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과 떨어져 있지 않게 한다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부분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기능이 미완성이더라도 </a:t>
            </a:r>
            <a:r>
              <a:rPr lang="ko-KR" altLang="en-US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공통 영역</a:t>
            </a:r>
            <a:r>
              <a:rPr lang="en-US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Util, Config, DB Schema)</a:t>
            </a:r>
            <a:r>
              <a:rPr lang="en" altLang="ko-KR" sz="10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대한 변경은 작업 즉시 먼저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반영하여 타 팀에 전파 한다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Sync-up Day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매주 화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목요일 등 특정 요일을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동기화의 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'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정해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팀이 강제로 상위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최신 코드를 자신의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하게 한다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0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200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2.</a:t>
            </a:r>
            <a:r>
              <a:rPr lang="ko-KR" altLang="en-US" sz="1200" b="1" dirty="0">
                <a:solidFill>
                  <a:srgbClr val="333333"/>
                </a:solidFill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Feature Toggle (</a:t>
            </a:r>
            <a:r>
              <a:rPr lang="ko-KR" altLang="en-US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기능 </a:t>
            </a:r>
            <a:r>
              <a:rPr lang="ko-KR" altLang="en-US" sz="1200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토글</a:t>
            </a:r>
            <a:r>
              <a:rPr lang="en-US" altLang="ko-KR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) </a:t>
            </a:r>
            <a:r>
              <a:rPr lang="ko-KR" altLang="en-US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활용</a:t>
            </a:r>
            <a:r>
              <a:rPr lang="en-US" altLang="ko-KR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b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</a:br>
            <a:endParaRPr lang="en-US" altLang="ko-KR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-US" altLang="ko-KR" sz="10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미완성된 기능이 포함된 코드가 상위 환경으로 올라가더라도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설정값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ON/OFF)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통해 사용자에게 노출되지 않게 제어한다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이를 통해 </a:t>
            </a:r>
            <a:r>
              <a:rPr lang="ko-KR" altLang="en-US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코드는 미리 합치고</a:t>
            </a:r>
            <a:r>
              <a:rPr lang="en-US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기능은 나중에 배포</a:t>
            </a:r>
            <a:r>
              <a:rPr lang="ko-KR" altLang="en-US" sz="10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하는 것이 가능해진다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이미 상위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들어가 있지만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사용자 화면이나 실행 로직에서는 스위치를 꺼두는 것과 같다</a:t>
            </a:r>
          </a:p>
          <a:p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2EC9CB-F1D5-2333-7DB3-7793DF021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775" y="4852808"/>
            <a:ext cx="1546496" cy="773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7BA74-A435-2421-550A-5164F7D26074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/>
              <a:t>개발자가 </a:t>
            </a:r>
            <a:r>
              <a:rPr lang="en" altLang="ko-KR" dirty="0"/>
              <a:t>Feature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작업한 내용을 </a:t>
            </a:r>
            <a:r>
              <a:rPr lang="en" altLang="ko-KR" dirty="0"/>
              <a:t>Local</a:t>
            </a:r>
            <a:r>
              <a:rPr lang="ko-KR" altLang="en-US" dirty="0"/>
              <a:t>에서 </a:t>
            </a:r>
            <a:r>
              <a:rPr lang="en" altLang="ko-KR" dirty="0"/>
              <a:t>Commit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(</a:t>
            </a:r>
            <a:r>
              <a:rPr lang="en" altLang="ko-KR" dirty="0"/>
              <a:t>dev)</a:t>
            </a:r>
            <a:r>
              <a:rPr lang="ko-KR" altLang="en-US" dirty="0" err="1"/>
              <a:t>부터</a:t>
            </a:r>
            <a:r>
              <a:rPr lang="ko-KR" altLang="en-US" dirty="0"/>
              <a:t> 운영</a:t>
            </a:r>
            <a:r>
              <a:rPr lang="en-US" altLang="ko-KR" dirty="0"/>
              <a:t>(</a:t>
            </a:r>
            <a:r>
              <a:rPr lang="en" altLang="ko-KR" dirty="0"/>
              <a:t>main)</a:t>
            </a:r>
            <a:r>
              <a:rPr lang="ko-KR" altLang="en-US" dirty="0"/>
              <a:t>까지 단계별 </a:t>
            </a:r>
            <a:r>
              <a:rPr lang="ko-KR" altLang="en-US" dirty="0" err="1"/>
              <a:t>브랜치로</a:t>
            </a:r>
            <a:r>
              <a:rPr lang="ko-KR" altLang="en-US" dirty="0"/>
              <a:t> 병합하며 검증 및 배포를 진행하는 선형적 </a:t>
            </a:r>
            <a:r>
              <a:rPr lang="en" altLang="ko-KR" dirty="0" err="1"/>
              <a:t>GitFlow</a:t>
            </a:r>
            <a:r>
              <a:rPr lang="ko-KR" altLang="en-US" dirty="0"/>
              <a:t>의</a:t>
            </a:r>
            <a:r>
              <a:rPr lang="en" altLang="ko-KR" dirty="0"/>
              <a:t> </a:t>
            </a:r>
            <a:r>
              <a:rPr lang="ko-KR" altLang="en-US" dirty="0"/>
              <a:t>변형된 프로세스입니다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305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(4/8)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5F5FB-CE43-8287-80B5-99CE636D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3" y="2016252"/>
            <a:ext cx="4918288" cy="29090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525454" y="1611168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개선 방안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5237753" y="2101710"/>
            <a:ext cx="6572536" cy="4617020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lvl="1"/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[2]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프로세스적 관점의 대안</a:t>
            </a: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lvl="1"/>
            <a:endParaRPr lang="en-US" altLang="ko-KR" sz="10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28600" indent="-228600" algn="l">
              <a:buAutoNum type="arabicPeriod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상위 </a:t>
            </a:r>
            <a:r>
              <a:rPr lang="ko-KR" altLang="en-US" sz="12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수시 반영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개발자는 자신의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최신 코드를 매일 아침 혹은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Sync-up Day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하거나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해야 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local main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pull --&gt; local feature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브랜치에는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검증되지 않은 타 팀의 버그 섞인 코드나 수시로 바뀌는 코드가 섞여 있기 때문에 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머지하는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것은 부담일수 밖에 없다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하여 직접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하는것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보다 아래와 같이 진행을 추천한다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" altLang="ko-KR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Integration </a:t>
            </a:r>
            <a:r>
              <a:rPr lang="ko-KR" altLang="en-US" sz="1200" b="1" dirty="0" err="1">
                <a:highlight>
                  <a:srgbClr val="FFFFFF"/>
                </a:highlight>
                <a:latin typeface="Helvetica Neue" panose="02000503000000020004" pitchFamily="2" charset="0"/>
              </a:rPr>
              <a:t>브랜치라는</a:t>
            </a:r>
            <a:r>
              <a:rPr lang="ko-KR" altLang="en-US" sz="1200" b="1" dirty="0">
                <a:highlight>
                  <a:srgbClr val="FFFFFF"/>
                </a:highlight>
                <a:latin typeface="Helvetica Neue" panose="02000503000000020004" pitchFamily="2" charset="0"/>
              </a:rPr>
              <a:t> 완충지대 활용</a:t>
            </a:r>
            <a:endParaRPr lang="en-US" altLang="ko-KR" sz="12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바로 합치기 전에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관련 있는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팀들끼리만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모여서 합쳐보는 중간 단계를 둔다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구조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A + Feature B → </a:t>
            </a:r>
            <a:r>
              <a:rPr lang="en" altLang="ko-KR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Integration_Team_AB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endParaRPr lang="ko-KR" altLang="en-US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이유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전체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와 합치기 전에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직접적으로 충돌 가능성이 높은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팀끼리만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미리 코드를 맞춰보고 검증한다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여기서 해결된 코드를 나중에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올리면 전체 충돌 리스크가 확연히 줄어든다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3.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공통 영역만 선별적 반영</a:t>
            </a:r>
            <a:endParaRPr lang="ko-KR" altLang="en-US" sz="12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모든 코드를 합치는 게 부담스럽다면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충돌이 가장 잦은 영역만 타겟팅 한다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대상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공통 설정 파일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XML, Config),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공통 유틸리티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DB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스키마 등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방법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타 팀이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머지한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내용 중 공통 영역에 변화가 생겼을 때만 공유 받아 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반영한다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이는 팀 간 커뮤니케이션이나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Gitlab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알림 설정을 통해 보완할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en-US" altLang="ko-KR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4. 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보다는 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</a:t>
            </a:r>
            <a:r>
              <a:rPr lang="ko-KR" altLang="en-US" sz="12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권장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이력 보존 측면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현재 가이드에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가 언급되어 있지만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타 팀의 코드가 섞인 상황에서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자주 하면 히스토리가 꼬여서 복구가 어려울 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있도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있다</a:t>
            </a:r>
            <a:endParaRPr lang="en-US" altLang="ko-KR" sz="1000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권고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상위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내용을 가져올 때는 </a:t>
            </a:r>
            <a:r>
              <a:rPr lang="en" altLang="ko-KR" sz="1000" b="1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merge main</a:t>
            </a:r>
            <a:r>
              <a:rPr lang="en" altLang="ko-KR" sz="1000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사용한다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이유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언제 상위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내용을 반영했는지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대한 기록이 남기 때문에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나중에 문제가 생겨도 해당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커밋을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취소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Revert)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하기가 훨씬 수월해 진다</a:t>
            </a: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권고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안에서는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커밋들을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깔끔하게 유지하고 싶다면 로컬에서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사용한다</a:t>
            </a:r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43025-E232-DA8D-B0DF-D3837087527F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/>
              <a:t>개발자가 </a:t>
            </a:r>
            <a:r>
              <a:rPr lang="en" altLang="ko-KR" dirty="0"/>
              <a:t>Feature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작업한 내용을 </a:t>
            </a:r>
            <a:r>
              <a:rPr lang="en" altLang="ko-KR" dirty="0"/>
              <a:t>Local</a:t>
            </a:r>
            <a:r>
              <a:rPr lang="ko-KR" altLang="en-US" dirty="0"/>
              <a:t>에서 </a:t>
            </a:r>
            <a:r>
              <a:rPr lang="en" altLang="ko-KR" dirty="0"/>
              <a:t>Commit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(</a:t>
            </a:r>
            <a:r>
              <a:rPr lang="en" altLang="ko-KR" dirty="0"/>
              <a:t>dev)</a:t>
            </a:r>
            <a:r>
              <a:rPr lang="ko-KR" altLang="en-US" dirty="0" err="1"/>
              <a:t>부터</a:t>
            </a:r>
            <a:r>
              <a:rPr lang="ko-KR" altLang="en-US" dirty="0"/>
              <a:t> 운영</a:t>
            </a:r>
            <a:r>
              <a:rPr lang="en-US" altLang="ko-KR" dirty="0"/>
              <a:t>(</a:t>
            </a:r>
            <a:r>
              <a:rPr lang="en" altLang="ko-KR" dirty="0"/>
              <a:t>main)</a:t>
            </a:r>
            <a:r>
              <a:rPr lang="ko-KR" altLang="en-US" dirty="0"/>
              <a:t>까지 단계별 </a:t>
            </a:r>
            <a:r>
              <a:rPr lang="ko-KR" altLang="en-US" dirty="0" err="1"/>
              <a:t>브랜치로</a:t>
            </a:r>
            <a:r>
              <a:rPr lang="ko-KR" altLang="en-US" dirty="0"/>
              <a:t> 병합하며 검증 및 배포를 진행하는 선형적 </a:t>
            </a:r>
            <a:r>
              <a:rPr lang="en" altLang="ko-KR" dirty="0" err="1"/>
              <a:t>GitFlow</a:t>
            </a:r>
            <a:r>
              <a:rPr lang="ko-KR" altLang="en-US" dirty="0"/>
              <a:t>의</a:t>
            </a:r>
            <a:r>
              <a:rPr lang="en" altLang="ko-KR" dirty="0"/>
              <a:t> </a:t>
            </a:r>
            <a:r>
              <a:rPr lang="ko-KR" altLang="en-US" dirty="0"/>
              <a:t>변형된 프로세스입니다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3081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(5/8)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690067" y="2232930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+mj-ea"/>
                <a:ea typeface="+mj-ea"/>
              </a:rPr>
              <a:t>Git Conflict 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대응 가이드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5451722" y="2748008"/>
            <a:ext cx="6572536" cy="2909049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42900" lvl="1" indent="-342900">
              <a:buAutoNum type="arabicPeriod"/>
            </a:pP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Conflict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발생 이유</a:t>
            </a: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342900" lvl="1" indent="-342900">
              <a:buAutoNum type="arabicPeriod"/>
            </a:pPr>
            <a:endParaRPr lang="en-US" altLang="ko-KR" sz="14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동일한 파일의 동일한 라인을 서로 다른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브랜치에서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수정했을 때 발생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모놀리식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구조에서 공통 모듈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Util, Config, Common XML)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여러 팀이 동시에 수정하며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통합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Merge)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주기가 길어질수록 발생 빈도가 높아짐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2.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조치 주의사항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백업 필수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충돌 해결 전 현재 상태를 별도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브랜치로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백업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e.g., feature/</a:t>
            </a:r>
            <a:r>
              <a:rPr lang="en" altLang="ko-KR" sz="12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login_backup</a:t>
            </a:r>
            <a:r>
              <a:rPr lang="en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임의 판단 금지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타 팀 코드를 삭제하거나 수정할 때는 반드시 해당 담당자와 협의 후 진행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2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단위 테스트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충돌 해결 후에는 반드시 로컬 빌드 및 단위 테스트를 통과해야 함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br>
              <a:rPr lang="ko-KR" altLang="en-US" dirty="0"/>
            </a:br>
            <a:endParaRPr lang="en-US" altLang="ko-KR" sz="10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ko-KR" altLang="en-US" sz="10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6E7641-728F-901D-E672-E4E9CAECB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26" y="2748008"/>
            <a:ext cx="4918288" cy="2909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3C91DF-AAB0-8F8A-187F-C26FB3283A8B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/>
              <a:t>개발자가 </a:t>
            </a:r>
            <a:r>
              <a:rPr lang="en" altLang="ko-KR" dirty="0"/>
              <a:t>Feature </a:t>
            </a:r>
            <a:r>
              <a:rPr lang="ko-KR" altLang="en-US" dirty="0" err="1"/>
              <a:t>브랜치</a:t>
            </a:r>
            <a:r>
              <a:rPr lang="en-US" altLang="ko-KR" dirty="0"/>
              <a:t> </a:t>
            </a:r>
            <a:r>
              <a:rPr lang="ko-KR" altLang="en-US" dirty="0"/>
              <a:t>에서 작업한 내용을 </a:t>
            </a:r>
            <a:r>
              <a:rPr lang="en" altLang="ko-KR" dirty="0"/>
              <a:t>Local</a:t>
            </a:r>
            <a:r>
              <a:rPr lang="ko-KR" altLang="en-US" dirty="0"/>
              <a:t>에서 </a:t>
            </a:r>
            <a:r>
              <a:rPr lang="en" altLang="ko-KR" dirty="0"/>
              <a:t>Commit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(</a:t>
            </a:r>
            <a:r>
              <a:rPr lang="en" altLang="ko-KR" dirty="0"/>
              <a:t>dev)</a:t>
            </a:r>
            <a:r>
              <a:rPr lang="ko-KR" altLang="en-US" dirty="0" err="1"/>
              <a:t>부터</a:t>
            </a:r>
            <a:r>
              <a:rPr lang="ko-KR" altLang="en-US" dirty="0"/>
              <a:t> 운영</a:t>
            </a:r>
            <a:r>
              <a:rPr lang="en-US" altLang="ko-KR" dirty="0"/>
              <a:t>(</a:t>
            </a:r>
            <a:r>
              <a:rPr lang="en" altLang="ko-KR" dirty="0"/>
              <a:t>main)</a:t>
            </a:r>
            <a:r>
              <a:rPr lang="ko-KR" altLang="en-US" dirty="0"/>
              <a:t>까지 단계별 </a:t>
            </a:r>
            <a:r>
              <a:rPr lang="ko-KR" altLang="en-US" dirty="0" err="1"/>
              <a:t>브랜치로</a:t>
            </a:r>
            <a:r>
              <a:rPr lang="ko-KR" altLang="en-US" dirty="0"/>
              <a:t> 병합하며 검증 및 배포를 진행하는 선형적 </a:t>
            </a:r>
            <a:r>
              <a:rPr lang="en" altLang="ko-KR" dirty="0" err="1"/>
              <a:t>GitFlow</a:t>
            </a:r>
            <a:r>
              <a:rPr lang="ko-KR" altLang="en-US" dirty="0"/>
              <a:t>의</a:t>
            </a:r>
            <a:r>
              <a:rPr lang="en" altLang="ko-KR" dirty="0"/>
              <a:t> </a:t>
            </a:r>
            <a:r>
              <a:rPr lang="ko-KR" altLang="en-US" dirty="0"/>
              <a:t>변형된 프로세스입니다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378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(6/8)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942BCA-3211-D1C8-F404-CACC9F40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126" y="1929929"/>
            <a:ext cx="6640306" cy="4509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818C0F-1274-A21C-D3B3-41685863CBBC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 err="1"/>
              <a:t>브랜치</a:t>
            </a:r>
            <a:r>
              <a:rPr lang="ko-KR" altLang="en-US" dirty="0"/>
              <a:t> 간 충돌 리스크를 최소화하기 위해 정기적인 메인 </a:t>
            </a:r>
            <a:r>
              <a:rPr lang="ko-KR" altLang="en-US" dirty="0" err="1"/>
              <a:t>브랜치</a:t>
            </a:r>
            <a:r>
              <a:rPr lang="ko-KR" altLang="en-US" dirty="0"/>
              <a:t> 동기화</a:t>
            </a:r>
            <a:r>
              <a:rPr lang="en-US" altLang="ko-KR" dirty="0"/>
              <a:t>(</a:t>
            </a:r>
            <a:r>
              <a:rPr lang="en" altLang="ko-KR" dirty="0"/>
              <a:t>Sync-up)</a:t>
            </a:r>
            <a:r>
              <a:rPr lang="ko-KR" altLang="en-US" dirty="0"/>
              <a:t>와 선제적인 기능 </a:t>
            </a:r>
            <a:r>
              <a:rPr lang="ko-KR" altLang="en-US" dirty="0" err="1"/>
              <a:t>브랜치</a:t>
            </a:r>
            <a:r>
              <a:rPr lang="ko-KR" altLang="en-US" dirty="0"/>
              <a:t> 간 교차 </a:t>
            </a:r>
            <a:r>
              <a:rPr lang="ko-KR" altLang="en-US" dirty="0" err="1"/>
              <a:t>머지를</a:t>
            </a:r>
            <a:r>
              <a:rPr lang="ko-KR" altLang="en-US" dirty="0"/>
              <a:t> 활용하는 협업 최적화 전략입니다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942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(7/8)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702555" y="1871175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+mj-ea"/>
                <a:ea typeface="+mj-ea"/>
              </a:rPr>
              <a:t>Git Conflict 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대응 가이드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CADBE5-EADC-365C-00D4-720CA1742430}"/>
              </a:ext>
            </a:extLst>
          </p:cNvPr>
          <p:cNvSpPr/>
          <p:nvPr/>
        </p:nvSpPr>
        <p:spPr>
          <a:xfrm>
            <a:off x="5139440" y="2315355"/>
            <a:ext cx="6572536" cy="4189732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lvl="1"/>
            <a:r>
              <a:rPr lang="en-US" altLang="ko-KR" b="1" dirty="0">
                <a:highlight>
                  <a:srgbClr val="FFFFFF"/>
                </a:highlight>
                <a:latin typeface="Helvetica Neue" panose="02000503000000020004" pitchFamily="2" charset="0"/>
              </a:rPr>
              <a:t>3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케이스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1]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내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브랜치가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오래되어 </a:t>
            </a:r>
            <a:r>
              <a:rPr lang="en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과 충돌하는 경우</a:t>
            </a:r>
            <a:endParaRPr lang="en-US" altLang="ko-K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lvl="1"/>
            <a:endParaRPr lang="en-US" altLang="ko-KR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lvl="1"/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최신화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Sync)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일상화</a:t>
            </a:r>
          </a:p>
          <a:p>
            <a:pPr lvl="1"/>
            <a:endParaRPr lang="en-US" altLang="ko-KR" sz="14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 </a:t>
            </a:r>
            <a:r>
              <a:rPr lang="ko-KR" altLang="en-US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추천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보다는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Merge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내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브랜치로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끌어옴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지속적 싱크 </a:t>
            </a:r>
            <a:r>
              <a:rPr lang="en-US" altLang="ko-KR" sz="11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배포 전날에 몰아서 하지 말고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매주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Sync-up Day(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/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목요일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오전에 정기적으로 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을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머지하여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충돌 범위를 작게 유지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4.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 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케이스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2]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다른 피처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브랜치와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동일 파일 수정 중인 경우</a:t>
            </a:r>
          </a:p>
          <a:p>
            <a:pPr algn="l"/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대기에서 공유로 전환</a:t>
            </a:r>
            <a:br>
              <a:rPr lang="ko-KR" altLang="en-US" sz="1100" dirty="0"/>
            </a:b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기존의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운영 배포 완료 후 조치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는 리스크가 크다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다음과 같이 개선 추천</a:t>
            </a: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조치방법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 (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교차 </a:t>
            </a:r>
            <a:r>
              <a:rPr lang="ko-KR" altLang="en-US" sz="1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 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추천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서로의 배포 순서를 따지지 않고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충돌이 발생하는 상대방의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미리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머지하여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테스트 환경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dev/</a:t>
            </a:r>
            <a:r>
              <a:rPr lang="en" altLang="ko-KR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tst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통합 검증을 먼저 진행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조치방법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2 (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통합 </a:t>
            </a:r>
            <a:r>
              <a:rPr lang="ko-KR" altLang="en-US" sz="1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생성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선후 관계를 알 수 없거나 양쪽 모두 대규모 수정인 경우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두 팀의 코드를 합친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feature/</a:t>
            </a:r>
            <a:r>
              <a:rPr lang="en" altLang="ko-KR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team_A_B_integration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별도로 만들어 테스트 진행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조치방법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3 (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 우선순위 기반 조치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* 내가 빠를 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내가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main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머지된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직후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상대방에게 즉시 알림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-&gt;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상대방은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[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케이스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1]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의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Rebase/Merge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로 조치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상대가 빠를 때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상대방의 코드가 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dev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머지되는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즉시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그 내용을 내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브랜치에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머지하여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미리 충돌 해결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조치방법 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4 (</a:t>
            </a:r>
            <a:r>
              <a:rPr lang="ko-KR" altLang="en-US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코드 소유권 분리</a:t>
            </a:r>
            <a:r>
              <a:rPr lang="en-US" altLang="ko-KR" sz="1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):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동일 파일 내에서도 메소드나 영역을 분리하여 작성하고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공통 설정은 가능한 파일을 분할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Refactoring)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하도록 협의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algn="l"/>
            <a:endParaRPr lang="ko-KR" altLang="en-US" sz="10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dirty="0">
              <a:highlight>
                <a:srgbClr val="FFFFFF"/>
              </a:highlight>
              <a:latin typeface="Helvetica Neue" panose="02000503000000020004" pitchFamily="2" charset="0"/>
            </a:endParaRPr>
          </a:p>
          <a:p>
            <a:pPr algn="l"/>
            <a:endParaRPr lang="en-US" altLang="ko-KR" sz="11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ABCD61-AC63-9563-C06D-E7B552FF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26" y="2315355"/>
            <a:ext cx="4440757" cy="30160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6E52B7-32C1-D780-B090-B08259DE4123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 err="1"/>
              <a:t>브랜치</a:t>
            </a:r>
            <a:r>
              <a:rPr lang="ko-KR" altLang="en-US" dirty="0"/>
              <a:t> 간 충돌 리스크를 최소화하기 위해 정기적인 메인 </a:t>
            </a:r>
            <a:r>
              <a:rPr lang="ko-KR" altLang="en-US" dirty="0" err="1"/>
              <a:t>브랜치</a:t>
            </a:r>
            <a:r>
              <a:rPr lang="ko-KR" altLang="en-US" dirty="0"/>
              <a:t> 동기화</a:t>
            </a:r>
            <a:r>
              <a:rPr lang="en-US" altLang="ko-KR" dirty="0"/>
              <a:t>(</a:t>
            </a:r>
            <a:r>
              <a:rPr lang="en" altLang="ko-KR" dirty="0"/>
              <a:t>Sync-up)</a:t>
            </a:r>
            <a:r>
              <a:rPr lang="ko-KR" altLang="en-US" dirty="0"/>
              <a:t>와 선제적인 기능 </a:t>
            </a:r>
            <a:r>
              <a:rPr lang="ko-KR" altLang="en-US" dirty="0" err="1"/>
              <a:t>브랜치</a:t>
            </a:r>
            <a:r>
              <a:rPr lang="ko-KR" altLang="en-US" dirty="0"/>
              <a:t> 간 교차 </a:t>
            </a:r>
            <a:r>
              <a:rPr lang="ko-KR" altLang="en-US" dirty="0" err="1"/>
              <a:t>머지를</a:t>
            </a:r>
            <a:r>
              <a:rPr lang="ko-KR" altLang="en-US" dirty="0"/>
              <a:t> 활용하는 협업 최적화 전략입니다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2697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단일 프로젝트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Monolithic)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에서 </a:t>
            </a:r>
            <a:r>
              <a:rPr lang="en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git flow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배포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(8/8)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DDB960-1DD8-FCF1-F22D-8825A6E59278}"/>
              </a:ext>
            </a:extLst>
          </p:cNvPr>
          <p:cNvSpPr/>
          <p:nvPr/>
        </p:nvSpPr>
        <p:spPr bwMode="gray">
          <a:xfrm>
            <a:off x="6609902" y="2032866"/>
            <a:ext cx="3839472" cy="3612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운영 배포 전 단계별 </a:t>
            </a:r>
            <a:r>
              <a:rPr lang="en-US" altLang="ko-KR" sz="1300" b="1" dirty="0">
                <a:solidFill>
                  <a:schemeClr val="bg1"/>
                </a:solidFill>
                <a:latin typeface="+mj-ea"/>
                <a:ea typeface="+mj-ea"/>
              </a:rPr>
              <a:t>Sync </a:t>
            </a:r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가이드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ABCD61-AC63-9563-C06D-E7B552FF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24" y="2626479"/>
            <a:ext cx="4440757" cy="301609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DF0661A-D94E-398D-8B18-74A6F004E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45120"/>
              </p:ext>
            </p:extLst>
          </p:nvPr>
        </p:nvGraphicFramePr>
        <p:xfrm>
          <a:off x="4867276" y="2626478"/>
          <a:ext cx="6943013" cy="2932811"/>
        </p:xfrm>
        <a:graphic>
          <a:graphicData uri="http://schemas.openxmlformats.org/drawingml/2006/table">
            <a:tbl>
              <a:tblPr/>
              <a:tblGrid>
                <a:gridCol w="1952971">
                  <a:extLst>
                    <a:ext uri="{9D8B030D-6E8A-4147-A177-3AD203B41FA5}">
                      <a16:colId xmlns:a16="http://schemas.microsoft.com/office/drawing/2014/main" val="3370959449"/>
                    </a:ext>
                  </a:extLst>
                </a:gridCol>
                <a:gridCol w="1169330">
                  <a:extLst>
                    <a:ext uri="{9D8B030D-6E8A-4147-A177-3AD203B41FA5}">
                      <a16:colId xmlns:a16="http://schemas.microsoft.com/office/drawing/2014/main" val="2690190534"/>
                    </a:ext>
                  </a:extLst>
                </a:gridCol>
                <a:gridCol w="1919806">
                  <a:extLst>
                    <a:ext uri="{9D8B030D-6E8A-4147-A177-3AD203B41FA5}">
                      <a16:colId xmlns:a16="http://schemas.microsoft.com/office/drawing/2014/main" val="2177332161"/>
                    </a:ext>
                  </a:extLst>
                </a:gridCol>
                <a:gridCol w="1900906">
                  <a:extLst>
                    <a:ext uri="{9D8B030D-6E8A-4147-A177-3AD203B41FA5}">
                      <a16:colId xmlns:a16="http://schemas.microsoft.com/office/drawing/2014/main" val="2899725232"/>
                    </a:ext>
                  </a:extLst>
                </a:gridCol>
              </a:tblGrid>
              <a:tr h="397487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단계 </a:t>
                      </a:r>
                      <a:r>
                        <a:rPr lang="en-US" altLang="ko-KR" b="1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" b="1" dirty="0">
                          <a:solidFill>
                            <a:srgbClr val="000000"/>
                          </a:solidFill>
                          <a:effectLst/>
                        </a:rPr>
                        <a:t>Step)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작업 장소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조치 사항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solidFill>
                            <a:srgbClr val="000000"/>
                          </a:solidFill>
                          <a:effectLst/>
                        </a:rPr>
                        <a:t>비고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335039"/>
                  </a:ext>
                </a:extLst>
              </a:tr>
              <a:tr h="545388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개발 초기</a:t>
                      </a:r>
                      <a:r>
                        <a:rPr lang="en-US" altLang="ko-KR" sz="1100" dirty="0">
                          <a:effectLst/>
                        </a:rPr>
                        <a:t>~</a:t>
                      </a:r>
                      <a:r>
                        <a:rPr lang="ko-KR" altLang="en-US" sz="1100" dirty="0">
                          <a:effectLst/>
                        </a:rPr>
                        <a:t>테스트 </a:t>
                      </a:r>
                      <a:r>
                        <a:rPr lang="en-US" altLang="ko-KR" sz="1100" dirty="0">
                          <a:effectLst/>
                        </a:rPr>
                        <a:t>(1~4</a:t>
                      </a:r>
                      <a:r>
                        <a:rPr lang="ko-KR" altLang="en-US" sz="1100" dirty="0">
                          <a:effectLst/>
                        </a:rPr>
                        <a:t>번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 dirty="0">
                          <a:effectLst/>
                        </a:rPr>
                        <a:t>Local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수시로 </a:t>
                      </a:r>
                      <a:r>
                        <a:rPr lang="en" sz="1100">
                          <a:effectLst/>
                        </a:rPr>
                        <a:t>main → feature </a:t>
                      </a:r>
                      <a:r>
                        <a:rPr lang="ko-KR" altLang="en-US" sz="1100">
                          <a:effectLst/>
                        </a:rPr>
                        <a:t>머지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충돌 조기 발견 및 해결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90327"/>
                  </a:ext>
                </a:extLst>
              </a:tr>
              <a:tr h="425952"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개발 서버 배포 전 </a:t>
                      </a:r>
                      <a:r>
                        <a:rPr lang="en-US" altLang="ko-KR" sz="1100">
                          <a:effectLst/>
                        </a:rPr>
                        <a:t>(3</a:t>
                      </a:r>
                      <a:r>
                        <a:rPr lang="ko-KR" altLang="en-US" sz="1100">
                          <a:effectLst/>
                        </a:rPr>
                        <a:t>번 전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 dirty="0">
                          <a:effectLst/>
                        </a:rPr>
                        <a:t>Local/Remote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 dirty="0">
                          <a:effectLst/>
                        </a:rPr>
                        <a:t>main </a:t>
                      </a:r>
                      <a:r>
                        <a:rPr lang="ko-KR" altLang="en-US" sz="1100" dirty="0">
                          <a:effectLst/>
                        </a:rPr>
                        <a:t>최종 </a:t>
                      </a:r>
                      <a:r>
                        <a:rPr lang="ko-KR" altLang="en-US" sz="1100" dirty="0" err="1">
                          <a:effectLst/>
                        </a:rPr>
                        <a:t>머지</a:t>
                      </a:r>
                      <a:r>
                        <a:rPr lang="ko-KR" altLang="en-US" sz="1100" dirty="0">
                          <a:effectLst/>
                        </a:rPr>
                        <a:t> 후 </a:t>
                      </a:r>
                      <a:r>
                        <a:rPr lang="en" sz="1100" dirty="0">
                          <a:effectLst/>
                        </a:rPr>
                        <a:t>dev </a:t>
                      </a:r>
                      <a:r>
                        <a:rPr lang="ko-KR" altLang="en-US" sz="1100" dirty="0">
                          <a:effectLst/>
                        </a:rPr>
                        <a:t>반영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개발 환경 정합성 확보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752145"/>
                  </a:ext>
                </a:extLst>
              </a:tr>
              <a:tr h="425952"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테스트 서버 배포 전 </a:t>
                      </a:r>
                      <a:r>
                        <a:rPr lang="en-US" altLang="ko-KR" sz="1100">
                          <a:effectLst/>
                        </a:rPr>
                        <a:t>(4</a:t>
                      </a:r>
                      <a:r>
                        <a:rPr lang="ko-KR" altLang="en-US" sz="1100">
                          <a:effectLst/>
                        </a:rPr>
                        <a:t>번 전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Local/Remote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 dirty="0">
                          <a:effectLst/>
                        </a:rPr>
                        <a:t>main </a:t>
                      </a:r>
                      <a:r>
                        <a:rPr lang="ko-KR" altLang="en-US" sz="1100" dirty="0">
                          <a:effectLst/>
                        </a:rPr>
                        <a:t>최종 </a:t>
                      </a:r>
                      <a:r>
                        <a:rPr lang="ko-KR" altLang="en-US" sz="1100" dirty="0" err="1">
                          <a:effectLst/>
                        </a:rPr>
                        <a:t>머지</a:t>
                      </a:r>
                      <a:r>
                        <a:rPr lang="ko-KR" altLang="en-US" sz="1100" dirty="0">
                          <a:effectLst/>
                        </a:rPr>
                        <a:t> 후 </a:t>
                      </a:r>
                      <a:r>
                        <a:rPr lang="en" sz="1100" dirty="0" err="1">
                          <a:effectLst/>
                        </a:rPr>
                        <a:t>tst</a:t>
                      </a:r>
                      <a:r>
                        <a:rPr lang="en" sz="1100" dirty="0">
                          <a:effectLst/>
                        </a:rPr>
                        <a:t> </a:t>
                      </a:r>
                      <a:r>
                        <a:rPr lang="ko-KR" altLang="en-US" sz="1100" dirty="0">
                          <a:effectLst/>
                        </a:rPr>
                        <a:t>반영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 dirty="0">
                          <a:effectLst/>
                        </a:rPr>
                        <a:t>UAT </a:t>
                      </a:r>
                      <a:r>
                        <a:rPr lang="ko-KR" altLang="en-US" sz="1100" dirty="0">
                          <a:effectLst/>
                        </a:rPr>
                        <a:t>환경 정합성 확보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450971"/>
                  </a:ext>
                </a:extLst>
              </a:tr>
              <a:tr h="545388">
                <a:tc>
                  <a:txBody>
                    <a:bodyPr/>
                    <a:lstStyle/>
                    <a:p>
                      <a:r>
                        <a:rPr lang="ko-KR" altLang="en-US" sz="1100">
                          <a:effectLst/>
                        </a:rPr>
                        <a:t>운영 배포 승인 전 </a:t>
                      </a:r>
                      <a:r>
                        <a:rPr lang="en-US" altLang="ko-KR" sz="1100">
                          <a:effectLst/>
                        </a:rPr>
                        <a:t>(5</a:t>
                      </a:r>
                      <a:r>
                        <a:rPr lang="ko-KR" altLang="en-US" sz="1100">
                          <a:effectLst/>
                        </a:rPr>
                        <a:t>번 전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Local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>
                          <a:effectLst/>
                        </a:rPr>
                        <a:t>[</a:t>
                      </a:r>
                      <a:r>
                        <a:rPr lang="ko-KR" altLang="en-US" sz="1100" dirty="0">
                          <a:effectLst/>
                        </a:rPr>
                        <a:t>마지막 </a:t>
                      </a:r>
                      <a:r>
                        <a:rPr lang="en" sz="1100" dirty="0">
                          <a:effectLst/>
                        </a:rPr>
                        <a:t>Sync] main </a:t>
                      </a:r>
                      <a:r>
                        <a:rPr lang="ko-KR" altLang="en-US" sz="1100" dirty="0" err="1">
                          <a:effectLst/>
                        </a:rPr>
                        <a:t>머지</a:t>
                      </a:r>
                      <a:r>
                        <a:rPr lang="ko-KR" altLang="en-US" sz="1100" dirty="0">
                          <a:effectLst/>
                        </a:rPr>
                        <a:t> 및 최종 테스트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이후 코드 수정 절대 금지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72232"/>
                  </a:ext>
                </a:extLst>
              </a:tr>
              <a:tr h="545388"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운영 배포 승인 후 </a:t>
                      </a:r>
                      <a:r>
                        <a:rPr lang="en-US" altLang="ko-KR" sz="1100" dirty="0">
                          <a:effectLst/>
                        </a:rPr>
                        <a:t>(5</a:t>
                      </a:r>
                      <a:r>
                        <a:rPr lang="ko-KR" altLang="en-US" sz="1100" dirty="0">
                          <a:effectLst/>
                        </a:rPr>
                        <a:t>번 후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100">
                          <a:effectLst/>
                        </a:rPr>
                        <a:t>Sync </a:t>
                      </a:r>
                      <a:r>
                        <a:rPr lang="ko-KR" altLang="en-US" sz="1100">
                          <a:effectLst/>
                        </a:rPr>
                        <a:t>중단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en" sz="1100">
                          <a:effectLst/>
                        </a:rPr>
                        <a:t>Code Freeze)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>
                          <a:effectLst/>
                        </a:rPr>
                        <a:t>승인된 형상 그대로 배포 유지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2724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548167-5C41-9124-B111-7DD60CB9B54A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 err="1"/>
              <a:t>브랜치</a:t>
            </a:r>
            <a:r>
              <a:rPr lang="ko-KR" altLang="en-US" dirty="0"/>
              <a:t> 간 충돌 리스크를 최소화하기 위해 정기적인 메인 </a:t>
            </a:r>
            <a:r>
              <a:rPr lang="ko-KR" altLang="en-US" dirty="0" err="1"/>
              <a:t>브랜치</a:t>
            </a:r>
            <a:r>
              <a:rPr lang="ko-KR" altLang="en-US" dirty="0"/>
              <a:t> 동기화</a:t>
            </a:r>
            <a:r>
              <a:rPr lang="en-US" altLang="ko-KR" dirty="0"/>
              <a:t>(</a:t>
            </a:r>
            <a:r>
              <a:rPr lang="en" altLang="ko-KR" dirty="0"/>
              <a:t>Sync-up)</a:t>
            </a:r>
            <a:r>
              <a:rPr lang="ko-KR" altLang="en-US" dirty="0"/>
              <a:t>와 선제적인 기능 </a:t>
            </a:r>
            <a:r>
              <a:rPr lang="ko-KR" altLang="en-US" dirty="0" err="1"/>
              <a:t>브랜치</a:t>
            </a:r>
            <a:r>
              <a:rPr lang="ko-KR" altLang="en-US" dirty="0"/>
              <a:t> 간 교차 </a:t>
            </a:r>
            <a:r>
              <a:rPr lang="ko-KR" altLang="en-US" dirty="0" err="1"/>
              <a:t>머지를</a:t>
            </a:r>
            <a:r>
              <a:rPr lang="ko-KR" altLang="en-US" dirty="0"/>
              <a:t> 활용하는 협업 최적화 전략입니다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42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전략적 제안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 효율성 제고를 위한 구조적 개선 방안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(1/2)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466D89-A445-101A-7619-AD98065C5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30575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A66AE1-C1A9-ACD8-F8B1-775804357A9C}"/>
              </a:ext>
            </a:extLst>
          </p:cNvPr>
          <p:cNvGrpSpPr/>
          <p:nvPr/>
        </p:nvGrpSpPr>
        <p:grpSpPr>
          <a:xfrm>
            <a:off x="7799195" y="1741054"/>
            <a:ext cx="3019705" cy="342889"/>
            <a:chOff x="218088" y="1494148"/>
            <a:chExt cx="4171793" cy="342889"/>
          </a:xfrm>
        </p:grpSpPr>
        <p:cxnSp>
          <p:nvCxnSpPr>
            <p:cNvPr id="8" name="직선 연결선 4">
              <a:extLst>
                <a:ext uri="{FF2B5EF4-FFF2-40B4-BE49-F238E27FC236}">
                  <a16:creationId xmlns:a16="http://schemas.microsoft.com/office/drawing/2014/main" id="{8BECBD13-1FEA-E357-BCA0-9E35F1E19F64}"/>
                </a:ext>
              </a:extLst>
            </p:cNvPr>
            <p:cNvCxnSpPr>
              <a:cxnSpLocks/>
            </p:cNvCxnSpPr>
            <p:nvPr/>
          </p:nvCxnSpPr>
          <p:spPr>
            <a:xfrm>
              <a:off x="269428" y="1837037"/>
              <a:ext cx="412045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50DBFC-8531-8BD9-084D-A9CF040D46B5}"/>
                </a:ext>
              </a:extLst>
            </p:cNvPr>
            <p:cNvSpPr txBox="1"/>
            <p:nvPr/>
          </p:nvSpPr>
          <p:spPr>
            <a:xfrm>
              <a:off x="218088" y="1494148"/>
              <a:ext cx="4120452" cy="30353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500" b="1" dirty="0">
                  <a:solidFill>
                    <a:prstClr val="black"/>
                  </a:solidFill>
                  <a:latin typeface="+mj-ea"/>
                  <a:ea typeface="+mj-ea"/>
                </a:rPr>
                <a:t>단계별 추진 전략</a:t>
              </a:r>
              <a:endParaRPr lang="en-US" altLang="ko-KR" sz="15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5" name="Rectangle 12">
            <a:extLst>
              <a:ext uri="{FF2B5EF4-FFF2-40B4-BE49-F238E27FC236}">
                <a16:creationId xmlns:a16="http://schemas.microsoft.com/office/drawing/2014/main" id="{C45DAFBE-23AC-2A49-7710-873F5BAAD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65" y="2347223"/>
            <a:ext cx="4946287" cy="54935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dirty="0" err="1">
                <a:solidFill>
                  <a:schemeClr val="bg1"/>
                </a:solidFill>
                <a:latin typeface="+mj-ea"/>
                <a:ea typeface="+mj-ea"/>
              </a:rPr>
              <a:t>모놀리식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 구조와 </a:t>
            </a:r>
            <a:r>
              <a:rPr lang="en" altLang="ko-KR" sz="1200" dirty="0">
                <a:solidFill>
                  <a:schemeClr val="bg1"/>
                </a:solidFill>
                <a:latin typeface="+mj-ea"/>
                <a:ea typeface="+mj-ea"/>
              </a:rPr>
              <a:t>Git-Flow 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환경에서는 공통 모듈에 대한 </a:t>
            </a:r>
            <a:endParaRPr lang="en-US" altLang="ko-KR" sz="12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다수 팀의 병렬 수정 불가피</a:t>
            </a:r>
            <a:endParaRPr lang="ko-KR" altLang="en-US" sz="1200" b="1" kern="0" dirty="0">
              <a:solidFill>
                <a:schemeClr val="bg1"/>
              </a:solidFill>
              <a:latin typeface="+mj-ea"/>
              <a:ea typeface="+mj-ea"/>
              <a:cs typeface="Verdana" panose="020B0604030504040204" pitchFamily="34" charset="0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59C2E770-BF63-724E-4654-08E79796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65" y="3411005"/>
            <a:ext cx="4946287" cy="54935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배포 직전 대규모 </a:t>
            </a:r>
            <a:r>
              <a:rPr lang="ko-KR" altLang="en-US" sz="1200">
                <a:solidFill>
                  <a:schemeClr val="bg1"/>
                </a:solidFill>
                <a:latin typeface="+mj-ea"/>
                <a:ea typeface="+mj-ea"/>
              </a:rPr>
              <a:t>코드 충돌</a:t>
            </a:r>
            <a:r>
              <a:rPr lang="en-US" altLang="ko-KR" sz="120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en" altLang="ko-KR" sz="1200" dirty="0">
                <a:solidFill>
                  <a:schemeClr val="bg1"/>
                </a:solidFill>
                <a:latin typeface="+mj-ea"/>
                <a:ea typeface="+mj-ea"/>
              </a:rPr>
              <a:t>Conflict)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과 이로 인한 배포 지연 </a:t>
            </a:r>
            <a:r>
              <a:rPr lang="ko-KR" altLang="en-US" sz="1200">
                <a:solidFill>
                  <a:schemeClr val="bg1"/>
                </a:solidFill>
                <a:latin typeface="+mj-ea"/>
                <a:ea typeface="+mj-ea"/>
              </a:rPr>
              <a:t>및 </a:t>
            </a:r>
            <a:endParaRPr lang="en-US" altLang="ko-KR" sz="12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운영 리스크로 이어짐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EAE274BF-ED49-EBDD-FC6C-C58454AD9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64" y="4474788"/>
            <a:ext cx="4946287" cy="54935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이를 근본적으로 해결하기 위해 기술적 조치를 </a:t>
            </a:r>
            <a:r>
              <a:rPr lang="ko-KR" altLang="en-US" sz="1200">
                <a:solidFill>
                  <a:schemeClr val="bg1"/>
                </a:solidFill>
                <a:latin typeface="+mj-ea"/>
                <a:ea typeface="+mj-ea"/>
              </a:rPr>
              <a:t>넘어선 </a:t>
            </a:r>
            <a:endParaRPr lang="en-US" altLang="ko-KR" sz="12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>
                <a:solidFill>
                  <a:schemeClr val="bg1"/>
                </a:solidFill>
                <a:latin typeface="+mj-ea"/>
                <a:ea typeface="+mj-ea"/>
              </a:rPr>
              <a:t>구조적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조직적 변화를 제안필요</a:t>
            </a: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7BC37D32-0EDA-BAAB-2ECC-8D1CF843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994" y="2347223"/>
            <a:ext cx="4946287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공통 모듈의 </a:t>
            </a:r>
            <a:r>
              <a:rPr lang="ko-KR" altLang="en-US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각 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Part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팀으로 </a:t>
            </a:r>
            <a:r>
              <a:rPr lang="ko-KR" altLang="en-US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내재화 </a:t>
            </a:r>
            <a:r>
              <a:rPr lang="en-US" altLang="ko-KR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Short-term)</a:t>
            </a:r>
            <a:endParaRPr lang="en" altLang="ko-KR" sz="1200" b="1" dirty="0">
              <a:solidFill>
                <a:schemeClr val="bg1"/>
              </a:solidFill>
              <a:latin typeface="+mn-ea"/>
              <a:cs typeface="Verdana" panose="020B0604030504040204" pitchFamily="34" charset="0"/>
            </a:endParaRP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92E28EB7-9CD8-8505-3081-4F2A05879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994" y="3411005"/>
            <a:ext cx="4946287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공통 모듈 전담 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Part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팀 신설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Mid-term)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0234B73F-F3EB-0377-FCDD-6AFA04C3F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994" y="4474788"/>
            <a:ext cx="4946287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algn="ctr" defTabSz="762000" eaLnBrk="0" latinLnBrk="1" hangingPunct="0">
              <a:lnSpc>
                <a:spcPct val="11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서비스 </a:t>
            </a:r>
            <a:r>
              <a:rPr lang="ko-KR" altLang="en-US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지향 아키텍처</a:t>
            </a:r>
            <a:r>
              <a:rPr lang="en-US" altLang="ko-KR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MSA)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로의 </a:t>
            </a:r>
            <a:r>
              <a:rPr lang="ko-KR" altLang="en-US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전환 </a:t>
            </a:r>
            <a:r>
              <a:rPr lang="en-US" altLang="ko-KR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Long-term</a:t>
            </a:r>
            <a:endParaRPr lang="en" altLang="ko-KR" sz="1200" b="1" dirty="0">
              <a:solidFill>
                <a:schemeClr val="bg1"/>
              </a:solidFill>
              <a:latin typeface="+mn-ea"/>
              <a:cs typeface="Verdana" panose="020B0604030504040204" pitchFamily="34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79258A6-6125-3F82-F0F8-CBBDF1AEDB56}"/>
              </a:ext>
            </a:extLst>
          </p:cNvPr>
          <p:cNvGrpSpPr/>
          <p:nvPr/>
        </p:nvGrpSpPr>
        <p:grpSpPr>
          <a:xfrm>
            <a:off x="1473148" y="1795904"/>
            <a:ext cx="3113173" cy="306322"/>
            <a:chOff x="88960" y="1530715"/>
            <a:chExt cx="4300921" cy="306322"/>
          </a:xfrm>
        </p:grpSpPr>
        <p:cxnSp>
          <p:nvCxnSpPr>
            <p:cNvPr id="34" name="직선 연결선 4">
              <a:extLst>
                <a:ext uri="{FF2B5EF4-FFF2-40B4-BE49-F238E27FC236}">
                  <a16:creationId xmlns:a16="http://schemas.microsoft.com/office/drawing/2014/main" id="{52935D0A-2BBF-F5FC-92F7-F2982C2D7CD9}"/>
                </a:ext>
              </a:extLst>
            </p:cNvPr>
            <p:cNvCxnSpPr>
              <a:cxnSpLocks/>
            </p:cNvCxnSpPr>
            <p:nvPr/>
          </p:nvCxnSpPr>
          <p:spPr>
            <a:xfrm>
              <a:off x="269428" y="1837037"/>
              <a:ext cx="412045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EF1A73-C169-BC72-8785-F07844E10743}"/>
                </a:ext>
              </a:extLst>
            </p:cNvPr>
            <p:cNvSpPr txBox="1"/>
            <p:nvPr/>
          </p:nvSpPr>
          <p:spPr>
            <a:xfrm>
              <a:off x="88960" y="1530715"/>
              <a:ext cx="4120452" cy="30353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500" b="1" dirty="0">
                  <a:solidFill>
                    <a:prstClr val="black"/>
                  </a:solidFill>
                  <a:latin typeface="+mj-ea"/>
                  <a:ea typeface="+mj-ea"/>
                </a:rPr>
                <a:t>배경 및 필요성</a:t>
              </a:r>
              <a:endParaRPr lang="en-US" altLang="ko-KR" sz="1500" b="1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FF13F6C-E4F5-1D34-B323-5533AE8983B4}"/>
              </a:ext>
            </a:extLst>
          </p:cNvPr>
          <p:cNvSpPr/>
          <p:nvPr/>
        </p:nvSpPr>
        <p:spPr>
          <a:xfrm>
            <a:off x="323850" y="2177144"/>
            <a:ext cx="5411771" cy="317862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kumimoji="1" lang="ko-KR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6962349-1352-CB74-F5C0-283B2DE9094E}"/>
              </a:ext>
            </a:extLst>
          </p:cNvPr>
          <p:cNvSpPr/>
          <p:nvPr/>
        </p:nvSpPr>
        <p:spPr>
          <a:xfrm>
            <a:off x="6513251" y="2177144"/>
            <a:ext cx="5411771" cy="317862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kumimoji="1" lang="ko-KR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9" name="이등변 삼각형 32">
            <a:extLst>
              <a:ext uri="{FF2B5EF4-FFF2-40B4-BE49-F238E27FC236}">
                <a16:creationId xmlns:a16="http://schemas.microsoft.com/office/drawing/2014/main" id="{BB095738-4398-08AA-CD74-98EECF661467}"/>
              </a:ext>
            </a:extLst>
          </p:cNvPr>
          <p:cNvSpPr/>
          <p:nvPr/>
        </p:nvSpPr>
        <p:spPr bwMode="gray">
          <a:xfrm rot="5400000">
            <a:off x="4838784" y="3415459"/>
            <a:ext cx="2682239" cy="54576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CC868B2-8EE0-66DD-25CB-F25531D21B36}"/>
              </a:ext>
            </a:extLst>
          </p:cNvPr>
          <p:cNvSpPr/>
          <p:nvPr/>
        </p:nvSpPr>
        <p:spPr bwMode="gray">
          <a:xfrm>
            <a:off x="305672" y="5525851"/>
            <a:ext cx="1634918" cy="732157"/>
          </a:xfrm>
          <a:prstGeom prst="rect">
            <a:avLst/>
          </a:prstGeom>
          <a:solidFill>
            <a:schemeClr val="accent3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</a:rPr>
              <a:t>기대 효과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7C9F728-7DE2-54AC-E553-F0BCAD251B7B}"/>
              </a:ext>
            </a:extLst>
          </p:cNvPr>
          <p:cNvSpPr/>
          <p:nvPr/>
        </p:nvSpPr>
        <p:spPr bwMode="gray">
          <a:xfrm>
            <a:off x="2105498" y="5539444"/>
            <a:ext cx="9819803" cy="718564"/>
          </a:xfrm>
          <a:prstGeom prst="rect">
            <a:avLst/>
          </a:prstGeom>
          <a:noFill/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 속도 향상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타 팀의 배포를 기다리거나 충돌을 해결하는 불필요한 대기 시간 제거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시스템 안정성 강화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특정 파트의 변경사항이 전체 시스템으로 전이되는 사이드 이펙트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</a:t>
            </a:r>
            <a:r>
              <a:rPr lang="en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Side-effect)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최소화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유연한 배포 체계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 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각 파트의 비즈니스 우선순위에 맞춘 독립적이고 빠른 운영 반영 가능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4667D-F99C-53FA-FDA4-5A31BF1B7FF2}"/>
              </a:ext>
            </a:extLst>
          </p:cNvPr>
          <p:cNvSpPr txBox="1"/>
          <p:nvPr/>
        </p:nvSpPr>
        <p:spPr>
          <a:xfrm>
            <a:off x="274927" y="910538"/>
            <a:ext cx="11535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000"/>
            </a:lvl1pPr>
          </a:lstStyle>
          <a:p>
            <a:r>
              <a:rPr lang="ko-KR" altLang="en-US" dirty="0"/>
              <a:t>공통 모듈 의존성을 단계적으로 격리</a:t>
            </a:r>
            <a:r>
              <a:rPr lang="en-US" altLang="ko-KR" dirty="0"/>
              <a:t>·</a:t>
            </a:r>
            <a:r>
              <a:rPr lang="ko-KR" altLang="en-US" dirty="0"/>
              <a:t>전담화하고 최종적으로 </a:t>
            </a:r>
            <a:r>
              <a:rPr lang="en" altLang="ko-KR" dirty="0"/>
              <a:t>MSA </a:t>
            </a:r>
            <a:r>
              <a:rPr lang="ko-KR" altLang="en-US" dirty="0"/>
              <a:t>전환을 통해</a:t>
            </a:r>
            <a:r>
              <a:rPr lang="en-US" altLang="ko-KR" dirty="0"/>
              <a:t>, </a:t>
            </a:r>
            <a:r>
              <a:rPr lang="ko-KR" altLang="en-US" dirty="0"/>
              <a:t>팀별 독립적인 배포 권한을 확보하고 개발 효율성을 극대화하는 구조적 개선 전략입니다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779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222D6-4BC5-C943-84DE-C184A2E48F9C}"/>
              </a:ext>
            </a:extLst>
          </p:cNvPr>
          <p:cNvSpPr txBox="1"/>
          <p:nvPr/>
        </p:nvSpPr>
        <p:spPr>
          <a:xfrm>
            <a:off x="274926" y="224724"/>
            <a:ext cx="95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전략적 제안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: </a:t>
            </a:r>
            <a:r>
              <a:rPr lang="ko-KR" alt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개발 효율성 제고를 위한 구조적 개선 방안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 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 panose="02000503000000020004" pitchFamily="2" charset="0"/>
              </a:rPr>
              <a:t>(2/2)</a:t>
            </a:r>
            <a:endParaRPr lang="ko-KR" altLang="en-US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elvetica Neue" panose="02000503000000020004" pitchFamily="2" charset="0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7BC37D32-0EDA-BAAB-2ECC-8D1CF843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79" y="1420601"/>
            <a:ext cx="3901957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defTabSz="762000" eaLnBrk="0" latinLnBrk="1" hangingPunct="0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1.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 공통 모듈의 각 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Part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팀으로 내재화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Short-term)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92E28EB7-9CD8-8505-3081-4F2A05879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79" y="3345088"/>
            <a:ext cx="3901957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defTabSz="762000" eaLnBrk="0" latinLnBrk="1" hangingPunct="0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2.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 공통 모듈 전담 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Part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팀 신설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Mid-term)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0234B73F-F3EB-0377-FCDD-6AFA04C3F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80" y="5159354"/>
            <a:ext cx="3901956" cy="549359"/>
          </a:xfrm>
          <a:prstGeom prst="rect">
            <a:avLst/>
          </a:prstGeom>
          <a:solidFill>
            <a:srgbClr val="004581"/>
          </a:solidFill>
          <a:ln w="9525" algn="ctr">
            <a:solidFill>
              <a:schemeClr val="accent3"/>
            </a:solidFill>
            <a:round/>
            <a:headEnd/>
            <a:tailEnd/>
          </a:ln>
        </p:spPr>
        <p:txBody>
          <a:bodyPr lIns="46800" tIns="46800" rIns="46800" bIns="46800" anchor="ctr"/>
          <a:lstStyle/>
          <a:p>
            <a:pPr marL="90488" indent="-182563" defTabSz="762000" eaLnBrk="0" latinLnBrk="1" hangingPunct="0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3.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 서비스 지향 아키텍처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MSA)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로의 전환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(</a:t>
            </a:r>
            <a:r>
              <a:rPr lang="en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Long-term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Verdana" panose="020B0604030504040204" pitchFamily="34" charset="0"/>
              </a:rPr>
              <a:t>)</a:t>
            </a:r>
            <a:endParaRPr lang="en" altLang="ko-KR" sz="1200" b="1" dirty="0">
              <a:solidFill>
                <a:schemeClr val="bg1"/>
              </a:solidFill>
              <a:latin typeface="+mn-ea"/>
              <a:cs typeface="Verdana" panose="020B060403050404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9B52D4-AB11-39FD-10C5-EFE6D9DEC1CD}"/>
              </a:ext>
            </a:extLst>
          </p:cNvPr>
          <p:cNvSpPr/>
          <p:nvPr/>
        </p:nvSpPr>
        <p:spPr>
          <a:xfrm>
            <a:off x="4697849" y="897641"/>
            <a:ext cx="7008003" cy="1722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6000" rtlCol="0" anchor="t"/>
          <a:lstStyle/>
          <a:p>
            <a:pPr marL="171450" indent="-171450" defTabSz="914400"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100" dirty="0">
                <a:solidFill>
                  <a:schemeClr val="dk1"/>
                </a:solidFill>
                <a:latin typeface="+mj-ea"/>
                <a:ea typeface="+mj-ea"/>
              </a:rPr>
              <a:t>  </a:t>
            </a: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</a:rPr>
              <a:t>강화물리적 코드 격리를 통한 상호 간섭 최소화</a:t>
            </a:r>
            <a:endParaRPr lang="en-US" altLang="ko-KR" sz="1200" b="1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외부핵심 내용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각 파트가 공통 모듈에 의존하는 대신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파트 내부에 독립적인 기능을 구현하거나 필요한 기능을 패키지화 하여 관리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보완 전략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느슨한 결합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(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Loose Coupling):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단순 코드 복사가 아닌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공통 영역을 인터페이스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(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Interface)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화하여 각 파트가 필요한 구현체만 독립적으로 수정하도록 설계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 </a:t>
            </a: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트레이드오프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중복 코드가 일부 발생하더라도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독립적인 배포 주기 확보 와 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충돌 리스크 제거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 의 실익이 더 큼을 전제로 진행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EF6933-2760-7160-357B-278413D4FD54}"/>
              </a:ext>
            </a:extLst>
          </p:cNvPr>
          <p:cNvSpPr/>
          <p:nvPr/>
        </p:nvSpPr>
        <p:spPr>
          <a:xfrm>
            <a:off x="4697849" y="907218"/>
            <a:ext cx="241445" cy="252000"/>
          </a:xfrm>
          <a:prstGeom prst="rect">
            <a:avLst/>
          </a:prstGeom>
          <a:solidFill>
            <a:srgbClr val="006ECD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6E9F3E-F4FF-17E8-DFDA-F56C622499CD}"/>
              </a:ext>
            </a:extLst>
          </p:cNvPr>
          <p:cNvSpPr/>
          <p:nvPr/>
        </p:nvSpPr>
        <p:spPr>
          <a:xfrm>
            <a:off x="4697849" y="2754595"/>
            <a:ext cx="7008003" cy="167907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600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</a:rPr>
              <a:t> 중복 방지 및 전사 표준 거버넌스 확립</a:t>
            </a:r>
            <a:endParaRPr lang="en-US" altLang="ko-KR" sz="1200" b="1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핵심 내용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어느 파트에도 속하기 애매한 핵심 공통 기능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(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Core Logic, Auth, Logging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등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을 전담 관리하는 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공통 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Part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팀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을 분리 운영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보완 전략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 err="1">
                <a:solidFill>
                  <a:srgbClr val="006ECD"/>
                </a:solidFill>
                <a:latin typeface="+mn-ea"/>
              </a:rPr>
              <a:t>게이트키퍼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(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Gatekeeper)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역할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: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공통 팀은 코드 수정 뿐만 아니라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각 파트에서 올라오는 공통 영역 수정 요청에 대해 전문적인 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Code Review</a:t>
            </a:r>
            <a:r>
              <a:rPr lang="ko-KR" altLang="en-US" sz="1100" dirty="0" err="1">
                <a:solidFill>
                  <a:srgbClr val="006ECD"/>
                </a:solidFill>
                <a:latin typeface="+mn-ea"/>
              </a:rPr>
              <a:t>를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 수행하여 품질을 통제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표준화 가이드 제공</a:t>
            </a:r>
            <a:r>
              <a:rPr lang="en-US" altLang="ko-KR" sz="1100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각 파트가 내재화한 기능들이 서로 너무 달라지지 않도록 기술 표준과 아키텍처 가이드를 배포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3007D2-A4C2-2541-98CF-C52844318F5B}"/>
              </a:ext>
            </a:extLst>
          </p:cNvPr>
          <p:cNvSpPr/>
          <p:nvPr/>
        </p:nvSpPr>
        <p:spPr>
          <a:xfrm>
            <a:off x="4697848" y="2754594"/>
            <a:ext cx="241445" cy="277277"/>
          </a:xfrm>
          <a:prstGeom prst="rect">
            <a:avLst/>
          </a:prstGeom>
          <a:solidFill>
            <a:srgbClr val="006ECD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F0EC19-ED07-5B00-0784-674ADC22FF40}"/>
              </a:ext>
            </a:extLst>
          </p:cNvPr>
          <p:cNvSpPr/>
          <p:nvPr/>
        </p:nvSpPr>
        <p:spPr>
          <a:xfrm>
            <a:off x="4697849" y="4552732"/>
            <a:ext cx="7008003" cy="18395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3600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</a:rPr>
              <a:t> 완전한 독립 배포 환경 구축</a:t>
            </a:r>
            <a:endParaRPr lang="en-US" altLang="ko-KR" sz="1200" b="1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b="1" dirty="0">
              <a:solidFill>
                <a:schemeClr val="dk1"/>
              </a:solidFill>
              <a:latin typeface="+mj-ea"/>
              <a:ea typeface="+mj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핵심 내용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 err="1">
                <a:solidFill>
                  <a:srgbClr val="006ECD"/>
                </a:solidFill>
                <a:latin typeface="+mn-ea"/>
              </a:rPr>
              <a:t>모놀리식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 구조를 탈피하여 서비스별로 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DB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와 애플리케이션을 분리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원천적으로 코드 충돌이 발생할 수 없는 환경을 조성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보완 전략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Strangler Pattern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적용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: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전체 시스템을 한 번에 바꾸는 것이 아니라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충돌이 가장 잦고 변경이 빈번한 모듈부터 하나씩 별도 서비스로 분리하는 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점진적 전환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'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 을 추진</a:t>
            </a: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데이터 소유권 분리</a:t>
            </a:r>
            <a:r>
              <a:rPr lang="en-US" altLang="ko-KR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:</a:t>
            </a:r>
            <a:r>
              <a:rPr lang="ko-KR" altLang="en-US" sz="1100" b="1" dirty="0">
                <a:solidFill>
                  <a:schemeClr val="tx1">
                    <a:lumMod val="75000"/>
                  </a:schemeClr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코드 분리 뿐만 아니라 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DB 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스키마 분리를 병행하여 데이터 레벨에서의 커플링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(</a:t>
            </a:r>
            <a:r>
              <a:rPr lang="en" altLang="ko-KR" sz="1100" dirty="0">
                <a:solidFill>
                  <a:srgbClr val="006ECD"/>
                </a:solidFill>
                <a:latin typeface="+mn-ea"/>
              </a:rPr>
              <a:t>Coupling)</a:t>
            </a:r>
            <a:r>
              <a:rPr lang="ko-KR" altLang="en-US" sz="1100" dirty="0">
                <a:solidFill>
                  <a:srgbClr val="006ECD"/>
                </a:solidFill>
                <a:latin typeface="+mn-ea"/>
              </a:rPr>
              <a:t>을 해소</a:t>
            </a:r>
            <a:r>
              <a:rPr lang="en-US" altLang="ko-KR" sz="1100" dirty="0">
                <a:solidFill>
                  <a:srgbClr val="006ECD"/>
                </a:solidFill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rgbClr val="006ECD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AD608C-1536-993F-BD2A-1778660D23C8}"/>
              </a:ext>
            </a:extLst>
          </p:cNvPr>
          <p:cNvSpPr/>
          <p:nvPr/>
        </p:nvSpPr>
        <p:spPr>
          <a:xfrm>
            <a:off x="4697849" y="4561278"/>
            <a:ext cx="241444" cy="297232"/>
          </a:xfrm>
          <a:prstGeom prst="rect">
            <a:avLst/>
          </a:prstGeom>
          <a:solidFill>
            <a:srgbClr val="006ECD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1B79FB-FA36-BD0B-683E-42E8D2CBDCF0}"/>
              </a:ext>
            </a:extLst>
          </p:cNvPr>
          <p:cNvSpPr/>
          <p:nvPr/>
        </p:nvSpPr>
        <p:spPr>
          <a:xfrm>
            <a:off x="274927" y="856732"/>
            <a:ext cx="11561940" cy="5561158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txBody>
          <a:bodyPr rtlCol="0" anchor="t" anchorCtr="0"/>
          <a:lstStyle/>
          <a:p>
            <a:pPr marL="36195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−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6700" marR="0" lvl="0" indent="-180975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9920D8A6-FF87-94E5-838F-9D727C1754CD}"/>
              </a:ext>
            </a:extLst>
          </p:cNvPr>
          <p:cNvCxnSpPr>
            <a:cxnSpLocks/>
          </p:cNvCxnSpPr>
          <p:nvPr/>
        </p:nvCxnSpPr>
        <p:spPr>
          <a:xfrm>
            <a:off x="274926" y="2683379"/>
            <a:ext cx="11561941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77DCCEEF-10C4-C77B-30A9-363F51A72000}"/>
              </a:ext>
            </a:extLst>
          </p:cNvPr>
          <p:cNvCxnSpPr>
            <a:cxnSpLocks/>
          </p:cNvCxnSpPr>
          <p:nvPr/>
        </p:nvCxnSpPr>
        <p:spPr>
          <a:xfrm>
            <a:off x="274926" y="4484364"/>
            <a:ext cx="11561941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730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-192948" y="-16779"/>
            <a:ext cx="12709321" cy="6937695"/>
          </a:xfrm>
          <a:prstGeom prst="rect">
            <a:avLst/>
          </a:prstGeom>
          <a:gradFill>
            <a:gsLst>
              <a:gs pos="0">
                <a:srgbClr val="093FB3"/>
              </a:gs>
              <a:gs pos="48000">
                <a:srgbClr val="008F9C"/>
              </a:gs>
              <a:gs pos="100000">
                <a:srgbClr val="00A17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0" name="Google Shape;130;p6"/>
          <p:cNvGrpSpPr/>
          <p:nvPr/>
        </p:nvGrpSpPr>
        <p:grpSpPr>
          <a:xfrm>
            <a:off x="17289" y="-77012"/>
            <a:ext cx="15412825" cy="16074031"/>
            <a:chOff x="0" y="-77012"/>
            <a:chExt cx="15412825" cy="16074031"/>
          </a:xfrm>
        </p:grpSpPr>
        <p:grpSp>
          <p:nvGrpSpPr>
            <p:cNvPr id="131" name="Google Shape;131;p6"/>
            <p:cNvGrpSpPr/>
            <p:nvPr/>
          </p:nvGrpSpPr>
          <p:grpSpPr>
            <a:xfrm>
              <a:off x="0" y="5280998"/>
              <a:ext cx="12148525" cy="10716021"/>
              <a:chOff x="3286" y="1675"/>
              <a:chExt cx="1094" cy="965"/>
            </a:xfrm>
          </p:grpSpPr>
          <p:sp>
            <p:nvSpPr>
              <p:cNvPr id="132" name="Google Shape;132;p6"/>
              <p:cNvSpPr/>
              <p:nvPr/>
            </p:nvSpPr>
            <p:spPr>
              <a:xfrm>
                <a:off x="3384" y="1685"/>
                <a:ext cx="910" cy="838"/>
              </a:xfrm>
              <a:custGeom>
                <a:avLst/>
                <a:gdLst/>
                <a:ahLst/>
                <a:cxnLst/>
                <a:rect l="l" t="t" r="r" b="b"/>
                <a:pathLst>
                  <a:path w="383" h="352" extrusionOk="0">
                    <a:moveTo>
                      <a:pt x="233" y="49"/>
                    </a:moveTo>
                    <a:cubicBezTo>
                      <a:pt x="226" y="49"/>
                      <a:pt x="219" y="50"/>
                      <a:pt x="212" y="51"/>
                    </a:cubicBezTo>
                    <a:cubicBezTo>
                      <a:pt x="191" y="53"/>
                      <a:pt x="170" y="60"/>
                      <a:pt x="151" y="70"/>
                    </a:cubicBezTo>
                    <a:cubicBezTo>
                      <a:pt x="163" y="67"/>
                      <a:pt x="175" y="66"/>
                      <a:pt x="187" y="66"/>
                    </a:cubicBezTo>
                    <a:cubicBezTo>
                      <a:pt x="185" y="66"/>
                      <a:pt x="188" y="66"/>
                      <a:pt x="189" y="66"/>
                    </a:cubicBezTo>
                    <a:cubicBezTo>
                      <a:pt x="192" y="66"/>
                      <a:pt x="195" y="67"/>
                      <a:pt x="198" y="67"/>
                    </a:cubicBezTo>
                    <a:cubicBezTo>
                      <a:pt x="207" y="68"/>
                      <a:pt x="216" y="71"/>
                      <a:pt x="225" y="74"/>
                    </a:cubicBezTo>
                    <a:cubicBezTo>
                      <a:pt x="242" y="81"/>
                      <a:pt x="257" y="91"/>
                      <a:pt x="270" y="102"/>
                    </a:cubicBezTo>
                    <a:cubicBezTo>
                      <a:pt x="291" y="119"/>
                      <a:pt x="309" y="139"/>
                      <a:pt x="319" y="164"/>
                    </a:cubicBezTo>
                    <a:cubicBezTo>
                      <a:pt x="325" y="176"/>
                      <a:pt x="327" y="189"/>
                      <a:pt x="328" y="202"/>
                    </a:cubicBezTo>
                    <a:cubicBezTo>
                      <a:pt x="328" y="201"/>
                      <a:pt x="328" y="201"/>
                      <a:pt x="328" y="201"/>
                    </a:cubicBezTo>
                    <a:cubicBezTo>
                      <a:pt x="328" y="229"/>
                      <a:pt x="318" y="255"/>
                      <a:pt x="303" y="278"/>
                    </a:cubicBezTo>
                    <a:cubicBezTo>
                      <a:pt x="287" y="300"/>
                      <a:pt x="268" y="319"/>
                      <a:pt x="245" y="333"/>
                    </a:cubicBezTo>
                    <a:cubicBezTo>
                      <a:pt x="229" y="342"/>
                      <a:pt x="211" y="348"/>
                      <a:pt x="192" y="350"/>
                    </a:cubicBezTo>
                    <a:cubicBezTo>
                      <a:pt x="194" y="351"/>
                      <a:pt x="197" y="351"/>
                      <a:pt x="199" y="351"/>
                    </a:cubicBezTo>
                    <a:cubicBezTo>
                      <a:pt x="199" y="351"/>
                      <a:pt x="199" y="351"/>
                      <a:pt x="199" y="351"/>
                    </a:cubicBezTo>
                    <a:cubicBezTo>
                      <a:pt x="204" y="352"/>
                      <a:pt x="210" y="352"/>
                      <a:pt x="215" y="352"/>
                    </a:cubicBezTo>
                    <a:cubicBezTo>
                      <a:pt x="227" y="352"/>
                      <a:pt x="240" y="351"/>
                      <a:pt x="253" y="347"/>
                    </a:cubicBezTo>
                    <a:cubicBezTo>
                      <a:pt x="272" y="342"/>
                      <a:pt x="290" y="333"/>
                      <a:pt x="306" y="322"/>
                    </a:cubicBezTo>
                    <a:cubicBezTo>
                      <a:pt x="335" y="302"/>
                      <a:pt x="358" y="273"/>
                      <a:pt x="371" y="241"/>
                    </a:cubicBezTo>
                    <a:cubicBezTo>
                      <a:pt x="378" y="223"/>
                      <a:pt x="383" y="202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3" y="143"/>
                      <a:pt x="362" y="106"/>
                      <a:pt x="332" y="82"/>
                    </a:cubicBezTo>
                    <a:cubicBezTo>
                      <a:pt x="304" y="60"/>
                      <a:pt x="268" y="49"/>
                      <a:pt x="233" y="49"/>
                    </a:cubicBezTo>
                    <a:moveTo>
                      <a:pt x="382" y="180"/>
                    </a:moveTo>
                    <a:cubicBezTo>
                      <a:pt x="382" y="180"/>
                      <a:pt x="382" y="181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3"/>
                      <a:pt x="382" y="183"/>
                    </a:cubicBezTo>
                    <a:cubicBezTo>
                      <a:pt x="382" y="183"/>
                      <a:pt x="382" y="184"/>
                      <a:pt x="382" y="184"/>
                    </a:cubicBezTo>
                    <a:cubicBezTo>
                      <a:pt x="382" y="184"/>
                      <a:pt x="382" y="183"/>
                      <a:pt x="382" y="182"/>
                    </a:cubicBezTo>
                    <a:cubicBezTo>
                      <a:pt x="382" y="181"/>
                      <a:pt x="382" y="180"/>
                      <a:pt x="382" y="180"/>
                    </a:cubicBezTo>
                    <a:moveTo>
                      <a:pt x="207" y="0"/>
                    </a:moveTo>
                    <a:cubicBezTo>
                      <a:pt x="204" y="0"/>
                      <a:pt x="202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200" y="0"/>
                      <a:pt x="200" y="0"/>
                    </a:cubicBezTo>
                    <a:cubicBezTo>
                      <a:pt x="200" y="0"/>
                      <a:pt x="199" y="0"/>
                      <a:pt x="199" y="0"/>
                    </a:cubicBezTo>
                    <a:cubicBezTo>
                      <a:pt x="136" y="6"/>
                      <a:pt x="75" y="36"/>
                      <a:pt x="30" y="80"/>
                    </a:cubicBezTo>
                    <a:cubicBezTo>
                      <a:pt x="19" y="91"/>
                      <a:pt x="9" y="102"/>
                      <a:pt x="0" y="115"/>
                    </a:cubicBezTo>
                    <a:cubicBezTo>
                      <a:pt x="17" y="94"/>
                      <a:pt x="37" y="76"/>
                      <a:pt x="59" y="60"/>
                    </a:cubicBezTo>
                    <a:cubicBezTo>
                      <a:pt x="85" y="41"/>
                      <a:pt x="113" y="24"/>
                      <a:pt x="143" y="14"/>
                    </a:cubicBezTo>
                    <a:cubicBezTo>
                      <a:pt x="164" y="6"/>
                      <a:pt x="185" y="1"/>
                      <a:pt x="207" y="0"/>
                    </a:cubicBez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4147" y="2425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3286" y="1675"/>
                <a:ext cx="1094" cy="96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5" extrusionOk="0">
                    <a:moveTo>
                      <a:pt x="456" y="144"/>
                    </a:moveTo>
                    <a:cubicBezTo>
                      <a:pt x="447" y="102"/>
                      <a:pt x="423" y="64"/>
                      <a:pt x="389" y="39"/>
                    </a:cubicBezTo>
                    <a:cubicBezTo>
                      <a:pt x="350" y="11"/>
                      <a:pt x="299" y="0"/>
                      <a:pt x="253" y="3"/>
                    </a:cubicBezTo>
                    <a:cubicBezTo>
                      <a:pt x="226" y="5"/>
                      <a:pt x="200" y="11"/>
                      <a:pt x="175" y="21"/>
                    </a:cubicBezTo>
                    <a:cubicBezTo>
                      <a:pt x="151" y="31"/>
                      <a:pt x="129" y="44"/>
                      <a:pt x="107" y="59"/>
                    </a:cubicBezTo>
                    <a:cubicBezTo>
                      <a:pt x="77" y="80"/>
                      <a:pt x="48" y="106"/>
                      <a:pt x="28" y="137"/>
                    </a:cubicBezTo>
                    <a:cubicBezTo>
                      <a:pt x="7" y="171"/>
                      <a:pt x="0" y="210"/>
                      <a:pt x="12" y="248"/>
                    </a:cubicBezTo>
                    <a:cubicBezTo>
                      <a:pt x="23" y="284"/>
                      <a:pt x="48" y="316"/>
                      <a:pt x="76" y="340"/>
                    </a:cubicBezTo>
                    <a:cubicBezTo>
                      <a:pt x="108" y="367"/>
                      <a:pt x="145" y="389"/>
                      <a:pt x="186" y="398"/>
                    </a:cubicBezTo>
                    <a:cubicBezTo>
                      <a:pt x="205" y="403"/>
                      <a:pt x="224" y="405"/>
                      <a:pt x="243" y="404"/>
                    </a:cubicBezTo>
                    <a:cubicBezTo>
                      <a:pt x="264" y="402"/>
                      <a:pt x="286" y="398"/>
                      <a:pt x="306" y="390"/>
                    </a:cubicBezTo>
                    <a:cubicBezTo>
                      <a:pt x="350" y="374"/>
                      <a:pt x="388" y="344"/>
                      <a:pt x="416" y="307"/>
                    </a:cubicBezTo>
                    <a:cubicBezTo>
                      <a:pt x="444" y="270"/>
                      <a:pt x="460" y="225"/>
                      <a:pt x="460" y="179"/>
                    </a:cubicBezTo>
                    <a:cubicBezTo>
                      <a:pt x="460" y="167"/>
                      <a:pt x="459" y="155"/>
                      <a:pt x="456" y="144"/>
                    </a:cubicBezTo>
                    <a:cubicBezTo>
                      <a:pt x="453" y="127"/>
                      <a:pt x="460" y="160"/>
                      <a:pt x="456" y="144"/>
                    </a:cubicBezTo>
                    <a:close/>
                    <a:moveTo>
                      <a:pt x="423" y="195"/>
                    </a:moveTo>
                    <a:cubicBezTo>
                      <a:pt x="422" y="232"/>
                      <a:pt x="404" y="270"/>
                      <a:pt x="380" y="297"/>
                    </a:cubicBezTo>
                    <a:cubicBezTo>
                      <a:pt x="358" y="322"/>
                      <a:pt x="330" y="340"/>
                      <a:pt x="299" y="350"/>
                    </a:cubicBezTo>
                    <a:cubicBezTo>
                      <a:pt x="280" y="356"/>
                      <a:pt x="260" y="357"/>
                      <a:pt x="240" y="355"/>
                    </a:cubicBezTo>
                    <a:cubicBezTo>
                      <a:pt x="240" y="355"/>
                      <a:pt x="240" y="355"/>
                      <a:pt x="240" y="355"/>
                    </a:cubicBezTo>
                    <a:cubicBezTo>
                      <a:pt x="193" y="349"/>
                      <a:pt x="156" y="317"/>
                      <a:pt x="127" y="281"/>
                    </a:cubicBezTo>
                    <a:cubicBezTo>
                      <a:pt x="111" y="262"/>
                      <a:pt x="98" y="238"/>
                      <a:pt x="95" y="212"/>
                    </a:cubicBezTo>
                    <a:cubicBezTo>
                      <a:pt x="94" y="197"/>
                      <a:pt x="97" y="181"/>
                      <a:pt x="103" y="167"/>
                    </a:cubicBezTo>
                    <a:cubicBezTo>
                      <a:pt x="112" y="146"/>
                      <a:pt x="127" y="128"/>
                      <a:pt x="143" y="112"/>
                    </a:cubicBezTo>
                    <a:cubicBezTo>
                      <a:pt x="156" y="99"/>
                      <a:pt x="170" y="87"/>
                      <a:pt x="186" y="78"/>
                    </a:cubicBezTo>
                    <a:cubicBezTo>
                      <a:pt x="232" y="51"/>
                      <a:pt x="289" y="46"/>
                      <a:pt x="339" y="66"/>
                    </a:cubicBezTo>
                    <a:cubicBezTo>
                      <a:pt x="385" y="85"/>
                      <a:pt x="421" y="129"/>
                      <a:pt x="423" y="180"/>
                    </a:cubicBezTo>
                    <a:cubicBezTo>
                      <a:pt x="423" y="185"/>
                      <a:pt x="423" y="190"/>
                      <a:pt x="423" y="195"/>
                    </a:cubicBezTo>
                    <a:cubicBezTo>
                      <a:pt x="423" y="197"/>
                      <a:pt x="423" y="194"/>
                      <a:pt x="423" y="195"/>
                    </a:cubicBezTo>
                    <a:close/>
                  </a:path>
                </a:pathLst>
              </a:custGeom>
              <a:solidFill>
                <a:schemeClr val="lt1">
                  <a:alpha val="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6" name="Google Shape;136;p6"/>
            <p:cNvSpPr/>
            <p:nvPr/>
          </p:nvSpPr>
          <p:spPr>
            <a:xfrm>
              <a:off x="1646032" y="2688184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264300" y="-77012"/>
              <a:ext cx="12148525" cy="10716021"/>
            </a:xfrm>
            <a:custGeom>
              <a:avLst/>
              <a:gdLst/>
              <a:ahLst/>
              <a:cxnLst/>
              <a:rect l="l" t="t" r="r" b="b"/>
              <a:pathLst>
                <a:path w="460" h="405" extrusionOk="0">
                  <a:moveTo>
                    <a:pt x="456" y="144"/>
                  </a:moveTo>
                  <a:cubicBezTo>
                    <a:pt x="447" y="102"/>
                    <a:pt x="423" y="64"/>
                    <a:pt x="389" y="39"/>
                  </a:cubicBezTo>
                  <a:cubicBezTo>
                    <a:pt x="350" y="11"/>
                    <a:pt x="299" y="0"/>
                    <a:pt x="253" y="3"/>
                  </a:cubicBezTo>
                  <a:cubicBezTo>
                    <a:pt x="226" y="5"/>
                    <a:pt x="200" y="11"/>
                    <a:pt x="175" y="21"/>
                  </a:cubicBezTo>
                  <a:cubicBezTo>
                    <a:pt x="151" y="31"/>
                    <a:pt x="129" y="44"/>
                    <a:pt x="107" y="59"/>
                  </a:cubicBezTo>
                  <a:cubicBezTo>
                    <a:pt x="77" y="80"/>
                    <a:pt x="48" y="106"/>
                    <a:pt x="28" y="137"/>
                  </a:cubicBezTo>
                  <a:cubicBezTo>
                    <a:pt x="7" y="171"/>
                    <a:pt x="0" y="210"/>
                    <a:pt x="12" y="248"/>
                  </a:cubicBezTo>
                  <a:cubicBezTo>
                    <a:pt x="23" y="284"/>
                    <a:pt x="48" y="316"/>
                    <a:pt x="76" y="340"/>
                  </a:cubicBezTo>
                  <a:cubicBezTo>
                    <a:pt x="108" y="367"/>
                    <a:pt x="145" y="389"/>
                    <a:pt x="186" y="398"/>
                  </a:cubicBezTo>
                  <a:cubicBezTo>
                    <a:pt x="205" y="403"/>
                    <a:pt x="224" y="405"/>
                    <a:pt x="243" y="404"/>
                  </a:cubicBezTo>
                  <a:cubicBezTo>
                    <a:pt x="264" y="402"/>
                    <a:pt x="286" y="398"/>
                    <a:pt x="306" y="390"/>
                  </a:cubicBezTo>
                  <a:cubicBezTo>
                    <a:pt x="350" y="374"/>
                    <a:pt x="388" y="344"/>
                    <a:pt x="416" y="307"/>
                  </a:cubicBezTo>
                  <a:cubicBezTo>
                    <a:pt x="444" y="270"/>
                    <a:pt x="460" y="225"/>
                    <a:pt x="460" y="179"/>
                  </a:cubicBezTo>
                  <a:cubicBezTo>
                    <a:pt x="460" y="167"/>
                    <a:pt x="459" y="155"/>
                    <a:pt x="456" y="144"/>
                  </a:cubicBezTo>
                  <a:cubicBezTo>
                    <a:pt x="453" y="127"/>
                    <a:pt x="460" y="160"/>
                    <a:pt x="456" y="144"/>
                  </a:cubicBezTo>
                  <a:close/>
                  <a:moveTo>
                    <a:pt x="423" y="195"/>
                  </a:moveTo>
                  <a:cubicBezTo>
                    <a:pt x="422" y="232"/>
                    <a:pt x="404" y="270"/>
                    <a:pt x="380" y="297"/>
                  </a:cubicBezTo>
                  <a:cubicBezTo>
                    <a:pt x="358" y="322"/>
                    <a:pt x="330" y="340"/>
                    <a:pt x="299" y="350"/>
                  </a:cubicBezTo>
                  <a:cubicBezTo>
                    <a:pt x="280" y="356"/>
                    <a:pt x="260" y="357"/>
                    <a:pt x="240" y="355"/>
                  </a:cubicBezTo>
                  <a:cubicBezTo>
                    <a:pt x="240" y="355"/>
                    <a:pt x="240" y="355"/>
                    <a:pt x="240" y="355"/>
                  </a:cubicBezTo>
                  <a:cubicBezTo>
                    <a:pt x="193" y="349"/>
                    <a:pt x="156" y="317"/>
                    <a:pt x="127" y="281"/>
                  </a:cubicBezTo>
                  <a:cubicBezTo>
                    <a:pt x="111" y="262"/>
                    <a:pt x="98" y="238"/>
                    <a:pt x="95" y="212"/>
                  </a:cubicBezTo>
                  <a:cubicBezTo>
                    <a:pt x="94" y="197"/>
                    <a:pt x="97" y="181"/>
                    <a:pt x="103" y="167"/>
                  </a:cubicBezTo>
                  <a:cubicBezTo>
                    <a:pt x="112" y="146"/>
                    <a:pt x="127" y="128"/>
                    <a:pt x="143" y="112"/>
                  </a:cubicBezTo>
                  <a:cubicBezTo>
                    <a:pt x="156" y="99"/>
                    <a:pt x="170" y="87"/>
                    <a:pt x="186" y="78"/>
                  </a:cubicBezTo>
                  <a:cubicBezTo>
                    <a:pt x="232" y="51"/>
                    <a:pt x="289" y="46"/>
                    <a:pt x="339" y="66"/>
                  </a:cubicBezTo>
                  <a:cubicBezTo>
                    <a:pt x="385" y="85"/>
                    <a:pt x="421" y="129"/>
                    <a:pt x="423" y="180"/>
                  </a:cubicBezTo>
                  <a:cubicBezTo>
                    <a:pt x="423" y="185"/>
                    <a:pt x="423" y="190"/>
                    <a:pt x="423" y="195"/>
                  </a:cubicBezTo>
                  <a:cubicBezTo>
                    <a:pt x="423" y="197"/>
                    <a:pt x="423" y="194"/>
                    <a:pt x="423" y="195"/>
                  </a:cubicBezTo>
                  <a:close/>
                </a:path>
              </a:pathLst>
            </a:cu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8" name="Google Shape;138;p6"/>
          <p:cNvSpPr txBox="1"/>
          <p:nvPr/>
        </p:nvSpPr>
        <p:spPr>
          <a:xfrm>
            <a:off x="2295525" y="3034758"/>
            <a:ext cx="7600950" cy="78848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감사합니다</a:t>
            </a:r>
            <a:endParaRPr sz="3600">
              <a:solidFill>
                <a:schemeClr val="l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39" name="Google Shape;139;p6" descr="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5563" y="1818201"/>
            <a:ext cx="2238914" cy="8970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2196392" y="5280998"/>
            <a:ext cx="779621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rPr lang="ko-KR" sz="14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㈜</a:t>
            </a:r>
            <a:r>
              <a:rPr lang="ko-KR" sz="14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오에스씨코리아</a:t>
            </a:r>
            <a:endParaRPr sz="14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6022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사용자 지정 5">
      <a:dk1>
        <a:srgbClr val="3C3C3C"/>
      </a:dk1>
      <a:lt1>
        <a:srgbClr val="FFFFFF"/>
      </a:lt1>
      <a:dk2>
        <a:srgbClr val="00326D"/>
      </a:dk2>
      <a:lt2>
        <a:srgbClr val="F2F2F2"/>
      </a:lt2>
      <a:accent1>
        <a:srgbClr val="0812A8"/>
      </a:accent1>
      <a:accent2>
        <a:srgbClr val="005A9C"/>
      </a:accent2>
      <a:accent3>
        <a:srgbClr val="008F9C"/>
      </a:accent3>
      <a:accent4>
        <a:srgbClr val="00A175"/>
      </a:accent4>
      <a:accent5>
        <a:srgbClr val="AAAFB4"/>
      </a:accent5>
      <a:accent6>
        <a:srgbClr val="DCE1E6"/>
      </a:accent6>
      <a:hlink>
        <a:srgbClr val="00B0F0"/>
      </a:hlink>
      <a:folHlink>
        <a:srgbClr val="005A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7309</TotalTime>
  <Words>6953</Words>
  <Application>Microsoft Macintosh PowerPoint</Application>
  <PresentationFormat>와이드스크린</PresentationFormat>
  <Paragraphs>997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5" baseType="lpstr">
      <vt:lpstr>Wingdings</vt:lpstr>
      <vt:lpstr>Roboto Black</vt:lpstr>
      <vt:lpstr>Roboto</vt:lpstr>
      <vt:lpstr>맑은 고딕</vt:lpstr>
      <vt:lpstr>Wingdings 2</vt:lpstr>
      <vt:lpstr>Arial</vt:lpstr>
      <vt:lpstr>Noto Sans Symbols</vt:lpstr>
      <vt:lpstr>Helvetica Neue</vt:lpstr>
      <vt:lpstr>맑은 고딕</vt:lpstr>
      <vt:lpstr>Century Gothic</vt:lpstr>
      <vt:lpstr>NanumGothic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Dimas Hardjowani</dc:creator>
  <cp:lastModifiedBy>Austine Namgung</cp:lastModifiedBy>
  <cp:revision>30</cp:revision>
  <dcterms:created xsi:type="dcterms:W3CDTF">2021-10-19T05:46:49Z</dcterms:created>
  <dcterms:modified xsi:type="dcterms:W3CDTF">2026-02-09T04:57:43Z</dcterms:modified>
</cp:coreProperties>
</file>